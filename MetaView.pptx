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82" r:id="rId2"/>
    <p:sldId id="284" r:id="rId3"/>
    <p:sldId id="285" r:id="rId4"/>
    <p:sldId id="289" r:id="rId5"/>
    <p:sldId id="294" r:id="rId6"/>
    <p:sldId id="295" r:id="rId7"/>
    <p:sldId id="324" r:id="rId8"/>
    <p:sldId id="292" r:id="rId9"/>
    <p:sldId id="286" r:id="rId10"/>
    <p:sldId id="297" r:id="rId11"/>
    <p:sldId id="298" r:id="rId12"/>
    <p:sldId id="299" r:id="rId13"/>
    <p:sldId id="300" r:id="rId14"/>
    <p:sldId id="325" r:id="rId15"/>
    <p:sldId id="302" r:id="rId16"/>
    <p:sldId id="303" r:id="rId17"/>
    <p:sldId id="304" r:id="rId18"/>
    <p:sldId id="318" r:id="rId19"/>
    <p:sldId id="326" r:id="rId20"/>
    <p:sldId id="336" r:id="rId21"/>
    <p:sldId id="305" r:id="rId22"/>
    <p:sldId id="309" r:id="rId23"/>
    <p:sldId id="334" r:id="rId24"/>
    <p:sldId id="335" r:id="rId25"/>
    <p:sldId id="316" r:id="rId26"/>
    <p:sldId id="317" r:id="rId27"/>
    <p:sldId id="321" r:id="rId28"/>
    <p:sldId id="331" r:id="rId29"/>
    <p:sldId id="337" r:id="rId30"/>
    <p:sldId id="328" r:id="rId31"/>
    <p:sldId id="339" r:id="rId32"/>
    <p:sldId id="330" r:id="rId33"/>
    <p:sldId id="329" r:id="rId34"/>
    <p:sldId id="338" r:id="rId35"/>
    <p:sldId id="340" r:id="rId36"/>
  </p:sldIdLst>
  <p:sldSz cx="18288000" cy="10287000"/>
  <p:notesSz cx="6858000" cy="9144000"/>
  <p:embeddedFontLst>
    <p:embeddedFont>
      <p:font typeface="29LT Zarid Display Bold" pitchFamily="2" charset="-78"/>
      <p:regular r:id="rId38"/>
      <p:bold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nva Sans" panose="020B0503030501040103" pitchFamily="34" charset="0"/>
      <p:regular r:id="rId44"/>
    </p:embeddedFont>
    <p:embeddedFont>
      <p:font typeface="Canva Sans Bold" panose="020B0803030501040103" pitchFamily="34" charset="0"/>
      <p:regular r:id="rId45"/>
      <p:bold r:id="rId46"/>
    </p:embeddedFont>
    <p:embeddedFont>
      <p:font typeface="可畫和劑局方明刻本-繁" panose="020B0500000000000000" pitchFamily="3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8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74676-9803-4B04-89F2-6898B21849D0}" v="47" dt="2024-09-23T08:32:02.592"/>
    <p1510:client id="{AE675153-9485-472A-A29E-136F7E820C92}" v="35" dt="2024-09-23T06:07:12.974"/>
    <p1510:client id="{D5A07EFC-FFEA-4D07-B5E7-DA2839138B94}" v="18" dt="2024-09-23T06:41:00.287"/>
    <p1510:client id="{FE421F56-CE12-4C8F-94A0-90B97A977B4A}" v="6" dt="2024-09-23T06:37:30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07"/>
    <p:restoredTop sz="92535"/>
  </p:normalViewPr>
  <p:slideViewPr>
    <p:cSldViewPr snapToGrid="0">
      <p:cViewPr varScale="1">
        <p:scale>
          <a:sx n="72" d="100"/>
          <a:sy n="72" d="100"/>
        </p:scale>
        <p:origin x="280" y="1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07.12.2024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7284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0307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03097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323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13391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04386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2445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4747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2296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1003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10216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20143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2603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5822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87762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35358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3400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70056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432953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63184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70325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09079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4575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72606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294365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996164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424489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76111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5729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927729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216652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zh-TW" altLang="en-US">
                <a:ea typeface="新細明體"/>
              </a:rPr>
              <a:t>照前兩頁參考撰寫 包含B2B、B2C</a:t>
            </a:r>
            <a:endParaRPr lang="en-US" altLang="zh-TW">
              <a:ea typeface="新細明體"/>
              <a:cs typeface="Calibri"/>
            </a:endParaRPr>
          </a:p>
          <a:p>
            <a:endParaRPr lang="zh-TW" altLang="en-US">
              <a:ea typeface="新細明體"/>
              <a:cs typeface="Calibri"/>
            </a:endParaRPr>
          </a:p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79571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>
              <a:lnSpc>
                <a:spcPts val="7840"/>
              </a:lnSpc>
            </a:pPr>
            <a:r>
              <a:rPr lang="en-US" altLang="zh-TW" sz="12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上家教網站之類的看看</a:t>
            </a:r>
            <a:r>
              <a:rPr lang="en-US" altLang="zh-TW" sz="12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（？）</a:t>
            </a:r>
            <a:br>
              <a:rPr lang="en-US" altLang="zh-TW" sz="12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</a:br>
            <a:r>
              <a:rPr lang="en-US" altLang="zh-TW" sz="12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再跟前頁成本比較</a:t>
            </a:r>
            <a:endParaRPr lang="en-US" altLang="zh-TW" sz="12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988103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err="1"/>
              <a:t>題目研究發現</a:t>
            </a:r>
          </a:p>
          <a:p>
            <a:r>
              <a:rPr lang="en-US" err="1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09976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題目研究發現</a:t>
            </a:r>
          </a:p>
          <a:p>
            <a:r>
              <a:rPr lang="en-US"/>
              <a:t>市面上面試系統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619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microsoft.com/office/2007/relationships/hdphoto" Target="../media/hdphoto5.wdp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6.svg"/><Relationship Id="rId4" Type="http://schemas.microsoft.com/office/2007/relationships/hdphoto" Target="../media/hdphoto5.wdp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microsoft.com/office/2007/relationships/hdphoto" Target="../media/hdphoto8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microsoft.com/office/2007/relationships/hdphoto" Target="../media/hdphoto1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microsoft.com/office/2007/relationships/hdphoto" Target="../media/hdphoto1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3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4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microsoft.com/office/2007/relationships/hdphoto" Target="../media/hdphoto15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5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7.png"/><Relationship Id="rId5" Type="http://schemas.openxmlformats.org/officeDocument/2006/relationships/image" Target="../media/image15.png"/><Relationship Id="rId10" Type="http://schemas.openxmlformats.org/officeDocument/2006/relationships/image" Target="../media/image4.svg"/><Relationship Id="rId4" Type="http://schemas.microsoft.com/office/2007/relationships/hdphoto" Target="../media/hdphoto15.wdp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6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7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microsoft.com/office/2007/relationships/hdphoto" Target="../media/hdphoto17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7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microsoft.com/office/2007/relationships/hdphoto" Target="../media/hdphoto18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9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0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15.png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27.png"/><Relationship Id="rId4" Type="http://schemas.microsoft.com/office/2007/relationships/hdphoto" Target="../media/hdphoto21.wdp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2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16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27499" y="-2827642"/>
            <a:ext cx="19035234" cy="13748564"/>
            <a:chOff x="-152402" y="-3058464"/>
            <a:chExt cx="19035234" cy="137485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-152402" y="-3058464"/>
              <a:ext cx="19035234" cy="13748564"/>
              <a:chOff x="-250670" y="-28575"/>
              <a:chExt cx="5069141" cy="377229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50670" y="708472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  <a:alpha val="20353"/>
                </a:schemeClr>
              </a:solidFill>
            </p:spPr>
            <p:txBody>
              <a:bodyPr/>
              <a:lstStyle/>
              <a:p>
                <a:endParaRPr lang="en-TW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CA3782B-22A0-9943-7B19-5DB75F6189C4}"/>
              </a:ext>
            </a:extLst>
          </p:cNvPr>
          <p:cNvSpPr txBox="1"/>
          <p:nvPr/>
        </p:nvSpPr>
        <p:spPr>
          <a:xfrm>
            <a:off x="2331819" y="3150170"/>
            <a:ext cx="13649332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8"/>
              </a:lnSpc>
            </a:pPr>
            <a:r>
              <a:rPr lang="en-US" sz="19000" b="1" dirty="0" err="1">
                <a:solidFill>
                  <a:schemeClr val="bg1"/>
                </a:solidFill>
                <a:latin typeface="29LT Zarid Display Bold"/>
                <a:ea typeface="29LT Zarid Display Bold"/>
                <a:cs typeface="29LT Zarid Display Bold"/>
                <a:sym typeface="29LT Zarid Display Bold"/>
              </a:rPr>
              <a:t>MetaView</a:t>
            </a:r>
            <a:endParaRPr lang="en-US" sz="19000" b="1" dirty="0">
              <a:solidFill>
                <a:schemeClr val="bg1"/>
              </a:solidFill>
              <a:latin typeface="29LT Zarid Display Bold"/>
              <a:ea typeface="29LT Zarid Display Bold"/>
              <a:cs typeface="29LT Zarid Display Bold"/>
              <a:sym typeface="29LT Zarid Display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7BD65-116E-30FD-2D42-29B414671AAE}"/>
              </a:ext>
            </a:extLst>
          </p:cNvPr>
          <p:cNvSpPr txBox="1"/>
          <p:nvPr/>
        </p:nvSpPr>
        <p:spPr>
          <a:xfrm>
            <a:off x="5398795" y="942975"/>
            <a:ext cx="7490411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多模態AI模擬面試系統</a:t>
            </a:r>
            <a:endParaRPr lang="en-US" sz="4200" dirty="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1661498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733117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" name="TextBox 6">
            <a:extLst>
              <a:ext uri="{FF2B5EF4-FFF2-40B4-BE49-F238E27FC236}">
                <a16:creationId xmlns:a16="http://schemas.microsoft.com/office/drawing/2014/main" id="{B72B5EF6-8613-4C4A-BF87-9C38AFAEDCB8}"/>
              </a:ext>
            </a:extLst>
          </p:cNvPr>
          <p:cNvSpPr txBox="1"/>
          <p:nvPr/>
        </p:nvSpPr>
        <p:spPr>
          <a:xfrm>
            <a:off x="1123236" y="847725"/>
            <a:ext cx="12059363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痛點</a:t>
            </a:r>
            <a:r>
              <a:rPr lang="en-US" sz="90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-</a:t>
            </a:r>
            <a:r>
              <a:rPr lang="zh-TW" altLang="en-US" sz="90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不真實缺乏帶入感</a:t>
            </a:r>
            <a:endParaRPr lang="en-US" sz="90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A0477B85-205D-46FE-573E-514CFB475BD2}"/>
              </a:ext>
            </a:extLst>
          </p:cNvPr>
          <p:cNvGrpSpPr/>
          <p:nvPr/>
        </p:nvGrpSpPr>
        <p:grpSpPr>
          <a:xfrm>
            <a:off x="1028700" y="5823824"/>
            <a:ext cx="7640877" cy="1574363"/>
            <a:chOff x="0" y="0"/>
            <a:chExt cx="2012412" cy="41464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5281A73-7B65-C5B6-2B5A-455A13902B77}"/>
                </a:ext>
              </a:extLst>
            </p:cNvPr>
            <p:cNvSpPr/>
            <p:nvPr/>
          </p:nvSpPr>
          <p:spPr>
            <a:xfrm>
              <a:off x="0" y="0"/>
              <a:ext cx="2012412" cy="414647"/>
            </a:xfrm>
            <a:custGeom>
              <a:avLst/>
              <a:gdLst/>
              <a:ahLst/>
              <a:cxnLst/>
              <a:rect l="l" t="t" r="r" b="b"/>
              <a:pathLst>
                <a:path w="2012412" h="414647">
                  <a:moveTo>
                    <a:pt x="51674" y="0"/>
                  </a:moveTo>
                  <a:lnTo>
                    <a:pt x="1960738" y="0"/>
                  </a:lnTo>
                  <a:cubicBezTo>
                    <a:pt x="1989277" y="0"/>
                    <a:pt x="2012412" y="23135"/>
                    <a:pt x="2012412" y="51674"/>
                  </a:cubicBezTo>
                  <a:lnTo>
                    <a:pt x="2012412" y="362973"/>
                  </a:lnTo>
                  <a:cubicBezTo>
                    <a:pt x="2012412" y="376678"/>
                    <a:pt x="2006968" y="389821"/>
                    <a:pt x="1997277" y="399512"/>
                  </a:cubicBezTo>
                  <a:cubicBezTo>
                    <a:pt x="1987586" y="409203"/>
                    <a:pt x="1974442" y="414647"/>
                    <a:pt x="1960738" y="414647"/>
                  </a:cubicBezTo>
                  <a:lnTo>
                    <a:pt x="51674" y="414647"/>
                  </a:lnTo>
                  <a:cubicBezTo>
                    <a:pt x="23135" y="414647"/>
                    <a:pt x="0" y="391512"/>
                    <a:pt x="0" y="362973"/>
                  </a:cubicBezTo>
                  <a:lnTo>
                    <a:pt x="0" y="51674"/>
                  </a:lnTo>
                  <a:cubicBezTo>
                    <a:pt x="0" y="23135"/>
                    <a:pt x="23135" y="0"/>
                    <a:pt x="51674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noFill/>
              <a:prstDash val="solid"/>
              <a:round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1400D2-5860-A12F-5243-632943EEFD48}"/>
                </a:ext>
              </a:extLst>
            </p:cNvPr>
            <p:cNvSpPr txBox="1"/>
            <p:nvPr/>
          </p:nvSpPr>
          <p:spPr>
            <a:xfrm>
              <a:off x="0" y="-9525"/>
              <a:ext cx="2012412" cy="424172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/>
              <a:r>
                <a:rPr lang="zh-TW" altLang="en-US" sz="3600">
                  <a:solidFill>
                    <a:srgbClr val="B52222"/>
                  </a:solidFill>
                  <a:latin typeface="可畫和劑局方明刻本-繁"/>
                  <a:ea typeface="可畫和劑局方明刻本-繁"/>
                  <a:sym typeface="可畫和劑局方明刻本-繁"/>
                </a:rPr>
                <a:t>無</a:t>
              </a:r>
              <a:r>
                <a:rPr lang="zh-TW" altLang="en-US" sz="3600">
                  <a:solidFill>
                    <a:srgbClr val="000000"/>
                  </a:solidFill>
                  <a:latin typeface="可畫和劑局方明刻本-繁"/>
                  <a:ea typeface="可畫和劑局方明刻本-繁"/>
                  <a:sym typeface="可畫和劑局方明刻本-繁"/>
                </a:rPr>
                <a:t>數位面試官</a:t>
              </a:r>
              <a:endParaRPr lang="en-US" altLang="zh-TW" sz="3600">
                <a:latin typeface="可畫和劑局方明刻本-繁"/>
                <a:ea typeface="可畫和劑局方明刻本-繁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1B177A-90D0-6A19-8427-C5B2FB6D2B0A}"/>
              </a:ext>
            </a:extLst>
          </p:cNvPr>
          <p:cNvGrpSpPr/>
          <p:nvPr/>
        </p:nvGrpSpPr>
        <p:grpSpPr>
          <a:xfrm>
            <a:off x="1028700" y="3963711"/>
            <a:ext cx="7640877" cy="1574363"/>
            <a:chOff x="0" y="0"/>
            <a:chExt cx="2012412" cy="414647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E77CAB4-9E59-6C0A-8DE5-067E470D3A8C}"/>
                </a:ext>
              </a:extLst>
            </p:cNvPr>
            <p:cNvSpPr/>
            <p:nvPr/>
          </p:nvSpPr>
          <p:spPr>
            <a:xfrm>
              <a:off x="0" y="0"/>
              <a:ext cx="2012412" cy="414647"/>
            </a:xfrm>
            <a:custGeom>
              <a:avLst/>
              <a:gdLst/>
              <a:ahLst/>
              <a:cxnLst/>
              <a:rect l="l" t="t" r="r" b="b"/>
              <a:pathLst>
                <a:path w="2012412" h="414647">
                  <a:moveTo>
                    <a:pt x="51674" y="0"/>
                  </a:moveTo>
                  <a:lnTo>
                    <a:pt x="1960738" y="0"/>
                  </a:lnTo>
                  <a:cubicBezTo>
                    <a:pt x="1989277" y="0"/>
                    <a:pt x="2012412" y="23135"/>
                    <a:pt x="2012412" y="51674"/>
                  </a:cubicBezTo>
                  <a:lnTo>
                    <a:pt x="2012412" y="362973"/>
                  </a:lnTo>
                  <a:cubicBezTo>
                    <a:pt x="2012412" y="376678"/>
                    <a:pt x="2006968" y="389821"/>
                    <a:pt x="1997277" y="399512"/>
                  </a:cubicBezTo>
                  <a:cubicBezTo>
                    <a:pt x="1987586" y="409203"/>
                    <a:pt x="1974442" y="414647"/>
                    <a:pt x="1960738" y="414647"/>
                  </a:cubicBezTo>
                  <a:lnTo>
                    <a:pt x="51674" y="414647"/>
                  </a:lnTo>
                  <a:cubicBezTo>
                    <a:pt x="23135" y="414647"/>
                    <a:pt x="0" y="391512"/>
                    <a:pt x="0" y="362973"/>
                  </a:cubicBezTo>
                  <a:lnTo>
                    <a:pt x="0" y="51674"/>
                  </a:lnTo>
                  <a:cubicBezTo>
                    <a:pt x="0" y="23135"/>
                    <a:pt x="23135" y="0"/>
                    <a:pt x="51674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noFill/>
              <a:prstDash val="solid"/>
              <a:round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A13522-2F94-73E8-043D-8CCFF9D18451}"/>
                </a:ext>
              </a:extLst>
            </p:cNvPr>
            <p:cNvSpPr txBox="1"/>
            <p:nvPr/>
          </p:nvSpPr>
          <p:spPr>
            <a:xfrm>
              <a:off x="0" y="-9525"/>
              <a:ext cx="2012412" cy="424172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/>
              <a:r>
                <a:rPr lang="zh-TW" altLang="en-US" sz="3600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面試題目</a:t>
              </a:r>
              <a:r>
                <a:rPr lang="zh-TW" altLang="en-US" sz="3600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籠統</a:t>
              </a:r>
              <a:endParaRPr lang="en-US" sz="3600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FB2515-F936-76C3-11F0-F6603B38A703}"/>
              </a:ext>
            </a:extLst>
          </p:cNvPr>
          <p:cNvGrpSpPr/>
          <p:nvPr/>
        </p:nvGrpSpPr>
        <p:grpSpPr>
          <a:xfrm>
            <a:off x="1028700" y="7683937"/>
            <a:ext cx="7640877" cy="1574363"/>
            <a:chOff x="0" y="0"/>
            <a:chExt cx="2012412" cy="41464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6B59C41-8461-1E3F-12AA-295069AC766A}"/>
                </a:ext>
              </a:extLst>
            </p:cNvPr>
            <p:cNvSpPr/>
            <p:nvPr/>
          </p:nvSpPr>
          <p:spPr>
            <a:xfrm>
              <a:off x="0" y="0"/>
              <a:ext cx="2012412" cy="414647"/>
            </a:xfrm>
            <a:custGeom>
              <a:avLst/>
              <a:gdLst/>
              <a:ahLst/>
              <a:cxnLst/>
              <a:rect l="l" t="t" r="r" b="b"/>
              <a:pathLst>
                <a:path w="2012412" h="414647">
                  <a:moveTo>
                    <a:pt x="51674" y="0"/>
                  </a:moveTo>
                  <a:lnTo>
                    <a:pt x="1960738" y="0"/>
                  </a:lnTo>
                  <a:cubicBezTo>
                    <a:pt x="1989277" y="0"/>
                    <a:pt x="2012412" y="23135"/>
                    <a:pt x="2012412" y="51674"/>
                  </a:cubicBezTo>
                  <a:lnTo>
                    <a:pt x="2012412" y="362973"/>
                  </a:lnTo>
                  <a:cubicBezTo>
                    <a:pt x="2012412" y="376678"/>
                    <a:pt x="2006968" y="389821"/>
                    <a:pt x="1997277" y="399512"/>
                  </a:cubicBezTo>
                  <a:cubicBezTo>
                    <a:pt x="1987586" y="409203"/>
                    <a:pt x="1974442" y="414647"/>
                    <a:pt x="1960738" y="414647"/>
                  </a:cubicBezTo>
                  <a:lnTo>
                    <a:pt x="51674" y="414647"/>
                  </a:lnTo>
                  <a:cubicBezTo>
                    <a:pt x="23135" y="414647"/>
                    <a:pt x="0" y="391512"/>
                    <a:pt x="0" y="362973"/>
                  </a:cubicBezTo>
                  <a:lnTo>
                    <a:pt x="0" y="51674"/>
                  </a:lnTo>
                  <a:cubicBezTo>
                    <a:pt x="0" y="23135"/>
                    <a:pt x="23135" y="0"/>
                    <a:pt x="51674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noFill/>
              <a:prstDash val="solid"/>
              <a:round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62021E-CA2A-5D7F-080D-8AA5ECF30C8C}"/>
                </a:ext>
              </a:extLst>
            </p:cNvPr>
            <p:cNvSpPr txBox="1"/>
            <p:nvPr/>
          </p:nvSpPr>
          <p:spPr>
            <a:xfrm>
              <a:off x="0" y="-9525"/>
              <a:ext cx="2012412" cy="424172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zh-TW" altLang="en-US" sz="3600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僅</a:t>
              </a:r>
              <a:r>
                <a:rPr lang="zh-TW" altLang="en-US" sz="3600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做</a:t>
              </a:r>
              <a:r>
                <a:rPr lang="zh-TW" altLang="en-US" sz="3600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情感分析</a:t>
              </a:r>
              <a:endParaRPr lang="en-US" sz="3600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A9E222-5413-348F-2B88-1AF6A64EBF80}"/>
              </a:ext>
            </a:extLst>
          </p:cNvPr>
          <p:cNvGrpSpPr/>
          <p:nvPr/>
        </p:nvGrpSpPr>
        <p:grpSpPr>
          <a:xfrm>
            <a:off x="9618423" y="3963711"/>
            <a:ext cx="7640877" cy="1574363"/>
            <a:chOff x="0" y="0"/>
            <a:chExt cx="2012412" cy="414647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A6F9625-7441-F630-B56E-0D7F2819C93C}"/>
                </a:ext>
              </a:extLst>
            </p:cNvPr>
            <p:cNvSpPr/>
            <p:nvPr/>
          </p:nvSpPr>
          <p:spPr>
            <a:xfrm>
              <a:off x="0" y="0"/>
              <a:ext cx="2012412" cy="414647"/>
            </a:xfrm>
            <a:custGeom>
              <a:avLst/>
              <a:gdLst/>
              <a:ahLst/>
              <a:cxnLst/>
              <a:rect l="l" t="t" r="r" b="b"/>
              <a:pathLst>
                <a:path w="2012412" h="414647">
                  <a:moveTo>
                    <a:pt x="51674" y="0"/>
                  </a:moveTo>
                  <a:lnTo>
                    <a:pt x="1960738" y="0"/>
                  </a:lnTo>
                  <a:cubicBezTo>
                    <a:pt x="1989277" y="0"/>
                    <a:pt x="2012412" y="23135"/>
                    <a:pt x="2012412" y="51674"/>
                  </a:cubicBezTo>
                  <a:lnTo>
                    <a:pt x="2012412" y="362973"/>
                  </a:lnTo>
                  <a:cubicBezTo>
                    <a:pt x="2012412" y="376678"/>
                    <a:pt x="2006968" y="389821"/>
                    <a:pt x="1997277" y="399512"/>
                  </a:cubicBezTo>
                  <a:cubicBezTo>
                    <a:pt x="1987586" y="409203"/>
                    <a:pt x="1974442" y="414647"/>
                    <a:pt x="1960738" y="414647"/>
                  </a:cubicBezTo>
                  <a:lnTo>
                    <a:pt x="51674" y="414647"/>
                  </a:lnTo>
                  <a:cubicBezTo>
                    <a:pt x="23135" y="414647"/>
                    <a:pt x="0" y="391512"/>
                    <a:pt x="0" y="362973"/>
                  </a:cubicBezTo>
                  <a:lnTo>
                    <a:pt x="0" y="51674"/>
                  </a:lnTo>
                  <a:cubicBezTo>
                    <a:pt x="0" y="23135"/>
                    <a:pt x="23135" y="0"/>
                    <a:pt x="51674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noFill/>
              <a:prstDash val="solid"/>
              <a:round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858267-7538-C74C-B1EC-082F1EB4EB05}"/>
                </a:ext>
              </a:extLst>
            </p:cNvPr>
            <p:cNvSpPr txBox="1"/>
            <p:nvPr/>
          </p:nvSpPr>
          <p:spPr>
            <a:xfrm>
              <a:off x="0" y="-9525"/>
              <a:ext cx="2012412" cy="424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臉部辨識</a:t>
              </a:r>
              <a:r>
                <a:rPr lang="en-US" sz="3600" err="1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不完全</a:t>
              </a:r>
              <a:endParaRPr lang="en-US" sz="3600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FB631F9-9F68-E4E0-734B-C602C9FB1E7D}"/>
              </a:ext>
            </a:extLst>
          </p:cNvPr>
          <p:cNvGrpSpPr/>
          <p:nvPr/>
        </p:nvGrpSpPr>
        <p:grpSpPr>
          <a:xfrm>
            <a:off x="9618423" y="5823824"/>
            <a:ext cx="7640877" cy="1574363"/>
            <a:chOff x="0" y="0"/>
            <a:chExt cx="2012412" cy="414647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C81C07-406A-508C-12D7-BDF28BBD53EF}"/>
                </a:ext>
              </a:extLst>
            </p:cNvPr>
            <p:cNvSpPr/>
            <p:nvPr/>
          </p:nvSpPr>
          <p:spPr>
            <a:xfrm>
              <a:off x="0" y="0"/>
              <a:ext cx="2012412" cy="414647"/>
            </a:xfrm>
            <a:custGeom>
              <a:avLst/>
              <a:gdLst/>
              <a:ahLst/>
              <a:cxnLst/>
              <a:rect l="l" t="t" r="r" b="b"/>
              <a:pathLst>
                <a:path w="2012412" h="414647">
                  <a:moveTo>
                    <a:pt x="51674" y="0"/>
                  </a:moveTo>
                  <a:lnTo>
                    <a:pt x="1960738" y="0"/>
                  </a:lnTo>
                  <a:cubicBezTo>
                    <a:pt x="1989277" y="0"/>
                    <a:pt x="2012412" y="23135"/>
                    <a:pt x="2012412" y="51674"/>
                  </a:cubicBezTo>
                  <a:lnTo>
                    <a:pt x="2012412" y="362973"/>
                  </a:lnTo>
                  <a:cubicBezTo>
                    <a:pt x="2012412" y="376678"/>
                    <a:pt x="2006968" y="389821"/>
                    <a:pt x="1997277" y="399512"/>
                  </a:cubicBezTo>
                  <a:cubicBezTo>
                    <a:pt x="1987586" y="409203"/>
                    <a:pt x="1974442" y="414647"/>
                    <a:pt x="1960738" y="414647"/>
                  </a:cubicBezTo>
                  <a:lnTo>
                    <a:pt x="51674" y="414647"/>
                  </a:lnTo>
                  <a:cubicBezTo>
                    <a:pt x="23135" y="414647"/>
                    <a:pt x="0" y="391512"/>
                    <a:pt x="0" y="362973"/>
                  </a:cubicBezTo>
                  <a:lnTo>
                    <a:pt x="0" y="51674"/>
                  </a:lnTo>
                  <a:cubicBezTo>
                    <a:pt x="0" y="23135"/>
                    <a:pt x="23135" y="0"/>
                    <a:pt x="51674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38100" cap="rnd">
              <a:noFill/>
              <a:prstDash val="solid"/>
              <a:round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FBB014-EE36-A897-9B6E-D9266DE23E9E}"/>
                </a:ext>
              </a:extLst>
            </p:cNvPr>
            <p:cNvSpPr txBox="1"/>
            <p:nvPr/>
          </p:nvSpPr>
          <p:spPr>
            <a:xfrm>
              <a:off x="0" y="-9525"/>
              <a:ext cx="2012412" cy="424172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手動</a:t>
              </a:r>
              <a:r>
                <a:rPr lang="en-US" sz="3600" err="1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文字輸入</a:t>
              </a:r>
              <a:r>
                <a:rPr lang="en-US" sz="3600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/</a:t>
              </a:r>
              <a:r>
                <a:rPr lang="en-US" sz="3600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語音</a:t>
              </a:r>
              <a:r>
                <a:rPr lang="en-US" sz="3600" err="1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延遲輸入</a:t>
              </a:r>
              <a:endParaRPr lang="en-US" sz="3600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350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733117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AFB2EC5-B60D-3336-E0D5-DD10B54E7F16}"/>
              </a:ext>
            </a:extLst>
          </p:cNvPr>
          <p:cNvSpPr txBox="1"/>
          <p:nvPr/>
        </p:nvSpPr>
        <p:spPr>
          <a:xfrm>
            <a:off x="1028700" y="839411"/>
            <a:ext cx="9656143" cy="148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產品介紹</a:t>
            </a:r>
            <a:endParaRPr lang="en-US" sz="90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2DE17-0011-E2B3-0412-A0D6669AF19C}"/>
              </a:ext>
            </a:extLst>
          </p:cNvPr>
          <p:cNvSpPr txBox="1"/>
          <p:nvPr/>
        </p:nvSpPr>
        <p:spPr>
          <a:xfrm>
            <a:off x="1028700" y="2670749"/>
            <a:ext cx="5486102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一款</a:t>
            </a:r>
            <a:r>
              <a:rPr lang="en-US" sz="3600" spc="158" err="1">
                <a:solidFill>
                  <a:srgbClr val="C83735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結合數位孿生&amp;多模態</a:t>
            </a:r>
            <a:r>
              <a:rPr lang="en-US" sz="3600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的</a:t>
            </a:r>
            <a:endParaRPr lang="en-US" sz="3600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EB1D2-4D8F-3355-D88F-8D07DB0F2D0C}"/>
              </a:ext>
            </a:extLst>
          </p:cNvPr>
          <p:cNvSpPr txBox="1"/>
          <p:nvPr/>
        </p:nvSpPr>
        <p:spPr>
          <a:xfrm>
            <a:off x="6645005" y="2463104"/>
            <a:ext cx="9898513" cy="79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spc="21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新一代智慧模擬面試系統</a:t>
            </a:r>
          </a:p>
        </p:txBody>
      </p:sp>
      <p:sp>
        <p:nvSpPr>
          <p:cNvPr id="26" name="!!board4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13959297" y="4757024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13959297" y="4740513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</a:p>
        </p:txBody>
      </p:sp>
      <p:sp>
        <p:nvSpPr>
          <p:cNvPr id="30" name="!!board2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9968240" y="4753124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9968240" y="4736613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32" name="Group 15">
            <a:extLst>
              <a:ext uri="{FF2B5EF4-FFF2-40B4-BE49-F238E27FC236}">
                <a16:creationId xmlns:a16="http://schemas.microsoft.com/office/drawing/2014/main" id="{0F278DA0-6AD2-D89C-1EAC-5936F2214D6E}"/>
              </a:ext>
            </a:extLst>
          </p:cNvPr>
          <p:cNvGrpSpPr/>
          <p:nvPr/>
        </p:nvGrpSpPr>
        <p:grpSpPr>
          <a:xfrm>
            <a:off x="644330" y="3805900"/>
            <a:ext cx="9601764" cy="5717555"/>
            <a:chOff x="0" y="0"/>
            <a:chExt cx="12802352" cy="7623407"/>
          </a:xfrm>
        </p:grpSpPr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5B5D287F-70E0-D928-0E40-604CDB93691F}"/>
                </a:ext>
              </a:extLst>
            </p:cNvPr>
            <p:cNvSpPr/>
            <p:nvPr/>
          </p:nvSpPr>
          <p:spPr>
            <a:xfrm>
              <a:off x="0" y="0"/>
              <a:ext cx="12802352" cy="7623374"/>
            </a:xfrm>
            <a:custGeom>
              <a:avLst/>
              <a:gdLst/>
              <a:ahLst/>
              <a:cxnLst/>
              <a:rect l="l" t="t" r="r" b="b"/>
              <a:pathLst>
                <a:path w="12802352" h="7623374">
                  <a:moveTo>
                    <a:pt x="0" y="0"/>
                  </a:moveTo>
                  <a:lnTo>
                    <a:pt x="12802352" y="0"/>
                  </a:lnTo>
                  <a:lnTo>
                    <a:pt x="12802352" y="7623374"/>
                  </a:lnTo>
                  <a:lnTo>
                    <a:pt x="0" y="7623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sp>
        <p:nvSpPr>
          <p:cNvPr id="35" name="!!board5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9968240" y="7021647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9968240" y="7005136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!!board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13959297" y="5891285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13959297" y="5874774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!!board3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9968240" y="5891285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9968240" y="5874774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</a:p>
        </p:txBody>
      </p:sp>
    </p:spTree>
    <p:extLst>
      <p:ext uri="{BB962C8B-B14F-4D97-AF65-F5344CB8AC3E}">
        <p14:creationId xmlns:p14="http://schemas.microsoft.com/office/powerpoint/2010/main" val="1185905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F0B7479-D40C-0A2A-7EC3-B4258A56010D}"/>
              </a:ext>
            </a:extLst>
          </p:cNvPr>
          <p:cNvGrpSpPr/>
          <p:nvPr/>
        </p:nvGrpSpPr>
        <p:grpSpPr>
          <a:xfrm>
            <a:off x="-1349679" y="-6272637"/>
            <a:ext cx="22243016" cy="16597737"/>
            <a:chOff x="-152400" y="-3058464"/>
            <a:chExt cx="19035232" cy="1373311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35AF15C-E969-7B42-7C4A-31519B387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13" name="Group 3">
              <a:extLst>
                <a:ext uri="{FF2B5EF4-FFF2-40B4-BE49-F238E27FC236}">
                  <a16:creationId xmlns:a16="http://schemas.microsoft.com/office/drawing/2014/main" id="{B6C7660F-3ACF-F0F3-C93F-D3C77AA49A5E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8CC67C0F-E16D-CAE5-94F0-4476D0A541AF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TextBox 5">
                <a:extLst>
                  <a:ext uri="{FF2B5EF4-FFF2-40B4-BE49-F238E27FC236}">
                    <a16:creationId xmlns:a16="http://schemas.microsoft.com/office/drawing/2014/main" id="{F1944DD7-28A8-D7C9-B2B1-1F631167CE8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!!board4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3703320" y="9149620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703320" y="9133109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!!board2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7874506" y="792477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7874506" y="790825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!!board5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7874506" y="9133109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7874506" y="9116598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!!board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3733800" y="7902542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733800" y="7886031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!!board3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2045692" y="793692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2045692" y="792041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826180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6324600" y="-13982700"/>
            <a:ext cx="36016244" cy="25984200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430429" y="1378725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21" name="TextBox 73">
            <a:extLst>
              <a:ext uri="{FF2B5EF4-FFF2-40B4-BE49-F238E27FC236}">
                <a16:creationId xmlns:a16="http://schemas.microsoft.com/office/drawing/2014/main" id="{4F0A3188-FEC1-A4AD-423A-25EBF3ED81C2}"/>
              </a:ext>
            </a:extLst>
          </p:cNvPr>
          <p:cNvSpPr txBox="1"/>
          <p:nvPr/>
        </p:nvSpPr>
        <p:spPr>
          <a:xfrm>
            <a:off x="1028700" y="1187768"/>
            <a:ext cx="27051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222" name="TextBox 74">
            <a:extLst>
              <a:ext uri="{FF2B5EF4-FFF2-40B4-BE49-F238E27FC236}">
                <a16:creationId xmlns:a16="http://schemas.microsoft.com/office/drawing/2014/main" id="{07FA7F8F-1E20-8D5E-68B2-E0F5FE3E65F2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練習題目籠統</a:t>
            </a:r>
          </a:p>
        </p:txBody>
      </p:sp>
    </p:spTree>
    <p:extLst>
      <p:ext uri="{BB962C8B-B14F-4D97-AF65-F5344CB8AC3E}">
        <p14:creationId xmlns:p14="http://schemas.microsoft.com/office/powerpoint/2010/main" val="3075956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8686800" y="-12176760"/>
            <a:ext cx="33755987" cy="24353520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430429" y="1378725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21" name="TextBox 73">
            <a:extLst>
              <a:ext uri="{FF2B5EF4-FFF2-40B4-BE49-F238E27FC236}">
                <a16:creationId xmlns:a16="http://schemas.microsoft.com/office/drawing/2014/main" id="{4F0A3188-FEC1-A4AD-423A-25EBF3ED81C2}"/>
              </a:ext>
            </a:extLst>
          </p:cNvPr>
          <p:cNvSpPr txBox="1"/>
          <p:nvPr/>
        </p:nvSpPr>
        <p:spPr>
          <a:xfrm>
            <a:off x="1028700" y="1187768"/>
            <a:ext cx="27051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222" name="TextBox 74">
            <a:extLst>
              <a:ext uri="{FF2B5EF4-FFF2-40B4-BE49-F238E27FC236}">
                <a16:creationId xmlns:a16="http://schemas.microsoft.com/office/drawing/2014/main" id="{07FA7F8F-1E20-8D5E-68B2-E0F5FE3E65F2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練習題目籠統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589BA232-504A-2692-A20C-CA97E1AD6845}"/>
              </a:ext>
            </a:extLst>
          </p:cNvPr>
          <p:cNvGrpSpPr/>
          <p:nvPr/>
        </p:nvGrpSpPr>
        <p:grpSpPr>
          <a:xfrm>
            <a:off x="9931245" y="3521236"/>
            <a:ext cx="6780996" cy="3314013"/>
            <a:chOff x="0" y="0"/>
            <a:chExt cx="9041328" cy="4418684"/>
          </a:xfrm>
        </p:grpSpPr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30250A54-19A4-A730-8961-1AD0718A19F4}"/>
                </a:ext>
              </a:extLst>
            </p:cNvPr>
            <p:cNvGrpSpPr/>
            <p:nvPr/>
          </p:nvGrpSpPr>
          <p:grpSpPr>
            <a:xfrm>
              <a:off x="0" y="0"/>
              <a:ext cx="7349516" cy="4418684"/>
              <a:chOff x="0" y="0"/>
              <a:chExt cx="1451756" cy="872827"/>
            </a:xfrm>
          </p:grpSpPr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FD713E0D-6BEB-9A16-962B-8C80697DB739}"/>
                  </a:ext>
                </a:extLst>
              </p:cNvPr>
              <p:cNvSpPr/>
              <p:nvPr/>
            </p:nvSpPr>
            <p:spPr>
              <a:xfrm>
                <a:off x="0" y="0"/>
                <a:ext cx="1451756" cy="872827"/>
              </a:xfrm>
              <a:custGeom>
                <a:avLst/>
                <a:gdLst/>
                <a:ahLst/>
                <a:cxnLst/>
                <a:rect l="l" t="t" r="r" b="b"/>
                <a:pathLst>
                  <a:path w="1451756" h="872827">
                    <a:moveTo>
                      <a:pt x="21050" y="0"/>
                    </a:moveTo>
                    <a:lnTo>
                      <a:pt x="1430706" y="0"/>
                    </a:lnTo>
                    <a:cubicBezTo>
                      <a:pt x="1436289" y="0"/>
                      <a:pt x="1441643" y="2218"/>
                      <a:pt x="1445591" y="6165"/>
                    </a:cubicBezTo>
                    <a:cubicBezTo>
                      <a:pt x="1449538" y="10113"/>
                      <a:pt x="1451756" y="15467"/>
                      <a:pt x="1451756" y="21050"/>
                    </a:cubicBezTo>
                    <a:lnTo>
                      <a:pt x="1451756" y="851776"/>
                    </a:lnTo>
                    <a:cubicBezTo>
                      <a:pt x="1451756" y="857359"/>
                      <a:pt x="1449538" y="862714"/>
                      <a:pt x="1445591" y="866661"/>
                    </a:cubicBezTo>
                    <a:cubicBezTo>
                      <a:pt x="1441643" y="870609"/>
                      <a:pt x="1436289" y="872827"/>
                      <a:pt x="1430706" y="872827"/>
                    </a:cubicBezTo>
                    <a:lnTo>
                      <a:pt x="21050" y="872827"/>
                    </a:lnTo>
                    <a:cubicBezTo>
                      <a:pt x="15467" y="872827"/>
                      <a:pt x="10113" y="870609"/>
                      <a:pt x="6165" y="866661"/>
                    </a:cubicBezTo>
                    <a:cubicBezTo>
                      <a:pt x="2218" y="862714"/>
                      <a:pt x="0" y="857359"/>
                      <a:pt x="0" y="851776"/>
                    </a:cubicBezTo>
                    <a:lnTo>
                      <a:pt x="0" y="21050"/>
                    </a:lnTo>
                    <a:cubicBezTo>
                      <a:pt x="0" y="15467"/>
                      <a:pt x="2218" y="10113"/>
                      <a:pt x="6165" y="6165"/>
                    </a:cubicBezTo>
                    <a:cubicBezTo>
                      <a:pt x="10113" y="2218"/>
                      <a:pt x="15467" y="0"/>
                      <a:pt x="21050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32" name="TextBox 10">
                <a:extLst>
                  <a:ext uri="{FF2B5EF4-FFF2-40B4-BE49-F238E27FC236}">
                    <a16:creationId xmlns:a16="http://schemas.microsoft.com/office/drawing/2014/main" id="{2B658B89-B62F-239C-F56F-CA30BACDB03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51756" cy="901402"/>
              </a:xfrm>
              <a:prstGeom prst="rect">
                <a:avLst/>
              </a:prstGeom>
            </p:spPr>
            <p:txBody>
              <a:bodyPr lIns="172866" tIns="172866" rIns="172866" bIns="17286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EC828EAB-8526-D431-52EB-2AF79AC162E9}"/>
                </a:ext>
              </a:extLst>
            </p:cNvPr>
            <p:cNvGrpSpPr/>
            <p:nvPr/>
          </p:nvGrpSpPr>
          <p:grpSpPr>
            <a:xfrm>
              <a:off x="7832116" y="3071683"/>
              <a:ext cx="1209212" cy="1209212"/>
              <a:chOff x="0" y="0"/>
              <a:chExt cx="812800" cy="812800"/>
            </a:xfrm>
          </p:grpSpPr>
          <p:sp>
            <p:nvSpPr>
              <p:cNvPr id="28" name="Freeform 12">
                <a:extLst>
                  <a:ext uri="{FF2B5EF4-FFF2-40B4-BE49-F238E27FC236}">
                    <a16:creationId xmlns:a16="http://schemas.microsoft.com/office/drawing/2014/main" id="{AA76E836-22C1-0F94-DDEC-896507CC35E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9E0641AC-EA83-F89D-F40E-6FAE62024209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3335E9A3-3895-F06B-380A-F101301147ED}"/>
                </a:ext>
              </a:extLst>
            </p:cNvPr>
            <p:cNvSpPr/>
            <p:nvPr/>
          </p:nvSpPr>
          <p:spPr>
            <a:xfrm>
              <a:off x="7885129" y="3238072"/>
              <a:ext cx="1103186" cy="840427"/>
            </a:xfrm>
            <a:custGeom>
              <a:avLst/>
              <a:gdLst/>
              <a:ahLst/>
              <a:cxnLst/>
              <a:rect l="l" t="t" r="r" b="b"/>
              <a:pathLst>
                <a:path w="1103186" h="840427">
                  <a:moveTo>
                    <a:pt x="0" y="0"/>
                  </a:moveTo>
                  <a:lnTo>
                    <a:pt x="1103186" y="0"/>
                  </a:lnTo>
                  <a:lnTo>
                    <a:pt x="1103186" y="840427"/>
                  </a:lnTo>
                  <a:lnTo>
                    <a:pt x="0" y="840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D636A58B-68CB-22ED-B1DB-67E46D97752F}"/>
                </a:ext>
              </a:extLst>
            </p:cNvPr>
            <p:cNvSpPr txBox="1"/>
            <p:nvPr/>
          </p:nvSpPr>
          <p:spPr>
            <a:xfrm>
              <a:off x="3905533" y="3418422"/>
              <a:ext cx="3926582" cy="685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32">
                  <a:solidFill>
                    <a:srgbClr val="010111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resume.pdf</a:t>
              </a:r>
            </a:p>
          </p:txBody>
        </p:sp>
        <p:grpSp>
          <p:nvGrpSpPr>
            <p:cNvPr id="10" name="Group 16">
              <a:extLst>
                <a:ext uri="{FF2B5EF4-FFF2-40B4-BE49-F238E27FC236}">
                  <a16:creationId xmlns:a16="http://schemas.microsoft.com/office/drawing/2014/main" id="{A6691ECA-89DF-25BB-BF8D-361D0BCD6D61}"/>
                </a:ext>
              </a:extLst>
            </p:cNvPr>
            <p:cNvGrpSpPr/>
            <p:nvPr/>
          </p:nvGrpSpPr>
          <p:grpSpPr>
            <a:xfrm>
              <a:off x="767751" y="314463"/>
              <a:ext cx="2871083" cy="3789758"/>
              <a:chOff x="0" y="0"/>
              <a:chExt cx="508497" cy="671204"/>
            </a:xfrm>
          </p:grpSpPr>
          <p:sp>
            <p:nvSpPr>
              <p:cNvPr id="26" name="Freeform 17">
                <a:extLst>
                  <a:ext uri="{FF2B5EF4-FFF2-40B4-BE49-F238E27FC236}">
                    <a16:creationId xmlns:a16="http://schemas.microsoft.com/office/drawing/2014/main" id="{95E0097B-64B0-DFDA-2144-A1D7240F6515}"/>
                  </a:ext>
                </a:extLst>
              </p:cNvPr>
              <p:cNvSpPr/>
              <p:nvPr/>
            </p:nvSpPr>
            <p:spPr>
              <a:xfrm>
                <a:off x="0" y="0"/>
                <a:ext cx="508497" cy="671204"/>
              </a:xfrm>
              <a:custGeom>
                <a:avLst/>
                <a:gdLst/>
                <a:ahLst/>
                <a:cxnLst/>
                <a:rect l="l" t="t" r="r" b="b"/>
                <a:pathLst>
                  <a:path w="508497" h="671204">
                    <a:moveTo>
                      <a:pt x="5283" y="0"/>
                    </a:moveTo>
                    <a:lnTo>
                      <a:pt x="503214" y="0"/>
                    </a:lnTo>
                    <a:cubicBezTo>
                      <a:pt x="504615" y="0"/>
                      <a:pt x="505959" y="557"/>
                      <a:pt x="506950" y="1547"/>
                    </a:cubicBezTo>
                    <a:cubicBezTo>
                      <a:pt x="507941" y="2538"/>
                      <a:pt x="508497" y="3882"/>
                      <a:pt x="508497" y="5283"/>
                    </a:cubicBezTo>
                    <a:lnTo>
                      <a:pt x="508497" y="665921"/>
                    </a:lnTo>
                    <a:cubicBezTo>
                      <a:pt x="508497" y="667322"/>
                      <a:pt x="507941" y="668666"/>
                      <a:pt x="506950" y="669656"/>
                    </a:cubicBezTo>
                    <a:cubicBezTo>
                      <a:pt x="505959" y="670647"/>
                      <a:pt x="504615" y="671204"/>
                      <a:pt x="503214" y="671204"/>
                    </a:cubicBezTo>
                    <a:lnTo>
                      <a:pt x="5283" y="671204"/>
                    </a:lnTo>
                    <a:cubicBezTo>
                      <a:pt x="3882" y="671204"/>
                      <a:pt x="2538" y="670647"/>
                      <a:pt x="1547" y="669656"/>
                    </a:cubicBezTo>
                    <a:cubicBezTo>
                      <a:pt x="557" y="668666"/>
                      <a:pt x="0" y="667322"/>
                      <a:pt x="0" y="665921"/>
                    </a:cubicBezTo>
                    <a:lnTo>
                      <a:pt x="0" y="5283"/>
                    </a:lnTo>
                    <a:cubicBezTo>
                      <a:pt x="0" y="3882"/>
                      <a:pt x="557" y="2538"/>
                      <a:pt x="1547" y="1547"/>
                    </a:cubicBezTo>
                    <a:cubicBezTo>
                      <a:pt x="2538" y="557"/>
                      <a:pt x="3882" y="0"/>
                      <a:pt x="528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7" name="TextBox 18">
                <a:extLst>
                  <a:ext uri="{FF2B5EF4-FFF2-40B4-BE49-F238E27FC236}">
                    <a16:creationId xmlns:a16="http://schemas.microsoft.com/office/drawing/2014/main" id="{A052130E-7DD9-4A5F-75EB-AE7DBEF9372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08497" cy="699779"/>
              </a:xfrm>
              <a:prstGeom prst="rect">
                <a:avLst/>
              </a:prstGeom>
            </p:spPr>
            <p:txBody>
              <a:bodyPr lIns="195465" tIns="195465" rIns="195465" bIns="19546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18840BD4-33F0-992A-1AB3-CCEC2F0C491E}"/>
                </a:ext>
              </a:extLst>
            </p:cNvPr>
            <p:cNvGrpSpPr/>
            <p:nvPr/>
          </p:nvGrpSpPr>
          <p:grpSpPr>
            <a:xfrm>
              <a:off x="1005603" y="1455575"/>
              <a:ext cx="703851" cy="880508"/>
              <a:chOff x="0" y="0"/>
              <a:chExt cx="124659" cy="155947"/>
            </a:xfrm>
          </p:grpSpPr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7F5CBC60-D0E6-E616-9DCB-49256FC615CF}"/>
                  </a:ext>
                </a:extLst>
              </p:cNvPr>
              <p:cNvSpPr/>
              <p:nvPr/>
            </p:nvSpPr>
            <p:spPr>
              <a:xfrm>
                <a:off x="0" y="0"/>
                <a:ext cx="124659" cy="155947"/>
              </a:xfrm>
              <a:custGeom>
                <a:avLst/>
                <a:gdLst/>
                <a:ahLst/>
                <a:cxnLst/>
                <a:rect l="l" t="t" r="r" b="b"/>
                <a:pathLst>
                  <a:path w="124659" h="155947">
                    <a:moveTo>
                      <a:pt x="21549" y="0"/>
                    </a:moveTo>
                    <a:lnTo>
                      <a:pt x="103110" y="0"/>
                    </a:lnTo>
                    <a:cubicBezTo>
                      <a:pt x="108825" y="0"/>
                      <a:pt x="114306" y="2270"/>
                      <a:pt x="118347" y="6312"/>
                    </a:cubicBezTo>
                    <a:cubicBezTo>
                      <a:pt x="122389" y="10353"/>
                      <a:pt x="124659" y="15834"/>
                      <a:pt x="124659" y="21549"/>
                    </a:cubicBezTo>
                    <a:lnTo>
                      <a:pt x="124659" y="134398"/>
                    </a:lnTo>
                    <a:cubicBezTo>
                      <a:pt x="124659" y="146299"/>
                      <a:pt x="115011" y="155947"/>
                      <a:pt x="103110" y="155947"/>
                    </a:cubicBezTo>
                    <a:lnTo>
                      <a:pt x="21549" y="155947"/>
                    </a:lnTo>
                    <a:cubicBezTo>
                      <a:pt x="9648" y="155947"/>
                      <a:pt x="0" y="146299"/>
                      <a:pt x="0" y="134398"/>
                    </a:cubicBezTo>
                    <a:lnTo>
                      <a:pt x="0" y="21549"/>
                    </a:lnTo>
                    <a:cubicBezTo>
                      <a:pt x="0" y="9648"/>
                      <a:pt x="9648" y="0"/>
                      <a:pt x="2154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5" name="TextBox 21">
                <a:extLst>
                  <a:ext uri="{FF2B5EF4-FFF2-40B4-BE49-F238E27FC236}">
                    <a16:creationId xmlns:a16="http://schemas.microsoft.com/office/drawing/2014/main" id="{9D8BE545-2113-090E-3C7C-A9D3BFE5F79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4659" cy="184522"/>
              </a:xfrm>
              <a:prstGeom prst="rect">
                <a:avLst/>
              </a:prstGeom>
            </p:spPr>
            <p:txBody>
              <a:bodyPr lIns="195465" tIns="195465" rIns="195465" bIns="19546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22">
              <a:extLst>
                <a:ext uri="{FF2B5EF4-FFF2-40B4-BE49-F238E27FC236}">
                  <a16:creationId xmlns:a16="http://schemas.microsoft.com/office/drawing/2014/main" id="{BD3F493B-BE72-EF1A-BCC5-2CA166F754E5}"/>
                </a:ext>
              </a:extLst>
            </p:cNvPr>
            <p:cNvSpPr/>
            <p:nvPr/>
          </p:nvSpPr>
          <p:spPr>
            <a:xfrm>
              <a:off x="1067240" y="1608419"/>
              <a:ext cx="580577" cy="631479"/>
            </a:xfrm>
            <a:custGeom>
              <a:avLst/>
              <a:gdLst/>
              <a:ahLst/>
              <a:cxnLst/>
              <a:rect l="l" t="t" r="r" b="b"/>
              <a:pathLst>
                <a:path w="580577" h="631479">
                  <a:moveTo>
                    <a:pt x="0" y="0"/>
                  </a:moveTo>
                  <a:lnTo>
                    <a:pt x="580577" y="0"/>
                  </a:lnTo>
                  <a:lnTo>
                    <a:pt x="580577" y="631479"/>
                  </a:lnTo>
                  <a:lnTo>
                    <a:pt x="0" y="631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14" name="TextBox 23">
              <a:extLst>
                <a:ext uri="{FF2B5EF4-FFF2-40B4-BE49-F238E27FC236}">
                  <a16:creationId xmlns:a16="http://schemas.microsoft.com/office/drawing/2014/main" id="{8838E777-39F4-D347-4A76-AC803684B2EF}"/>
                </a:ext>
              </a:extLst>
            </p:cNvPr>
            <p:cNvSpPr txBox="1"/>
            <p:nvPr/>
          </p:nvSpPr>
          <p:spPr>
            <a:xfrm>
              <a:off x="801804" y="448147"/>
              <a:ext cx="2802977" cy="889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21"/>
                </a:lnSpc>
              </a:pPr>
              <a:r>
                <a:rPr lang="en-US" sz="4015" spc="176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Resume</a:t>
              </a:r>
            </a:p>
          </p:txBody>
        </p:sp>
        <p:sp>
          <p:nvSpPr>
            <p:cNvPr id="15" name="AutoShape 24">
              <a:extLst>
                <a:ext uri="{FF2B5EF4-FFF2-40B4-BE49-F238E27FC236}">
                  <a16:creationId xmlns:a16="http://schemas.microsoft.com/office/drawing/2014/main" id="{5523E957-039C-5C93-E18B-9A2EDEAC9FCC}"/>
                </a:ext>
              </a:extLst>
            </p:cNvPr>
            <p:cNvSpPr/>
            <p:nvPr/>
          </p:nvSpPr>
          <p:spPr>
            <a:xfrm flipV="1">
              <a:off x="2064535" y="1526397"/>
              <a:ext cx="1152562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6" name="AutoShape 25">
              <a:extLst>
                <a:ext uri="{FF2B5EF4-FFF2-40B4-BE49-F238E27FC236}">
                  <a16:creationId xmlns:a16="http://schemas.microsoft.com/office/drawing/2014/main" id="{0AE831AE-821C-65E0-A52E-5A23FC1DF967}"/>
                </a:ext>
              </a:extLst>
            </p:cNvPr>
            <p:cNvSpPr/>
            <p:nvPr/>
          </p:nvSpPr>
          <p:spPr>
            <a:xfrm>
              <a:off x="2064535" y="1859985"/>
              <a:ext cx="780225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7" name="AutoShape 26">
              <a:extLst>
                <a:ext uri="{FF2B5EF4-FFF2-40B4-BE49-F238E27FC236}">
                  <a16:creationId xmlns:a16="http://schemas.microsoft.com/office/drawing/2014/main" id="{C25F245C-7F16-70CF-F732-998977D14496}"/>
                </a:ext>
              </a:extLst>
            </p:cNvPr>
            <p:cNvSpPr/>
            <p:nvPr/>
          </p:nvSpPr>
          <p:spPr>
            <a:xfrm flipV="1">
              <a:off x="2057248" y="2050049"/>
              <a:ext cx="780225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8" name="AutoShape 27">
              <a:extLst>
                <a:ext uri="{FF2B5EF4-FFF2-40B4-BE49-F238E27FC236}">
                  <a16:creationId xmlns:a16="http://schemas.microsoft.com/office/drawing/2014/main" id="{D7A66B50-B4CB-D488-4619-0350F7CDA4BB}"/>
                </a:ext>
              </a:extLst>
            </p:cNvPr>
            <p:cNvSpPr/>
            <p:nvPr/>
          </p:nvSpPr>
          <p:spPr>
            <a:xfrm flipV="1">
              <a:off x="2057248" y="2261556"/>
              <a:ext cx="780225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9" name="TextBox 28">
              <a:extLst>
                <a:ext uri="{FF2B5EF4-FFF2-40B4-BE49-F238E27FC236}">
                  <a16:creationId xmlns:a16="http://schemas.microsoft.com/office/drawing/2014/main" id="{78DF44E7-57E6-D352-7D0E-E4E2DF3D5DE5}"/>
                </a:ext>
              </a:extLst>
            </p:cNvPr>
            <p:cNvSpPr txBox="1"/>
            <p:nvPr/>
          </p:nvSpPr>
          <p:spPr>
            <a:xfrm>
              <a:off x="1009615" y="2416413"/>
              <a:ext cx="2629218" cy="56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5"/>
                </a:lnSpc>
              </a:pPr>
              <a:r>
                <a:rPr lang="en-US" sz="2453" spc="107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IBM intern</a:t>
              </a:r>
            </a:p>
          </p:txBody>
        </p:sp>
        <p:sp>
          <p:nvSpPr>
            <p:cNvPr id="20" name="AutoShape 29">
              <a:extLst>
                <a:ext uri="{FF2B5EF4-FFF2-40B4-BE49-F238E27FC236}">
                  <a16:creationId xmlns:a16="http://schemas.microsoft.com/office/drawing/2014/main" id="{3E31E850-08A5-3968-9A21-7E7493753480}"/>
                </a:ext>
              </a:extLst>
            </p:cNvPr>
            <p:cNvSpPr/>
            <p:nvPr/>
          </p:nvSpPr>
          <p:spPr>
            <a:xfrm>
              <a:off x="1009897" y="3107259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" name="AutoShape 30">
              <a:extLst>
                <a:ext uri="{FF2B5EF4-FFF2-40B4-BE49-F238E27FC236}">
                  <a16:creationId xmlns:a16="http://schemas.microsoft.com/office/drawing/2014/main" id="{B4C11559-97D1-9F8B-02B7-4F57160B7D30}"/>
                </a:ext>
              </a:extLst>
            </p:cNvPr>
            <p:cNvSpPr/>
            <p:nvPr/>
          </p:nvSpPr>
          <p:spPr>
            <a:xfrm>
              <a:off x="1009521" y="3347793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2" name="AutoShape 31">
              <a:extLst>
                <a:ext uri="{FF2B5EF4-FFF2-40B4-BE49-F238E27FC236}">
                  <a16:creationId xmlns:a16="http://schemas.microsoft.com/office/drawing/2014/main" id="{0EDAD85B-0E88-B65C-75EA-D5FD5BA19636}"/>
                </a:ext>
              </a:extLst>
            </p:cNvPr>
            <p:cNvSpPr/>
            <p:nvPr/>
          </p:nvSpPr>
          <p:spPr>
            <a:xfrm flipV="1">
              <a:off x="1009897" y="3588326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3" name="AutoShape 32">
              <a:extLst>
                <a:ext uri="{FF2B5EF4-FFF2-40B4-BE49-F238E27FC236}">
                  <a16:creationId xmlns:a16="http://schemas.microsoft.com/office/drawing/2014/main" id="{9AC6AD54-BBBF-FB46-09A7-5B622B2D9450}"/>
                </a:ext>
              </a:extLst>
            </p:cNvPr>
            <p:cNvSpPr/>
            <p:nvPr/>
          </p:nvSpPr>
          <p:spPr>
            <a:xfrm flipV="1">
              <a:off x="1009897" y="3865617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C1ACB25E-4EE0-B14D-C140-C7CA3A3A3796}"/>
              </a:ext>
            </a:extLst>
          </p:cNvPr>
          <p:cNvGrpSpPr/>
          <p:nvPr/>
        </p:nvGrpSpPr>
        <p:grpSpPr>
          <a:xfrm>
            <a:off x="8495970" y="7672220"/>
            <a:ext cx="6639891" cy="969026"/>
            <a:chOff x="0" y="0"/>
            <a:chExt cx="8853188" cy="1292034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A9A31856-3D7E-5435-072C-C44DBFB9A668}"/>
                </a:ext>
              </a:extLst>
            </p:cNvPr>
            <p:cNvGrpSpPr/>
            <p:nvPr/>
          </p:nvGrpSpPr>
          <p:grpSpPr>
            <a:xfrm>
              <a:off x="0" y="0"/>
              <a:ext cx="1292034" cy="1292034"/>
              <a:chOff x="0" y="0"/>
              <a:chExt cx="812800" cy="812800"/>
            </a:xfrm>
          </p:grpSpPr>
          <p:sp>
            <p:nvSpPr>
              <p:cNvPr id="41" name="Freeform 35">
                <a:extLst>
                  <a:ext uri="{FF2B5EF4-FFF2-40B4-BE49-F238E27FC236}">
                    <a16:creationId xmlns:a16="http://schemas.microsoft.com/office/drawing/2014/main" id="{412A494C-1661-CCDE-EAFD-13C91416D23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42" name="TextBox 36">
                <a:extLst>
                  <a:ext uri="{FF2B5EF4-FFF2-40B4-BE49-F238E27FC236}">
                    <a16:creationId xmlns:a16="http://schemas.microsoft.com/office/drawing/2014/main" id="{A8BC7EA7-E37E-7600-5127-0138B56FD11A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ADB7157F-4B59-0E77-A909-CD41A8437DA0}"/>
                </a:ext>
              </a:extLst>
            </p:cNvPr>
            <p:cNvSpPr/>
            <p:nvPr/>
          </p:nvSpPr>
          <p:spPr>
            <a:xfrm>
              <a:off x="243223" y="154683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2"/>
                  </a:lnTo>
                  <a:lnTo>
                    <a:pt x="0" y="97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36" name="Group 38">
              <a:extLst>
                <a:ext uri="{FF2B5EF4-FFF2-40B4-BE49-F238E27FC236}">
                  <a16:creationId xmlns:a16="http://schemas.microsoft.com/office/drawing/2014/main" id="{323366F4-EE4D-088C-6FF5-9DCD79EB77A2}"/>
                </a:ext>
              </a:extLst>
            </p:cNvPr>
            <p:cNvGrpSpPr/>
            <p:nvPr/>
          </p:nvGrpSpPr>
          <p:grpSpPr>
            <a:xfrm>
              <a:off x="1562443" y="0"/>
              <a:ext cx="7290745" cy="1292034"/>
              <a:chOff x="0" y="0"/>
              <a:chExt cx="1440147" cy="255217"/>
            </a:xfrm>
          </p:grpSpPr>
          <p:sp>
            <p:nvSpPr>
              <p:cNvPr id="38" name="Freeform 39">
                <a:extLst>
                  <a:ext uri="{FF2B5EF4-FFF2-40B4-BE49-F238E27FC236}">
                    <a16:creationId xmlns:a16="http://schemas.microsoft.com/office/drawing/2014/main" id="{23933E0C-739A-5DCD-52AE-19BD3A2B5C4F}"/>
                  </a:ext>
                </a:extLst>
              </p:cNvPr>
              <p:cNvSpPr/>
              <p:nvPr/>
            </p:nvSpPr>
            <p:spPr>
              <a:xfrm>
                <a:off x="0" y="0"/>
                <a:ext cx="1440147" cy="255217"/>
              </a:xfrm>
              <a:custGeom>
                <a:avLst/>
                <a:gdLst/>
                <a:ahLst/>
                <a:cxnLst/>
                <a:rect l="l" t="t" r="r" b="b"/>
                <a:pathLst>
                  <a:path w="1440147" h="255217">
                    <a:moveTo>
                      <a:pt x="22673" y="0"/>
                    </a:moveTo>
                    <a:lnTo>
                      <a:pt x="1417474" y="0"/>
                    </a:lnTo>
                    <a:cubicBezTo>
                      <a:pt x="1423487" y="0"/>
                      <a:pt x="1429254" y="2389"/>
                      <a:pt x="1433506" y="6641"/>
                    </a:cubicBezTo>
                    <a:cubicBezTo>
                      <a:pt x="1437758" y="10893"/>
                      <a:pt x="1440147" y="16660"/>
                      <a:pt x="1440147" y="22673"/>
                    </a:cubicBezTo>
                    <a:lnTo>
                      <a:pt x="1440147" y="232544"/>
                    </a:lnTo>
                    <a:cubicBezTo>
                      <a:pt x="1440147" y="238557"/>
                      <a:pt x="1437758" y="244324"/>
                      <a:pt x="1433506" y="248576"/>
                    </a:cubicBezTo>
                    <a:cubicBezTo>
                      <a:pt x="1429254" y="252828"/>
                      <a:pt x="1423487" y="255217"/>
                      <a:pt x="1417474" y="255217"/>
                    </a:cubicBezTo>
                    <a:lnTo>
                      <a:pt x="22673" y="255217"/>
                    </a:lnTo>
                    <a:cubicBezTo>
                      <a:pt x="10151" y="255217"/>
                      <a:pt x="0" y="245066"/>
                      <a:pt x="0" y="232544"/>
                    </a:cubicBezTo>
                    <a:lnTo>
                      <a:pt x="0" y="22673"/>
                    </a:lnTo>
                    <a:cubicBezTo>
                      <a:pt x="0" y="16660"/>
                      <a:pt x="2389" y="10893"/>
                      <a:pt x="6641" y="6641"/>
                    </a:cubicBezTo>
                    <a:cubicBezTo>
                      <a:pt x="10893" y="2389"/>
                      <a:pt x="16660" y="0"/>
                      <a:pt x="22673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40" name="TextBox 40">
                <a:extLst>
                  <a:ext uri="{FF2B5EF4-FFF2-40B4-BE49-F238E27FC236}">
                    <a16:creationId xmlns:a16="http://schemas.microsoft.com/office/drawing/2014/main" id="{4D70D1C8-E1F5-636A-E19C-C8A1C9BB76D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0147" cy="283792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41">
              <a:extLst>
                <a:ext uri="{FF2B5EF4-FFF2-40B4-BE49-F238E27FC236}">
                  <a16:creationId xmlns:a16="http://schemas.microsoft.com/office/drawing/2014/main" id="{41B4E9F4-9950-535E-1489-B41ED0DEA571}"/>
                </a:ext>
              </a:extLst>
            </p:cNvPr>
            <p:cNvSpPr txBox="1"/>
            <p:nvPr/>
          </p:nvSpPr>
          <p:spPr>
            <a:xfrm>
              <a:off x="1705410" y="296556"/>
              <a:ext cx="7004813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分享你在</a:t>
              </a:r>
              <a:r>
                <a:rPr lang="en-US" sz="2800" spc="123" err="1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IBM當intern</a:t>
              </a: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的經驗</a:t>
              </a:r>
              <a:endParaRPr lang="en-US" sz="2800" spc="123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2BD331B-5AFB-832E-731F-B6B4EDEE5196}"/>
              </a:ext>
            </a:extLst>
          </p:cNvPr>
          <p:cNvSpPr txBox="1"/>
          <p:nvPr/>
        </p:nvSpPr>
        <p:spPr>
          <a:xfrm>
            <a:off x="9794584" y="1722120"/>
            <a:ext cx="5214496" cy="79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spc="211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MetaView</a:t>
            </a:r>
            <a:endParaRPr lang="en-US" sz="4799" spc="211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C62423-7039-524F-E65E-A2C3AF07FAAE}"/>
              </a:ext>
            </a:extLst>
          </p:cNvPr>
          <p:cNvSpPr txBox="1"/>
          <p:nvPr/>
        </p:nvSpPr>
        <p:spPr>
          <a:xfrm>
            <a:off x="9626805" y="2476500"/>
            <a:ext cx="5550054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58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根據履歷產出個人化問題</a:t>
            </a:r>
          </a:p>
        </p:txBody>
      </p:sp>
    </p:spTree>
    <p:extLst>
      <p:ext uri="{BB962C8B-B14F-4D97-AF65-F5344CB8AC3E}">
        <p14:creationId xmlns:p14="http://schemas.microsoft.com/office/powerpoint/2010/main" val="3384932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8686800" y="-12176760"/>
            <a:ext cx="33755987" cy="24353520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430429" y="1378725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21" name="TextBox 73">
            <a:extLst>
              <a:ext uri="{FF2B5EF4-FFF2-40B4-BE49-F238E27FC236}">
                <a16:creationId xmlns:a16="http://schemas.microsoft.com/office/drawing/2014/main" id="{4F0A3188-FEC1-A4AD-423A-25EBF3ED81C2}"/>
              </a:ext>
            </a:extLst>
          </p:cNvPr>
          <p:cNvSpPr txBox="1"/>
          <p:nvPr/>
        </p:nvSpPr>
        <p:spPr>
          <a:xfrm>
            <a:off x="1028700" y="1187768"/>
            <a:ext cx="27051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222" name="TextBox 74">
            <a:extLst>
              <a:ext uri="{FF2B5EF4-FFF2-40B4-BE49-F238E27FC236}">
                <a16:creationId xmlns:a16="http://schemas.microsoft.com/office/drawing/2014/main" id="{07FA7F8F-1E20-8D5E-68B2-E0F5FE3E65F2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練習題目籠統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5B1F693C-DD53-6A55-A212-C3B4ED5E3883}"/>
              </a:ext>
            </a:extLst>
          </p:cNvPr>
          <p:cNvSpPr txBox="1"/>
          <p:nvPr/>
        </p:nvSpPr>
        <p:spPr>
          <a:xfrm>
            <a:off x="9601200" y="2520984"/>
            <a:ext cx="5550054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58" err="1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根據回答內容追問</a:t>
            </a:r>
            <a:endParaRPr lang="en-US" sz="3600" spc="158">
              <a:solidFill>
                <a:srgbClr val="B52222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6334560-7E23-9B02-86D3-1169F803EA68}"/>
              </a:ext>
            </a:extLst>
          </p:cNvPr>
          <p:cNvGrpSpPr/>
          <p:nvPr/>
        </p:nvGrpSpPr>
        <p:grpSpPr>
          <a:xfrm>
            <a:off x="8645712" y="3658467"/>
            <a:ext cx="6673320" cy="969026"/>
            <a:chOff x="0" y="0"/>
            <a:chExt cx="8897760" cy="1292034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9A14DCB-8369-B48E-6736-258DFA710895}"/>
                </a:ext>
              </a:extLst>
            </p:cNvPr>
            <p:cNvGrpSpPr/>
            <p:nvPr/>
          </p:nvGrpSpPr>
          <p:grpSpPr>
            <a:xfrm>
              <a:off x="0" y="0"/>
              <a:ext cx="1292034" cy="1292034"/>
              <a:chOff x="0" y="0"/>
              <a:chExt cx="812800" cy="812800"/>
            </a:xfrm>
          </p:grpSpPr>
          <p:sp>
            <p:nvSpPr>
              <p:cNvPr id="54" name="Freeform 48">
                <a:extLst>
                  <a:ext uri="{FF2B5EF4-FFF2-40B4-BE49-F238E27FC236}">
                    <a16:creationId xmlns:a16="http://schemas.microsoft.com/office/drawing/2014/main" id="{8845A9EF-6F1F-3F19-8DB3-4DD9567DA1A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5" name="TextBox 49">
                <a:extLst>
                  <a:ext uri="{FF2B5EF4-FFF2-40B4-BE49-F238E27FC236}">
                    <a16:creationId xmlns:a16="http://schemas.microsoft.com/office/drawing/2014/main" id="{F740F66F-6205-E77F-E8E6-9261966938D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780FE7FE-19F5-7C47-3D96-58F48B9361D4}"/>
                </a:ext>
              </a:extLst>
            </p:cNvPr>
            <p:cNvSpPr/>
            <p:nvPr/>
          </p:nvSpPr>
          <p:spPr>
            <a:xfrm>
              <a:off x="243223" y="154683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2"/>
                  </a:lnTo>
                  <a:lnTo>
                    <a:pt x="0" y="97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50" name="Group 51">
              <a:extLst>
                <a:ext uri="{FF2B5EF4-FFF2-40B4-BE49-F238E27FC236}">
                  <a16:creationId xmlns:a16="http://schemas.microsoft.com/office/drawing/2014/main" id="{0CEDE183-04AF-E73B-B09E-F9F68EE34261}"/>
                </a:ext>
              </a:extLst>
            </p:cNvPr>
            <p:cNvGrpSpPr/>
            <p:nvPr/>
          </p:nvGrpSpPr>
          <p:grpSpPr>
            <a:xfrm>
              <a:off x="1561077" y="0"/>
              <a:ext cx="7336683" cy="1292034"/>
              <a:chOff x="0" y="0"/>
              <a:chExt cx="1449221" cy="255217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2AF9A707-A706-6769-B833-461EEC696F94}"/>
                  </a:ext>
                </a:extLst>
              </p:cNvPr>
              <p:cNvSpPr/>
              <p:nvPr/>
            </p:nvSpPr>
            <p:spPr>
              <a:xfrm>
                <a:off x="0" y="0"/>
                <a:ext cx="1449221" cy="255217"/>
              </a:xfrm>
              <a:custGeom>
                <a:avLst/>
                <a:gdLst/>
                <a:ahLst/>
                <a:cxnLst/>
                <a:rect l="l" t="t" r="r" b="b"/>
                <a:pathLst>
                  <a:path w="1449221" h="255217">
                    <a:moveTo>
                      <a:pt x="22531" y="0"/>
                    </a:moveTo>
                    <a:lnTo>
                      <a:pt x="1426690" y="0"/>
                    </a:lnTo>
                    <a:cubicBezTo>
                      <a:pt x="1432666" y="0"/>
                      <a:pt x="1438397" y="2374"/>
                      <a:pt x="1442622" y="6599"/>
                    </a:cubicBezTo>
                    <a:cubicBezTo>
                      <a:pt x="1446848" y="10825"/>
                      <a:pt x="1449221" y="16556"/>
                      <a:pt x="1449221" y="22531"/>
                    </a:cubicBezTo>
                    <a:lnTo>
                      <a:pt x="1449221" y="232686"/>
                    </a:lnTo>
                    <a:cubicBezTo>
                      <a:pt x="1449221" y="238661"/>
                      <a:pt x="1446848" y="244392"/>
                      <a:pt x="1442622" y="248617"/>
                    </a:cubicBezTo>
                    <a:cubicBezTo>
                      <a:pt x="1438397" y="252843"/>
                      <a:pt x="1432666" y="255217"/>
                      <a:pt x="1426690" y="255217"/>
                    </a:cubicBezTo>
                    <a:lnTo>
                      <a:pt x="22531" y="255217"/>
                    </a:lnTo>
                    <a:cubicBezTo>
                      <a:pt x="16556" y="255217"/>
                      <a:pt x="10825" y="252843"/>
                      <a:pt x="6599" y="248617"/>
                    </a:cubicBezTo>
                    <a:cubicBezTo>
                      <a:pt x="2374" y="244392"/>
                      <a:pt x="0" y="238661"/>
                      <a:pt x="0" y="232686"/>
                    </a:cubicBezTo>
                    <a:lnTo>
                      <a:pt x="0" y="22531"/>
                    </a:lnTo>
                    <a:cubicBezTo>
                      <a:pt x="0" y="16556"/>
                      <a:pt x="2374" y="10825"/>
                      <a:pt x="6599" y="6599"/>
                    </a:cubicBezTo>
                    <a:cubicBezTo>
                      <a:pt x="10825" y="2374"/>
                      <a:pt x="16556" y="0"/>
                      <a:pt x="22531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3" name="TextBox 53">
                <a:extLst>
                  <a:ext uri="{FF2B5EF4-FFF2-40B4-BE49-F238E27FC236}">
                    <a16:creationId xmlns:a16="http://schemas.microsoft.com/office/drawing/2014/main" id="{489EEAD7-3B96-DF3A-EC83-AE234E1B14C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9221" cy="283792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1" name="TextBox 54">
              <a:extLst>
                <a:ext uri="{FF2B5EF4-FFF2-40B4-BE49-F238E27FC236}">
                  <a16:creationId xmlns:a16="http://schemas.microsoft.com/office/drawing/2014/main" id="{F2AD335A-D857-37F0-1051-34D5A316A655}"/>
                </a:ext>
              </a:extLst>
            </p:cNvPr>
            <p:cNvSpPr txBox="1"/>
            <p:nvPr/>
          </p:nvSpPr>
          <p:spPr>
            <a:xfrm>
              <a:off x="1704945" y="296556"/>
              <a:ext cx="7048948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分享你在IBM當intern的經驗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4568C6C-C465-3311-69FB-6DC0A9B06089}"/>
              </a:ext>
            </a:extLst>
          </p:cNvPr>
          <p:cNvGrpSpPr/>
          <p:nvPr/>
        </p:nvGrpSpPr>
        <p:grpSpPr>
          <a:xfrm>
            <a:off x="8645712" y="7110611"/>
            <a:ext cx="6673320" cy="1575119"/>
            <a:chOff x="0" y="0"/>
            <a:chExt cx="8897760" cy="2100159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8F70AC5-CD0C-329B-10F9-8E4AC3AB6823}"/>
                </a:ext>
              </a:extLst>
            </p:cNvPr>
            <p:cNvGrpSpPr/>
            <p:nvPr/>
          </p:nvGrpSpPr>
          <p:grpSpPr>
            <a:xfrm>
              <a:off x="0" y="808124"/>
              <a:ext cx="1292034" cy="1292034"/>
              <a:chOff x="0" y="0"/>
              <a:chExt cx="812800" cy="812800"/>
            </a:xfrm>
          </p:grpSpPr>
          <p:sp>
            <p:nvSpPr>
              <p:cNvPr id="63" name="Freeform 57">
                <a:extLst>
                  <a:ext uri="{FF2B5EF4-FFF2-40B4-BE49-F238E27FC236}">
                    <a16:creationId xmlns:a16="http://schemas.microsoft.com/office/drawing/2014/main" id="{873FB7BC-01E4-7859-EE79-14F0263782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192" name="TextBox 58">
                <a:extLst>
                  <a:ext uri="{FF2B5EF4-FFF2-40B4-BE49-F238E27FC236}">
                    <a16:creationId xmlns:a16="http://schemas.microsoft.com/office/drawing/2014/main" id="{6D305750-AB3A-F0B1-5437-7B01058F0D10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58" name="Freeform 59">
              <a:extLst>
                <a:ext uri="{FF2B5EF4-FFF2-40B4-BE49-F238E27FC236}">
                  <a16:creationId xmlns:a16="http://schemas.microsoft.com/office/drawing/2014/main" id="{02E57F5C-F4E6-B899-2FE6-F09DFCDE1A81}"/>
                </a:ext>
              </a:extLst>
            </p:cNvPr>
            <p:cNvSpPr/>
            <p:nvPr/>
          </p:nvSpPr>
          <p:spPr>
            <a:xfrm>
              <a:off x="243223" y="962808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1"/>
                  </a:lnTo>
                  <a:lnTo>
                    <a:pt x="0" y="97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59" name="Group 60">
              <a:extLst>
                <a:ext uri="{FF2B5EF4-FFF2-40B4-BE49-F238E27FC236}">
                  <a16:creationId xmlns:a16="http://schemas.microsoft.com/office/drawing/2014/main" id="{4FFADB22-4323-D86B-2824-AC876B659914}"/>
                </a:ext>
              </a:extLst>
            </p:cNvPr>
            <p:cNvGrpSpPr/>
            <p:nvPr/>
          </p:nvGrpSpPr>
          <p:grpSpPr>
            <a:xfrm>
              <a:off x="1561077" y="0"/>
              <a:ext cx="7336683" cy="2100159"/>
              <a:chOff x="0" y="0"/>
              <a:chExt cx="1449221" cy="414846"/>
            </a:xfrm>
          </p:grpSpPr>
          <p:sp>
            <p:nvSpPr>
              <p:cNvPr id="61" name="Freeform 61">
                <a:extLst>
                  <a:ext uri="{FF2B5EF4-FFF2-40B4-BE49-F238E27FC236}">
                    <a16:creationId xmlns:a16="http://schemas.microsoft.com/office/drawing/2014/main" id="{66AC3986-AB2F-88A2-132F-92A64B9F6AAE}"/>
                  </a:ext>
                </a:extLst>
              </p:cNvPr>
              <p:cNvSpPr/>
              <p:nvPr/>
            </p:nvSpPr>
            <p:spPr>
              <a:xfrm>
                <a:off x="0" y="0"/>
                <a:ext cx="1449221" cy="414846"/>
              </a:xfrm>
              <a:custGeom>
                <a:avLst/>
                <a:gdLst/>
                <a:ahLst/>
                <a:cxnLst/>
                <a:rect l="l" t="t" r="r" b="b"/>
                <a:pathLst>
                  <a:path w="1449221" h="414846">
                    <a:moveTo>
                      <a:pt x="22531" y="0"/>
                    </a:moveTo>
                    <a:lnTo>
                      <a:pt x="1426690" y="0"/>
                    </a:lnTo>
                    <a:cubicBezTo>
                      <a:pt x="1432666" y="0"/>
                      <a:pt x="1438397" y="2374"/>
                      <a:pt x="1442622" y="6599"/>
                    </a:cubicBezTo>
                    <a:cubicBezTo>
                      <a:pt x="1446848" y="10825"/>
                      <a:pt x="1449221" y="16556"/>
                      <a:pt x="1449221" y="22531"/>
                    </a:cubicBezTo>
                    <a:lnTo>
                      <a:pt x="1449221" y="392315"/>
                    </a:lnTo>
                    <a:cubicBezTo>
                      <a:pt x="1449221" y="404759"/>
                      <a:pt x="1439134" y="414846"/>
                      <a:pt x="1426690" y="414846"/>
                    </a:cubicBezTo>
                    <a:lnTo>
                      <a:pt x="22531" y="414846"/>
                    </a:lnTo>
                    <a:cubicBezTo>
                      <a:pt x="16556" y="414846"/>
                      <a:pt x="10825" y="412472"/>
                      <a:pt x="6599" y="408247"/>
                    </a:cubicBezTo>
                    <a:cubicBezTo>
                      <a:pt x="2374" y="404022"/>
                      <a:pt x="0" y="398291"/>
                      <a:pt x="0" y="392315"/>
                    </a:cubicBezTo>
                    <a:lnTo>
                      <a:pt x="0" y="22531"/>
                    </a:lnTo>
                    <a:cubicBezTo>
                      <a:pt x="0" y="16556"/>
                      <a:pt x="2374" y="10825"/>
                      <a:pt x="6599" y="6599"/>
                    </a:cubicBezTo>
                    <a:cubicBezTo>
                      <a:pt x="10825" y="2374"/>
                      <a:pt x="16556" y="0"/>
                      <a:pt x="22531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62" name="TextBox 62">
                <a:extLst>
                  <a:ext uri="{FF2B5EF4-FFF2-40B4-BE49-F238E27FC236}">
                    <a16:creationId xmlns:a16="http://schemas.microsoft.com/office/drawing/2014/main" id="{852B3BAB-D296-8CC2-1C8A-D6D239F26C8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9221" cy="443421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0" name="TextBox 63">
              <a:extLst>
                <a:ext uri="{FF2B5EF4-FFF2-40B4-BE49-F238E27FC236}">
                  <a16:creationId xmlns:a16="http://schemas.microsoft.com/office/drawing/2014/main" id="{1C970116-0193-7497-AE5D-2BBF5A30DC30}"/>
                </a:ext>
              </a:extLst>
            </p:cNvPr>
            <p:cNvSpPr txBox="1"/>
            <p:nvPr/>
          </p:nvSpPr>
          <p:spPr>
            <a:xfrm>
              <a:off x="2129471" y="370418"/>
              <a:ext cx="6136507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 err="1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為何使用NEXT.JS</a:t>
              </a: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做系統開發</a:t>
              </a: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,</a:t>
              </a:r>
            </a:p>
            <a:p>
              <a:pPr algn="l">
                <a:lnSpc>
                  <a:spcPts val="3920"/>
                </a:lnSpc>
              </a:pP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使用上遇過哪些困難</a:t>
              </a: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？</a:t>
              </a:r>
            </a:p>
          </p:txBody>
        </p:sp>
      </p:grpSp>
      <p:grpSp>
        <p:nvGrpSpPr>
          <p:cNvPr id="193" name="Group 64">
            <a:extLst>
              <a:ext uri="{FF2B5EF4-FFF2-40B4-BE49-F238E27FC236}">
                <a16:creationId xmlns:a16="http://schemas.microsoft.com/office/drawing/2014/main" id="{A91D19EA-59F7-F768-49D4-85C727CBDF0F}"/>
              </a:ext>
            </a:extLst>
          </p:cNvPr>
          <p:cNvGrpSpPr/>
          <p:nvPr/>
        </p:nvGrpSpPr>
        <p:grpSpPr>
          <a:xfrm>
            <a:off x="10519893" y="5312065"/>
            <a:ext cx="6350168" cy="1464326"/>
            <a:chOff x="0" y="0"/>
            <a:chExt cx="8466891" cy="1952434"/>
          </a:xfrm>
        </p:grpSpPr>
        <p:grpSp>
          <p:nvGrpSpPr>
            <p:cNvPr id="194" name="Group 65">
              <a:extLst>
                <a:ext uri="{FF2B5EF4-FFF2-40B4-BE49-F238E27FC236}">
                  <a16:creationId xmlns:a16="http://schemas.microsoft.com/office/drawing/2014/main" id="{840A6441-AFC2-10E1-B6A2-4D334AAB0E4E}"/>
                </a:ext>
              </a:extLst>
            </p:cNvPr>
            <p:cNvGrpSpPr/>
            <p:nvPr/>
          </p:nvGrpSpPr>
          <p:grpSpPr>
            <a:xfrm>
              <a:off x="7257678" y="743222"/>
              <a:ext cx="1209212" cy="1209212"/>
              <a:chOff x="0" y="0"/>
              <a:chExt cx="812800" cy="812800"/>
            </a:xfrm>
          </p:grpSpPr>
          <p:sp>
            <p:nvSpPr>
              <p:cNvPr id="200" name="Freeform 66">
                <a:extLst>
                  <a:ext uri="{FF2B5EF4-FFF2-40B4-BE49-F238E27FC236}">
                    <a16:creationId xmlns:a16="http://schemas.microsoft.com/office/drawing/2014/main" id="{2785A0AD-2165-02A2-98A4-FC2DF0554F2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01" name="TextBox 67">
                <a:extLst>
                  <a:ext uri="{FF2B5EF4-FFF2-40B4-BE49-F238E27FC236}">
                    <a16:creationId xmlns:a16="http://schemas.microsoft.com/office/drawing/2014/main" id="{F54B65A8-C7D5-A4D3-D32F-05E9CA520B37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929" tIns="14929" rIns="14929" bIns="1492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5" name="Freeform 68">
              <a:extLst>
                <a:ext uri="{FF2B5EF4-FFF2-40B4-BE49-F238E27FC236}">
                  <a16:creationId xmlns:a16="http://schemas.microsoft.com/office/drawing/2014/main" id="{9C131AEC-E09A-7C89-90E4-1CA648D02002}"/>
                </a:ext>
              </a:extLst>
            </p:cNvPr>
            <p:cNvSpPr/>
            <p:nvPr/>
          </p:nvSpPr>
          <p:spPr>
            <a:xfrm>
              <a:off x="7310692" y="909611"/>
              <a:ext cx="1103186" cy="840427"/>
            </a:xfrm>
            <a:custGeom>
              <a:avLst/>
              <a:gdLst/>
              <a:ahLst/>
              <a:cxnLst/>
              <a:rect l="l" t="t" r="r" b="b"/>
              <a:pathLst>
                <a:path w="1103186" h="840427">
                  <a:moveTo>
                    <a:pt x="0" y="0"/>
                  </a:moveTo>
                  <a:lnTo>
                    <a:pt x="1103185" y="0"/>
                  </a:lnTo>
                  <a:lnTo>
                    <a:pt x="1103185" y="840427"/>
                  </a:lnTo>
                  <a:lnTo>
                    <a:pt x="0" y="840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196" name="Group 69">
              <a:extLst>
                <a:ext uri="{FF2B5EF4-FFF2-40B4-BE49-F238E27FC236}">
                  <a16:creationId xmlns:a16="http://schemas.microsoft.com/office/drawing/2014/main" id="{9A24AFD3-0C61-3182-57FD-26A41C6F3959}"/>
                </a:ext>
              </a:extLst>
            </p:cNvPr>
            <p:cNvGrpSpPr/>
            <p:nvPr/>
          </p:nvGrpSpPr>
          <p:grpSpPr>
            <a:xfrm>
              <a:off x="0" y="0"/>
              <a:ext cx="6967508" cy="1952434"/>
              <a:chOff x="0" y="0"/>
              <a:chExt cx="1376298" cy="385666"/>
            </a:xfrm>
          </p:grpSpPr>
          <p:sp>
            <p:nvSpPr>
              <p:cNvPr id="198" name="Freeform 70">
                <a:extLst>
                  <a:ext uri="{FF2B5EF4-FFF2-40B4-BE49-F238E27FC236}">
                    <a16:creationId xmlns:a16="http://schemas.microsoft.com/office/drawing/2014/main" id="{25B6FD81-384A-394D-E136-A8B7897E689E}"/>
                  </a:ext>
                </a:extLst>
              </p:cNvPr>
              <p:cNvSpPr/>
              <p:nvPr/>
            </p:nvSpPr>
            <p:spPr>
              <a:xfrm>
                <a:off x="0" y="0"/>
                <a:ext cx="1376298" cy="385666"/>
              </a:xfrm>
              <a:custGeom>
                <a:avLst/>
                <a:gdLst/>
                <a:ahLst/>
                <a:cxnLst/>
                <a:rect l="l" t="t" r="r" b="b"/>
                <a:pathLst>
                  <a:path w="1376298" h="385666">
                    <a:moveTo>
                      <a:pt x="75558" y="0"/>
                    </a:moveTo>
                    <a:lnTo>
                      <a:pt x="1300740" y="0"/>
                    </a:lnTo>
                    <a:cubicBezTo>
                      <a:pt x="1342469" y="0"/>
                      <a:pt x="1376298" y="33828"/>
                      <a:pt x="1376298" y="75558"/>
                    </a:cubicBezTo>
                    <a:lnTo>
                      <a:pt x="1376298" y="310108"/>
                    </a:lnTo>
                    <a:cubicBezTo>
                      <a:pt x="1376298" y="351838"/>
                      <a:pt x="1342469" y="385666"/>
                      <a:pt x="1300740" y="385666"/>
                    </a:cubicBezTo>
                    <a:lnTo>
                      <a:pt x="75558" y="385666"/>
                    </a:lnTo>
                    <a:cubicBezTo>
                      <a:pt x="33828" y="385666"/>
                      <a:pt x="0" y="351838"/>
                      <a:pt x="0" y="310108"/>
                    </a:cubicBezTo>
                    <a:lnTo>
                      <a:pt x="0" y="75558"/>
                    </a:lnTo>
                    <a:cubicBezTo>
                      <a:pt x="0" y="33828"/>
                      <a:pt x="33828" y="0"/>
                      <a:pt x="75558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199" name="TextBox 71">
                <a:extLst>
                  <a:ext uri="{FF2B5EF4-FFF2-40B4-BE49-F238E27FC236}">
                    <a16:creationId xmlns:a16="http://schemas.microsoft.com/office/drawing/2014/main" id="{6039A56A-937E-25C9-0A2C-0003AFA129F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376298" cy="4142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7" name="TextBox 72">
              <a:extLst>
                <a:ext uri="{FF2B5EF4-FFF2-40B4-BE49-F238E27FC236}">
                  <a16:creationId xmlns:a16="http://schemas.microsoft.com/office/drawing/2014/main" id="{CAFE86B6-64B6-99A6-15C3-25864C17418C}"/>
                </a:ext>
              </a:extLst>
            </p:cNvPr>
            <p:cNvSpPr txBox="1"/>
            <p:nvPr/>
          </p:nvSpPr>
          <p:spPr>
            <a:xfrm>
              <a:off x="504082" y="296556"/>
              <a:ext cx="6753596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使用Figma設計,</a:t>
              </a:r>
            </a:p>
            <a:p>
              <a:pPr algn="l">
                <a:lnSpc>
                  <a:spcPts val="3920"/>
                </a:lnSpc>
              </a:pP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並用</a:t>
              </a:r>
              <a:r>
                <a:rPr lang="en-US" sz="2800" spc="123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NEXT.JS做系統開發</a:t>
              </a:r>
            </a:p>
          </p:txBody>
        </p: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E63D5D18-750E-3963-4AED-2831F1B9018E}"/>
              </a:ext>
            </a:extLst>
          </p:cNvPr>
          <p:cNvSpPr txBox="1"/>
          <p:nvPr/>
        </p:nvSpPr>
        <p:spPr>
          <a:xfrm>
            <a:off x="9794584" y="1722120"/>
            <a:ext cx="5214496" cy="79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spc="211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MetaView</a:t>
            </a:r>
            <a:endParaRPr lang="en-US" sz="4799" spc="211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203" name="Group 7">
            <a:extLst>
              <a:ext uri="{FF2B5EF4-FFF2-40B4-BE49-F238E27FC236}">
                <a16:creationId xmlns:a16="http://schemas.microsoft.com/office/drawing/2014/main" id="{D4888750-C00C-853E-C278-F89577AFFC8C}"/>
              </a:ext>
            </a:extLst>
          </p:cNvPr>
          <p:cNvGrpSpPr/>
          <p:nvPr/>
        </p:nvGrpSpPr>
        <p:grpSpPr>
          <a:xfrm>
            <a:off x="9931245" y="-7396432"/>
            <a:ext cx="6780996" cy="3314013"/>
            <a:chOff x="0" y="0"/>
            <a:chExt cx="9041328" cy="4418684"/>
          </a:xfrm>
        </p:grpSpPr>
        <p:grpSp>
          <p:nvGrpSpPr>
            <p:cNvPr id="204" name="Group 8">
              <a:extLst>
                <a:ext uri="{FF2B5EF4-FFF2-40B4-BE49-F238E27FC236}">
                  <a16:creationId xmlns:a16="http://schemas.microsoft.com/office/drawing/2014/main" id="{7B14CE74-058E-497C-7641-2FF283C6527E}"/>
                </a:ext>
              </a:extLst>
            </p:cNvPr>
            <p:cNvGrpSpPr/>
            <p:nvPr/>
          </p:nvGrpSpPr>
          <p:grpSpPr>
            <a:xfrm>
              <a:off x="0" y="0"/>
              <a:ext cx="7349516" cy="4418684"/>
              <a:chOff x="0" y="0"/>
              <a:chExt cx="1451756" cy="872827"/>
            </a:xfrm>
          </p:grpSpPr>
          <p:sp>
            <p:nvSpPr>
              <p:cNvPr id="229" name="Freeform 9">
                <a:extLst>
                  <a:ext uri="{FF2B5EF4-FFF2-40B4-BE49-F238E27FC236}">
                    <a16:creationId xmlns:a16="http://schemas.microsoft.com/office/drawing/2014/main" id="{5A9EC199-B5FE-63C5-9B90-46348EF00BDF}"/>
                  </a:ext>
                </a:extLst>
              </p:cNvPr>
              <p:cNvSpPr/>
              <p:nvPr/>
            </p:nvSpPr>
            <p:spPr>
              <a:xfrm>
                <a:off x="0" y="0"/>
                <a:ext cx="1451756" cy="872827"/>
              </a:xfrm>
              <a:custGeom>
                <a:avLst/>
                <a:gdLst/>
                <a:ahLst/>
                <a:cxnLst/>
                <a:rect l="l" t="t" r="r" b="b"/>
                <a:pathLst>
                  <a:path w="1451756" h="872827">
                    <a:moveTo>
                      <a:pt x="21050" y="0"/>
                    </a:moveTo>
                    <a:lnTo>
                      <a:pt x="1430706" y="0"/>
                    </a:lnTo>
                    <a:cubicBezTo>
                      <a:pt x="1436289" y="0"/>
                      <a:pt x="1441643" y="2218"/>
                      <a:pt x="1445591" y="6165"/>
                    </a:cubicBezTo>
                    <a:cubicBezTo>
                      <a:pt x="1449538" y="10113"/>
                      <a:pt x="1451756" y="15467"/>
                      <a:pt x="1451756" y="21050"/>
                    </a:cubicBezTo>
                    <a:lnTo>
                      <a:pt x="1451756" y="851776"/>
                    </a:lnTo>
                    <a:cubicBezTo>
                      <a:pt x="1451756" y="857359"/>
                      <a:pt x="1449538" y="862714"/>
                      <a:pt x="1445591" y="866661"/>
                    </a:cubicBezTo>
                    <a:cubicBezTo>
                      <a:pt x="1441643" y="870609"/>
                      <a:pt x="1436289" y="872827"/>
                      <a:pt x="1430706" y="872827"/>
                    </a:cubicBezTo>
                    <a:lnTo>
                      <a:pt x="21050" y="872827"/>
                    </a:lnTo>
                    <a:cubicBezTo>
                      <a:pt x="15467" y="872827"/>
                      <a:pt x="10113" y="870609"/>
                      <a:pt x="6165" y="866661"/>
                    </a:cubicBezTo>
                    <a:cubicBezTo>
                      <a:pt x="2218" y="862714"/>
                      <a:pt x="0" y="857359"/>
                      <a:pt x="0" y="851776"/>
                    </a:cubicBezTo>
                    <a:lnTo>
                      <a:pt x="0" y="21050"/>
                    </a:lnTo>
                    <a:cubicBezTo>
                      <a:pt x="0" y="15467"/>
                      <a:pt x="2218" y="10113"/>
                      <a:pt x="6165" y="6165"/>
                    </a:cubicBezTo>
                    <a:cubicBezTo>
                      <a:pt x="10113" y="2218"/>
                      <a:pt x="15467" y="0"/>
                      <a:pt x="21050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30" name="TextBox 10">
                <a:extLst>
                  <a:ext uri="{FF2B5EF4-FFF2-40B4-BE49-F238E27FC236}">
                    <a16:creationId xmlns:a16="http://schemas.microsoft.com/office/drawing/2014/main" id="{8670475F-8609-C476-09F8-7ABDBF58763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51756" cy="901402"/>
              </a:xfrm>
              <a:prstGeom prst="rect">
                <a:avLst/>
              </a:prstGeom>
            </p:spPr>
            <p:txBody>
              <a:bodyPr lIns="172866" tIns="172866" rIns="172866" bIns="17286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5" name="Group 11">
              <a:extLst>
                <a:ext uri="{FF2B5EF4-FFF2-40B4-BE49-F238E27FC236}">
                  <a16:creationId xmlns:a16="http://schemas.microsoft.com/office/drawing/2014/main" id="{4048E8CB-0993-C058-FED7-E44591955E8B}"/>
                </a:ext>
              </a:extLst>
            </p:cNvPr>
            <p:cNvGrpSpPr/>
            <p:nvPr/>
          </p:nvGrpSpPr>
          <p:grpSpPr>
            <a:xfrm>
              <a:off x="7832116" y="3071683"/>
              <a:ext cx="1209212" cy="1209212"/>
              <a:chOff x="0" y="0"/>
              <a:chExt cx="812800" cy="812800"/>
            </a:xfrm>
          </p:grpSpPr>
          <p:sp>
            <p:nvSpPr>
              <p:cNvPr id="227" name="Freeform 12">
                <a:extLst>
                  <a:ext uri="{FF2B5EF4-FFF2-40B4-BE49-F238E27FC236}">
                    <a16:creationId xmlns:a16="http://schemas.microsoft.com/office/drawing/2014/main" id="{F3C49337-48E3-3A15-4ED8-B4C32469D8E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28" name="TextBox 13">
                <a:extLst>
                  <a:ext uri="{FF2B5EF4-FFF2-40B4-BE49-F238E27FC236}">
                    <a16:creationId xmlns:a16="http://schemas.microsoft.com/office/drawing/2014/main" id="{1661AB37-ACEF-B67D-1D83-C6C2701B9718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DB13DB56-E068-3A52-A4C2-488CA8C5E35C}"/>
                </a:ext>
              </a:extLst>
            </p:cNvPr>
            <p:cNvSpPr/>
            <p:nvPr/>
          </p:nvSpPr>
          <p:spPr>
            <a:xfrm>
              <a:off x="7885129" y="3238072"/>
              <a:ext cx="1103186" cy="840427"/>
            </a:xfrm>
            <a:custGeom>
              <a:avLst/>
              <a:gdLst/>
              <a:ahLst/>
              <a:cxnLst/>
              <a:rect l="l" t="t" r="r" b="b"/>
              <a:pathLst>
                <a:path w="1103186" h="840427">
                  <a:moveTo>
                    <a:pt x="0" y="0"/>
                  </a:moveTo>
                  <a:lnTo>
                    <a:pt x="1103186" y="0"/>
                  </a:lnTo>
                  <a:lnTo>
                    <a:pt x="1103186" y="840427"/>
                  </a:lnTo>
                  <a:lnTo>
                    <a:pt x="0" y="840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207" name="TextBox 15">
              <a:extLst>
                <a:ext uri="{FF2B5EF4-FFF2-40B4-BE49-F238E27FC236}">
                  <a16:creationId xmlns:a16="http://schemas.microsoft.com/office/drawing/2014/main" id="{E3B8FC57-539F-FEDF-7B3C-630335FD62AC}"/>
                </a:ext>
              </a:extLst>
            </p:cNvPr>
            <p:cNvSpPr txBox="1"/>
            <p:nvPr/>
          </p:nvSpPr>
          <p:spPr>
            <a:xfrm>
              <a:off x="3905533" y="3418422"/>
              <a:ext cx="3926582" cy="685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132">
                  <a:solidFill>
                    <a:srgbClr val="010111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resume.pdf</a:t>
              </a:r>
            </a:p>
          </p:txBody>
        </p:sp>
        <p:grpSp>
          <p:nvGrpSpPr>
            <p:cNvPr id="208" name="Group 16">
              <a:extLst>
                <a:ext uri="{FF2B5EF4-FFF2-40B4-BE49-F238E27FC236}">
                  <a16:creationId xmlns:a16="http://schemas.microsoft.com/office/drawing/2014/main" id="{A34A3E59-439E-0B22-F7E7-9C4F694F7F00}"/>
                </a:ext>
              </a:extLst>
            </p:cNvPr>
            <p:cNvGrpSpPr/>
            <p:nvPr/>
          </p:nvGrpSpPr>
          <p:grpSpPr>
            <a:xfrm>
              <a:off x="767751" y="314463"/>
              <a:ext cx="2871083" cy="3789758"/>
              <a:chOff x="0" y="0"/>
              <a:chExt cx="508497" cy="671204"/>
            </a:xfrm>
          </p:grpSpPr>
          <p:sp>
            <p:nvSpPr>
              <p:cNvPr id="225" name="Freeform 17">
                <a:extLst>
                  <a:ext uri="{FF2B5EF4-FFF2-40B4-BE49-F238E27FC236}">
                    <a16:creationId xmlns:a16="http://schemas.microsoft.com/office/drawing/2014/main" id="{A6AEDB44-33D8-D4FB-63A6-FE0995FAF58D}"/>
                  </a:ext>
                </a:extLst>
              </p:cNvPr>
              <p:cNvSpPr/>
              <p:nvPr/>
            </p:nvSpPr>
            <p:spPr>
              <a:xfrm>
                <a:off x="0" y="0"/>
                <a:ext cx="508497" cy="671204"/>
              </a:xfrm>
              <a:custGeom>
                <a:avLst/>
                <a:gdLst/>
                <a:ahLst/>
                <a:cxnLst/>
                <a:rect l="l" t="t" r="r" b="b"/>
                <a:pathLst>
                  <a:path w="508497" h="671204">
                    <a:moveTo>
                      <a:pt x="5283" y="0"/>
                    </a:moveTo>
                    <a:lnTo>
                      <a:pt x="503214" y="0"/>
                    </a:lnTo>
                    <a:cubicBezTo>
                      <a:pt x="504615" y="0"/>
                      <a:pt x="505959" y="557"/>
                      <a:pt x="506950" y="1547"/>
                    </a:cubicBezTo>
                    <a:cubicBezTo>
                      <a:pt x="507941" y="2538"/>
                      <a:pt x="508497" y="3882"/>
                      <a:pt x="508497" y="5283"/>
                    </a:cubicBezTo>
                    <a:lnTo>
                      <a:pt x="508497" y="665921"/>
                    </a:lnTo>
                    <a:cubicBezTo>
                      <a:pt x="508497" y="667322"/>
                      <a:pt x="507941" y="668666"/>
                      <a:pt x="506950" y="669656"/>
                    </a:cubicBezTo>
                    <a:cubicBezTo>
                      <a:pt x="505959" y="670647"/>
                      <a:pt x="504615" y="671204"/>
                      <a:pt x="503214" y="671204"/>
                    </a:cubicBezTo>
                    <a:lnTo>
                      <a:pt x="5283" y="671204"/>
                    </a:lnTo>
                    <a:cubicBezTo>
                      <a:pt x="3882" y="671204"/>
                      <a:pt x="2538" y="670647"/>
                      <a:pt x="1547" y="669656"/>
                    </a:cubicBezTo>
                    <a:cubicBezTo>
                      <a:pt x="557" y="668666"/>
                      <a:pt x="0" y="667322"/>
                      <a:pt x="0" y="665921"/>
                    </a:cubicBezTo>
                    <a:lnTo>
                      <a:pt x="0" y="5283"/>
                    </a:lnTo>
                    <a:cubicBezTo>
                      <a:pt x="0" y="3882"/>
                      <a:pt x="557" y="2538"/>
                      <a:pt x="1547" y="1547"/>
                    </a:cubicBezTo>
                    <a:cubicBezTo>
                      <a:pt x="2538" y="557"/>
                      <a:pt x="3882" y="0"/>
                      <a:pt x="528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26" name="TextBox 18">
                <a:extLst>
                  <a:ext uri="{FF2B5EF4-FFF2-40B4-BE49-F238E27FC236}">
                    <a16:creationId xmlns:a16="http://schemas.microsoft.com/office/drawing/2014/main" id="{62E6F861-4539-BD3D-44E1-92308BC4DA5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08497" cy="699779"/>
              </a:xfrm>
              <a:prstGeom prst="rect">
                <a:avLst/>
              </a:prstGeom>
            </p:spPr>
            <p:txBody>
              <a:bodyPr lIns="195465" tIns="195465" rIns="195465" bIns="19546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9" name="Group 19">
              <a:extLst>
                <a:ext uri="{FF2B5EF4-FFF2-40B4-BE49-F238E27FC236}">
                  <a16:creationId xmlns:a16="http://schemas.microsoft.com/office/drawing/2014/main" id="{D4699779-BD4B-3A9D-A713-48605A872BD6}"/>
                </a:ext>
              </a:extLst>
            </p:cNvPr>
            <p:cNvGrpSpPr/>
            <p:nvPr/>
          </p:nvGrpSpPr>
          <p:grpSpPr>
            <a:xfrm>
              <a:off x="1005603" y="1455575"/>
              <a:ext cx="703851" cy="880508"/>
              <a:chOff x="0" y="0"/>
              <a:chExt cx="124659" cy="155947"/>
            </a:xfrm>
          </p:grpSpPr>
          <p:sp>
            <p:nvSpPr>
              <p:cNvPr id="223" name="Freeform 20">
                <a:extLst>
                  <a:ext uri="{FF2B5EF4-FFF2-40B4-BE49-F238E27FC236}">
                    <a16:creationId xmlns:a16="http://schemas.microsoft.com/office/drawing/2014/main" id="{0174A98B-8DC7-8125-9B18-7129FB541ECA}"/>
                  </a:ext>
                </a:extLst>
              </p:cNvPr>
              <p:cNvSpPr/>
              <p:nvPr/>
            </p:nvSpPr>
            <p:spPr>
              <a:xfrm>
                <a:off x="0" y="0"/>
                <a:ext cx="124659" cy="155947"/>
              </a:xfrm>
              <a:custGeom>
                <a:avLst/>
                <a:gdLst/>
                <a:ahLst/>
                <a:cxnLst/>
                <a:rect l="l" t="t" r="r" b="b"/>
                <a:pathLst>
                  <a:path w="124659" h="155947">
                    <a:moveTo>
                      <a:pt x="21549" y="0"/>
                    </a:moveTo>
                    <a:lnTo>
                      <a:pt x="103110" y="0"/>
                    </a:lnTo>
                    <a:cubicBezTo>
                      <a:pt x="108825" y="0"/>
                      <a:pt x="114306" y="2270"/>
                      <a:pt x="118347" y="6312"/>
                    </a:cubicBezTo>
                    <a:cubicBezTo>
                      <a:pt x="122389" y="10353"/>
                      <a:pt x="124659" y="15834"/>
                      <a:pt x="124659" y="21549"/>
                    </a:cubicBezTo>
                    <a:lnTo>
                      <a:pt x="124659" y="134398"/>
                    </a:lnTo>
                    <a:cubicBezTo>
                      <a:pt x="124659" y="146299"/>
                      <a:pt x="115011" y="155947"/>
                      <a:pt x="103110" y="155947"/>
                    </a:cubicBezTo>
                    <a:lnTo>
                      <a:pt x="21549" y="155947"/>
                    </a:lnTo>
                    <a:cubicBezTo>
                      <a:pt x="9648" y="155947"/>
                      <a:pt x="0" y="146299"/>
                      <a:pt x="0" y="134398"/>
                    </a:cubicBezTo>
                    <a:lnTo>
                      <a:pt x="0" y="21549"/>
                    </a:lnTo>
                    <a:cubicBezTo>
                      <a:pt x="0" y="9648"/>
                      <a:pt x="9648" y="0"/>
                      <a:pt x="2154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24" name="TextBox 21">
                <a:extLst>
                  <a:ext uri="{FF2B5EF4-FFF2-40B4-BE49-F238E27FC236}">
                    <a16:creationId xmlns:a16="http://schemas.microsoft.com/office/drawing/2014/main" id="{A27E8EE8-9BF8-20D4-88F6-AC7064003AF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4659" cy="184522"/>
              </a:xfrm>
              <a:prstGeom prst="rect">
                <a:avLst/>
              </a:prstGeom>
            </p:spPr>
            <p:txBody>
              <a:bodyPr lIns="195465" tIns="195465" rIns="195465" bIns="19546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0" name="Freeform 22">
              <a:extLst>
                <a:ext uri="{FF2B5EF4-FFF2-40B4-BE49-F238E27FC236}">
                  <a16:creationId xmlns:a16="http://schemas.microsoft.com/office/drawing/2014/main" id="{4F3FA0F6-BAD3-4329-BE36-F97D3012752C}"/>
                </a:ext>
              </a:extLst>
            </p:cNvPr>
            <p:cNvSpPr/>
            <p:nvPr/>
          </p:nvSpPr>
          <p:spPr>
            <a:xfrm>
              <a:off x="1067240" y="1608419"/>
              <a:ext cx="580577" cy="631479"/>
            </a:xfrm>
            <a:custGeom>
              <a:avLst/>
              <a:gdLst/>
              <a:ahLst/>
              <a:cxnLst/>
              <a:rect l="l" t="t" r="r" b="b"/>
              <a:pathLst>
                <a:path w="580577" h="631479">
                  <a:moveTo>
                    <a:pt x="0" y="0"/>
                  </a:moveTo>
                  <a:lnTo>
                    <a:pt x="580577" y="0"/>
                  </a:lnTo>
                  <a:lnTo>
                    <a:pt x="580577" y="631479"/>
                  </a:lnTo>
                  <a:lnTo>
                    <a:pt x="0" y="631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211" name="TextBox 23">
              <a:extLst>
                <a:ext uri="{FF2B5EF4-FFF2-40B4-BE49-F238E27FC236}">
                  <a16:creationId xmlns:a16="http://schemas.microsoft.com/office/drawing/2014/main" id="{A2F1A700-2E1B-F06F-5C04-FBA713D9EFDD}"/>
                </a:ext>
              </a:extLst>
            </p:cNvPr>
            <p:cNvSpPr txBox="1"/>
            <p:nvPr/>
          </p:nvSpPr>
          <p:spPr>
            <a:xfrm>
              <a:off x="801804" y="448147"/>
              <a:ext cx="2802977" cy="889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21"/>
                </a:lnSpc>
              </a:pPr>
              <a:r>
                <a:rPr lang="en-US" sz="4015" spc="176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Resume</a:t>
              </a:r>
            </a:p>
          </p:txBody>
        </p:sp>
        <p:sp>
          <p:nvSpPr>
            <p:cNvPr id="212" name="AutoShape 24">
              <a:extLst>
                <a:ext uri="{FF2B5EF4-FFF2-40B4-BE49-F238E27FC236}">
                  <a16:creationId xmlns:a16="http://schemas.microsoft.com/office/drawing/2014/main" id="{89602F3F-510D-A870-4D66-EFC21AF1F943}"/>
                </a:ext>
              </a:extLst>
            </p:cNvPr>
            <p:cNvSpPr/>
            <p:nvPr/>
          </p:nvSpPr>
          <p:spPr>
            <a:xfrm flipV="1">
              <a:off x="2064535" y="1526397"/>
              <a:ext cx="1152562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3" name="AutoShape 25">
              <a:extLst>
                <a:ext uri="{FF2B5EF4-FFF2-40B4-BE49-F238E27FC236}">
                  <a16:creationId xmlns:a16="http://schemas.microsoft.com/office/drawing/2014/main" id="{81BB7F53-DDB3-2548-9239-462CB8003972}"/>
                </a:ext>
              </a:extLst>
            </p:cNvPr>
            <p:cNvSpPr/>
            <p:nvPr/>
          </p:nvSpPr>
          <p:spPr>
            <a:xfrm>
              <a:off x="2064535" y="1859985"/>
              <a:ext cx="780225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4" name="AutoShape 26">
              <a:extLst>
                <a:ext uri="{FF2B5EF4-FFF2-40B4-BE49-F238E27FC236}">
                  <a16:creationId xmlns:a16="http://schemas.microsoft.com/office/drawing/2014/main" id="{694DD79A-F68D-8BA6-EF16-1F5B88109192}"/>
                </a:ext>
              </a:extLst>
            </p:cNvPr>
            <p:cNvSpPr/>
            <p:nvPr/>
          </p:nvSpPr>
          <p:spPr>
            <a:xfrm flipV="1">
              <a:off x="2057248" y="2050049"/>
              <a:ext cx="780225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5" name="AutoShape 27">
              <a:extLst>
                <a:ext uri="{FF2B5EF4-FFF2-40B4-BE49-F238E27FC236}">
                  <a16:creationId xmlns:a16="http://schemas.microsoft.com/office/drawing/2014/main" id="{D0EC4371-E1B7-B92A-F944-692131EB7724}"/>
                </a:ext>
              </a:extLst>
            </p:cNvPr>
            <p:cNvSpPr/>
            <p:nvPr/>
          </p:nvSpPr>
          <p:spPr>
            <a:xfrm flipV="1">
              <a:off x="2057248" y="2261556"/>
              <a:ext cx="780225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6" name="TextBox 28">
              <a:extLst>
                <a:ext uri="{FF2B5EF4-FFF2-40B4-BE49-F238E27FC236}">
                  <a16:creationId xmlns:a16="http://schemas.microsoft.com/office/drawing/2014/main" id="{B8A2FFCA-813C-DF88-24CD-F674D386836F}"/>
                </a:ext>
              </a:extLst>
            </p:cNvPr>
            <p:cNvSpPr txBox="1"/>
            <p:nvPr/>
          </p:nvSpPr>
          <p:spPr>
            <a:xfrm>
              <a:off x="1009615" y="2416413"/>
              <a:ext cx="2629218" cy="56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5"/>
                </a:lnSpc>
              </a:pPr>
              <a:r>
                <a:rPr lang="en-US" sz="2453" spc="107">
                  <a:solidFill>
                    <a:srgbClr val="B52222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IBM intern</a:t>
              </a:r>
            </a:p>
          </p:txBody>
        </p:sp>
        <p:sp>
          <p:nvSpPr>
            <p:cNvPr id="217" name="AutoShape 29">
              <a:extLst>
                <a:ext uri="{FF2B5EF4-FFF2-40B4-BE49-F238E27FC236}">
                  <a16:creationId xmlns:a16="http://schemas.microsoft.com/office/drawing/2014/main" id="{1734A550-A340-3CF6-2296-F37748EA0153}"/>
                </a:ext>
              </a:extLst>
            </p:cNvPr>
            <p:cNvSpPr/>
            <p:nvPr/>
          </p:nvSpPr>
          <p:spPr>
            <a:xfrm>
              <a:off x="1009897" y="3107259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8" name="AutoShape 30">
              <a:extLst>
                <a:ext uri="{FF2B5EF4-FFF2-40B4-BE49-F238E27FC236}">
                  <a16:creationId xmlns:a16="http://schemas.microsoft.com/office/drawing/2014/main" id="{5B877347-6873-5AB9-23DE-3860F08E2C2D}"/>
                </a:ext>
              </a:extLst>
            </p:cNvPr>
            <p:cNvSpPr/>
            <p:nvPr/>
          </p:nvSpPr>
          <p:spPr>
            <a:xfrm>
              <a:off x="1009521" y="3347793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9" name="AutoShape 31">
              <a:extLst>
                <a:ext uri="{FF2B5EF4-FFF2-40B4-BE49-F238E27FC236}">
                  <a16:creationId xmlns:a16="http://schemas.microsoft.com/office/drawing/2014/main" id="{A1DE6CD1-1F92-611E-63AF-BF1A80E9245B}"/>
                </a:ext>
              </a:extLst>
            </p:cNvPr>
            <p:cNvSpPr/>
            <p:nvPr/>
          </p:nvSpPr>
          <p:spPr>
            <a:xfrm flipV="1">
              <a:off x="1009897" y="3588326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20" name="AutoShape 32">
              <a:extLst>
                <a:ext uri="{FF2B5EF4-FFF2-40B4-BE49-F238E27FC236}">
                  <a16:creationId xmlns:a16="http://schemas.microsoft.com/office/drawing/2014/main" id="{393E30F4-B48E-990B-BBED-8C1C903867B9}"/>
                </a:ext>
              </a:extLst>
            </p:cNvPr>
            <p:cNvSpPr/>
            <p:nvPr/>
          </p:nvSpPr>
          <p:spPr>
            <a:xfrm flipV="1">
              <a:off x="1009897" y="3865617"/>
              <a:ext cx="2139804" cy="0"/>
            </a:xfrm>
            <a:prstGeom prst="line">
              <a:avLst/>
            </a:prstGeom>
            <a:ln w="63446" cap="flat">
              <a:solidFill>
                <a:srgbClr val="01011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W"/>
            </a:p>
          </p:txBody>
        </p:sp>
      </p:grpSp>
    </p:spTree>
    <p:extLst>
      <p:ext uri="{BB962C8B-B14F-4D97-AF65-F5344CB8AC3E}">
        <p14:creationId xmlns:p14="http://schemas.microsoft.com/office/powerpoint/2010/main" val="102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9169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Freeform 10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3703320" y="9149620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703320" y="9133109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7874506" y="792477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7874506" y="790825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7874506" y="9133109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7874506" y="9116598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3733800" y="7902542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733800" y="7886031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2045692" y="793692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2045692" y="792041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1196104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066800" y="-8343900"/>
            <a:ext cx="34640830" cy="25527000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2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8" name="TextBox 15">
            <a:extLst>
              <a:ext uri="{FF2B5EF4-FFF2-40B4-BE49-F238E27FC236}">
                <a16:creationId xmlns:a16="http://schemas.microsoft.com/office/drawing/2014/main" id="{B9465825-EAB8-F64E-2D6E-E08722BED26B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面試官真實度低</a:t>
            </a: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59E0C3A7-6C8C-A567-F4F1-29B5652092A4}"/>
              </a:ext>
            </a:extLst>
          </p:cNvPr>
          <p:cNvSpPr txBox="1"/>
          <p:nvPr/>
        </p:nvSpPr>
        <p:spPr>
          <a:xfrm>
            <a:off x="1028700" y="1249140"/>
            <a:ext cx="15368819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66" name="TextBox 14">
            <a:extLst>
              <a:ext uri="{FF2B5EF4-FFF2-40B4-BE49-F238E27FC236}">
                <a16:creationId xmlns:a16="http://schemas.microsoft.com/office/drawing/2014/main" id="{3C81F723-A35E-0667-ED76-C3CABC848A4B}"/>
              </a:ext>
            </a:extLst>
          </p:cNvPr>
          <p:cNvSpPr txBox="1"/>
          <p:nvPr/>
        </p:nvSpPr>
        <p:spPr>
          <a:xfrm>
            <a:off x="3215753" y="1420977"/>
            <a:ext cx="5687615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dirty="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5600" dirty="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428133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447800" y="-7277100"/>
            <a:ext cx="30678430" cy="22936200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8" name="TextBox 15">
            <a:extLst>
              <a:ext uri="{FF2B5EF4-FFF2-40B4-BE49-F238E27FC236}">
                <a16:creationId xmlns:a16="http://schemas.microsoft.com/office/drawing/2014/main" id="{B9465825-EAB8-F64E-2D6E-E08722BED26B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面試官真實度低</a:t>
            </a: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59E0C3A7-6C8C-A567-F4F1-29B5652092A4}"/>
              </a:ext>
            </a:extLst>
          </p:cNvPr>
          <p:cNvSpPr txBox="1"/>
          <p:nvPr/>
        </p:nvSpPr>
        <p:spPr>
          <a:xfrm>
            <a:off x="1028700" y="1249140"/>
            <a:ext cx="15368819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201BC5C1-95B4-C27B-E566-A2E8B184B0DA}"/>
              </a:ext>
            </a:extLst>
          </p:cNvPr>
          <p:cNvSpPr txBox="1"/>
          <p:nvPr/>
        </p:nvSpPr>
        <p:spPr>
          <a:xfrm>
            <a:off x="9644940" y="2731682"/>
            <a:ext cx="5214496" cy="62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spc="167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其他系統</a:t>
            </a:r>
            <a:endParaRPr lang="en-US" sz="3799" spc="167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87A156DD-AB50-96F6-F71E-14140F681A80}"/>
              </a:ext>
            </a:extLst>
          </p:cNvPr>
          <p:cNvSpPr txBox="1"/>
          <p:nvPr/>
        </p:nvSpPr>
        <p:spPr>
          <a:xfrm>
            <a:off x="9570193" y="3451308"/>
            <a:ext cx="5550054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58" err="1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機器人貼圖面試官</a:t>
            </a:r>
            <a:endParaRPr lang="en-US" sz="3600" spc="158">
              <a:solidFill>
                <a:srgbClr val="B52222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7" name="!!phoneRobot">
            <a:extLst>
              <a:ext uri="{FF2B5EF4-FFF2-40B4-BE49-F238E27FC236}">
                <a16:creationId xmlns:a16="http://schemas.microsoft.com/office/drawing/2014/main" id="{B12F289A-645A-74DD-9A85-F68CFED8317F}"/>
              </a:ext>
            </a:extLst>
          </p:cNvPr>
          <p:cNvSpPr/>
          <p:nvPr/>
        </p:nvSpPr>
        <p:spPr>
          <a:xfrm>
            <a:off x="10363200" y="4326679"/>
            <a:ext cx="4363500" cy="8752391"/>
          </a:xfrm>
          <a:custGeom>
            <a:avLst/>
            <a:gdLst/>
            <a:ahLst/>
            <a:cxnLst/>
            <a:rect l="l" t="t" r="r" b="b"/>
            <a:pathLst>
              <a:path w="5818000" h="11669855">
                <a:moveTo>
                  <a:pt x="0" y="0"/>
                </a:moveTo>
                <a:lnTo>
                  <a:pt x="5818000" y="0"/>
                </a:lnTo>
                <a:lnTo>
                  <a:pt x="5818000" y="11669855"/>
                </a:lnTo>
                <a:lnTo>
                  <a:pt x="0" y="11669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835477CC-0C25-C6B9-C2CB-39A1799800B6}"/>
              </a:ext>
            </a:extLst>
          </p:cNvPr>
          <p:cNvSpPr txBox="1"/>
          <p:nvPr/>
        </p:nvSpPr>
        <p:spPr>
          <a:xfrm>
            <a:off x="32587941" y="2340442"/>
            <a:ext cx="5214496" cy="79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spc="211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MetaView</a:t>
            </a:r>
            <a:endParaRPr lang="en-US" sz="4799" spc="211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00B7D119-A484-96B2-B543-D3544B4B5F25}"/>
              </a:ext>
            </a:extLst>
          </p:cNvPr>
          <p:cNvSpPr txBox="1"/>
          <p:nvPr/>
        </p:nvSpPr>
        <p:spPr>
          <a:xfrm>
            <a:off x="32420163" y="3094822"/>
            <a:ext cx="5550054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58">
                <a:solidFill>
                  <a:srgbClr val="C83735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加入數位孿生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63EAEB-1AF9-D24D-A480-AF7A7325F5DC}"/>
              </a:ext>
            </a:extLst>
          </p:cNvPr>
          <p:cNvSpPr txBox="1"/>
          <p:nvPr/>
        </p:nvSpPr>
        <p:spPr>
          <a:xfrm>
            <a:off x="3215753" y="1420977"/>
            <a:ext cx="5687615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dirty="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5600" dirty="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1008171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447800" y="-7277100"/>
            <a:ext cx="30678430" cy="22936200"/>
            <a:chOff x="-152400" y="-3058464"/>
            <a:chExt cx="19035232" cy="137331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733117"/>
              <a:chOff x="-210085" y="-28575"/>
              <a:chExt cx="5028556" cy="37680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8" name="TextBox 15">
            <a:extLst>
              <a:ext uri="{FF2B5EF4-FFF2-40B4-BE49-F238E27FC236}">
                <a16:creationId xmlns:a16="http://schemas.microsoft.com/office/drawing/2014/main" id="{B9465825-EAB8-F64E-2D6E-E08722BED26B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面試官真實度低</a:t>
            </a: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59E0C3A7-6C8C-A567-F4F1-29B5652092A4}"/>
              </a:ext>
            </a:extLst>
          </p:cNvPr>
          <p:cNvSpPr txBox="1"/>
          <p:nvPr/>
        </p:nvSpPr>
        <p:spPr>
          <a:xfrm>
            <a:off x="1028700" y="1249140"/>
            <a:ext cx="15368819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201BC5C1-95B4-C27B-E566-A2E8B184B0DA}"/>
              </a:ext>
            </a:extLst>
          </p:cNvPr>
          <p:cNvSpPr txBox="1"/>
          <p:nvPr/>
        </p:nvSpPr>
        <p:spPr>
          <a:xfrm>
            <a:off x="-12529260" y="2731682"/>
            <a:ext cx="5214496" cy="62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spc="167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其他系統</a:t>
            </a:r>
            <a:endParaRPr lang="en-US" sz="3799" spc="167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87A156DD-AB50-96F6-F71E-14140F681A80}"/>
              </a:ext>
            </a:extLst>
          </p:cNvPr>
          <p:cNvSpPr txBox="1"/>
          <p:nvPr/>
        </p:nvSpPr>
        <p:spPr>
          <a:xfrm>
            <a:off x="-12604007" y="3451308"/>
            <a:ext cx="5550054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58" err="1">
                <a:solidFill>
                  <a:srgbClr val="B52222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機器人貼圖面試官</a:t>
            </a:r>
            <a:endParaRPr lang="en-US" sz="3600" spc="158">
              <a:solidFill>
                <a:srgbClr val="B52222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7" name="!!phoneRobot">
            <a:extLst>
              <a:ext uri="{FF2B5EF4-FFF2-40B4-BE49-F238E27FC236}">
                <a16:creationId xmlns:a16="http://schemas.microsoft.com/office/drawing/2014/main" id="{B12F289A-645A-74DD-9A85-F68CFED8317F}"/>
              </a:ext>
            </a:extLst>
          </p:cNvPr>
          <p:cNvSpPr/>
          <p:nvPr/>
        </p:nvSpPr>
        <p:spPr>
          <a:xfrm>
            <a:off x="-11811000" y="4326679"/>
            <a:ext cx="4363500" cy="8752391"/>
          </a:xfrm>
          <a:custGeom>
            <a:avLst/>
            <a:gdLst/>
            <a:ahLst/>
            <a:cxnLst/>
            <a:rect l="l" t="t" r="r" b="b"/>
            <a:pathLst>
              <a:path w="5818000" h="11669855">
                <a:moveTo>
                  <a:pt x="0" y="0"/>
                </a:moveTo>
                <a:lnTo>
                  <a:pt x="5818000" y="0"/>
                </a:lnTo>
                <a:lnTo>
                  <a:pt x="5818000" y="11669855"/>
                </a:lnTo>
                <a:lnTo>
                  <a:pt x="0" y="11669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C96DCF1-65BC-9AF0-0FB0-EB61980AB2F7}"/>
              </a:ext>
            </a:extLst>
          </p:cNvPr>
          <p:cNvGrpSpPr>
            <a:grpSpLocks noChangeAspect="1"/>
          </p:cNvGrpSpPr>
          <p:nvPr/>
        </p:nvGrpSpPr>
        <p:grpSpPr>
          <a:xfrm>
            <a:off x="8404319" y="4092290"/>
            <a:ext cx="8941644" cy="5128819"/>
            <a:chOff x="0" y="0"/>
            <a:chExt cx="7981950" cy="45783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DC1FBEE-E53B-C9B7-D191-601F83758FDC}"/>
                </a:ext>
              </a:extLst>
            </p:cNvPr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7686CF4-6095-972F-4456-E3A34BB6C7D1}"/>
                </a:ext>
              </a:extLst>
            </p:cNvPr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612548-F90C-6DA2-B966-129128D5F19D}"/>
                </a:ext>
              </a:extLst>
            </p:cNvPr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8F74F7F-CD5C-0A36-BA4E-F3568A388A93}"/>
                </a:ext>
              </a:extLst>
            </p:cNvPr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DF79D73-4C49-84D6-9DDF-42AF20A5601D}"/>
                </a:ext>
              </a:extLst>
            </p:cNvPr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8"/>
              <a:stretch>
                <a:fillRect l="-5932" r="-5932"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sp>
        <p:nvSpPr>
          <p:cNvPr id="15" name="TextBox 19">
            <a:extLst>
              <a:ext uri="{FF2B5EF4-FFF2-40B4-BE49-F238E27FC236}">
                <a16:creationId xmlns:a16="http://schemas.microsoft.com/office/drawing/2014/main" id="{9ABA7878-CFA0-6EAA-FE7F-C06F366EA802}"/>
              </a:ext>
            </a:extLst>
          </p:cNvPr>
          <p:cNvSpPr txBox="1"/>
          <p:nvPr/>
        </p:nvSpPr>
        <p:spPr>
          <a:xfrm>
            <a:off x="10217637" y="2340442"/>
            <a:ext cx="5214496" cy="79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spc="21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MetaView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22EA5DA0-5CF9-21F9-2B62-DDF540645529}"/>
              </a:ext>
            </a:extLst>
          </p:cNvPr>
          <p:cNvSpPr txBox="1"/>
          <p:nvPr/>
        </p:nvSpPr>
        <p:spPr>
          <a:xfrm>
            <a:off x="10049859" y="3094822"/>
            <a:ext cx="5550054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158">
                <a:solidFill>
                  <a:srgbClr val="C83735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加入數位孿生</a:t>
            </a:r>
          </a:p>
        </p:txBody>
      </p:sp>
      <p:pic>
        <p:nvPicPr>
          <p:cNvPr id="17" name="DB7774DA-38EE-48B3-8D55-38210DFA48F9 2.MOV">
            <a:hlinkClick r:id="" action="ppaction://media"/>
            <a:extLst>
              <a:ext uri="{FF2B5EF4-FFF2-40B4-BE49-F238E27FC236}">
                <a16:creationId xmlns:a16="http://schemas.microsoft.com/office/drawing/2014/main" id="{460704F5-1FAB-FB3A-7799-CCB9EF7E53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11028" t="1" r="88" b="670"/>
          <a:stretch/>
        </p:blipFill>
        <p:spPr>
          <a:xfrm>
            <a:off x="9550314" y="4424246"/>
            <a:ext cx="6715823" cy="4178478"/>
          </a:xfrm>
          <a:prstGeom prst="rect">
            <a:avLst/>
          </a:prstGeom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D705B996-CB17-4443-B31A-3E97716F3B54}"/>
              </a:ext>
            </a:extLst>
          </p:cNvPr>
          <p:cNvSpPr txBox="1"/>
          <p:nvPr/>
        </p:nvSpPr>
        <p:spPr>
          <a:xfrm>
            <a:off x="3215753" y="1420977"/>
            <a:ext cx="5687615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dirty="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5600" dirty="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2032835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9169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Freeform 10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3703320" y="9149620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703320" y="9133109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7874506" y="792477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7874506" y="790825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7874506" y="9133109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7874506" y="9116598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!!board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3733800" y="7882835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733800" y="7886031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2045692" y="793692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2045692" y="792041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031731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11560369" y="-5829300"/>
            <a:ext cx="30893137" cy="22586469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3581400" y="1361092"/>
            <a:ext cx="59436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E6A1B420-5681-85C5-B7DB-B6E03CFFFCFB}"/>
              </a:ext>
            </a:extLst>
          </p:cNvPr>
          <p:cNvSpPr txBox="1"/>
          <p:nvPr/>
        </p:nvSpPr>
        <p:spPr>
          <a:xfrm>
            <a:off x="1025134" y="1187768"/>
            <a:ext cx="2861066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3812C3D5-B136-A28E-0D74-1892823EE789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臉部辨識不完全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541351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7086600" y="-5600700"/>
            <a:ext cx="26289001" cy="19220311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9" name="TextBox 28">
            <a:extLst>
              <a:ext uri="{FF2B5EF4-FFF2-40B4-BE49-F238E27FC236}">
                <a16:creationId xmlns:a16="http://schemas.microsoft.com/office/drawing/2014/main" id="{7232A19D-8A34-25CF-E971-3EEF0D6FB138}"/>
              </a:ext>
            </a:extLst>
          </p:cNvPr>
          <p:cNvSpPr txBox="1"/>
          <p:nvPr/>
        </p:nvSpPr>
        <p:spPr>
          <a:xfrm>
            <a:off x="3581400" y="1361092"/>
            <a:ext cx="59436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A5757677-F748-4A6B-3811-1046667B7688}"/>
              </a:ext>
            </a:extLst>
          </p:cNvPr>
          <p:cNvSpPr txBox="1"/>
          <p:nvPr/>
        </p:nvSpPr>
        <p:spPr>
          <a:xfrm>
            <a:off x="1025134" y="1187768"/>
            <a:ext cx="2861066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F67D51A1-1601-2733-7E62-85D69612C669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臉部辨識不完全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3" name="!!laptop screen">
            <a:extLst>
              <a:ext uri="{FF2B5EF4-FFF2-40B4-BE49-F238E27FC236}">
                <a16:creationId xmlns:a16="http://schemas.microsoft.com/office/drawing/2014/main" id="{CE70A234-5BDB-8F8B-329E-D03A27D76FC3}"/>
              </a:ext>
            </a:extLst>
          </p:cNvPr>
          <p:cNvSpPr/>
          <p:nvPr/>
        </p:nvSpPr>
        <p:spPr>
          <a:xfrm>
            <a:off x="1569807" y="3719045"/>
            <a:ext cx="6976098" cy="4678655"/>
          </a:xfrm>
          <a:custGeom>
            <a:avLst/>
            <a:gdLst/>
            <a:ahLst/>
            <a:cxnLst/>
            <a:rect l="l" t="t" r="r" b="b"/>
            <a:pathLst>
              <a:path w="6451600" h="4326890">
                <a:moveTo>
                  <a:pt x="6224270" y="0"/>
                </a:moveTo>
                <a:lnTo>
                  <a:pt x="226060" y="0"/>
                </a:lnTo>
                <a:cubicBezTo>
                  <a:pt x="101600" y="0"/>
                  <a:pt x="0" y="101600"/>
                  <a:pt x="0" y="226060"/>
                </a:cubicBezTo>
                <a:lnTo>
                  <a:pt x="0" y="4326890"/>
                </a:lnTo>
                <a:lnTo>
                  <a:pt x="6451601" y="4326890"/>
                </a:lnTo>
                <a:lnTo>
                  <a:pt x="6451601" y="226060"/>
                </a:lnTo>
                <a:cubicBezTo>
                  <a:pt x="6450331" y="101600"/>
                  <a:pt x="6348731" y="0"/>
                  <a:pt x="6224270" y="0"/>
                </a:cubicBezTo>
                <a:close/>
                <a:moveTo>
                  <a:pt x="6252210" y="4043680"/>
                </a:moveTo>
                <a:lnTo>
                  <a:pt x="196851" y="4043680"/>
                </a:lnTo>
                <a:lnTo>
                  <a:pt x="196851" y="255270"/>
                </a:lnTo>
                <a:lnTo>
                  <a:pt x="6252210" y="255270"/>
                </a:lnTo>
                <a:lnTo>
                  <a:pt x="6252210" y="404368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TW"/>
          </a:p>
        </p:txBody>
      </p:sp>
      <p:sp>
        <p:nvSpPr>
          <p:cNvPr id="24" name="!!laptop bottom">
            <a:extLst>
              <a:ext uri="{FF2B5EF4-FFF2-40B4-BE49-F238E27FC236}">
                <a16:creationId xmlns:a16="http://schemas.microsoft.com/office/drawing/2014/main" id="{34C19134-E31E-A4A5-D413-6904861AE7EC}"/>
              </a:ext>
            </a:extLst>
          </p:cNvPr>
          <p:cNvSpPr/>
          <p:nvPr/>
        </p:nvSpPr>
        <p:spPr>
          <a:xfrm>
            <a:off x="741739" y="3695700"/>
            <a:ext cx="8630861" cy="4912107"/>
          </a:xfrm>
          <a:custGeom>
            <a:avLst/>
            <a:gdLst/>
            <a:ahLst/>
            <a:cxnLst/>
            <a:rect l="l" t="t" r="r" b="b"/>
            <a:pathLst>
              <a:path w="7981950" h="4542790">
                <a:moveTo>
                  <a:pt x="7239000" y="4348480"/>
                </a:moveTo>
                <a:lnTo>
                  <a:pt x="7239000" y="243840"/>
                </a:lnTo>
                <a:cubicBezTo>
                  <a:pt x="7239000" y="109220"/>
                  <a:pt x="7129780" y="0"/>
                  <a:pt x="6995160" y="0"/>
                </a:cubicBezTo>
                <a:lnTo>
                  <a:pt x="985520" y="0"/>
                </a:lnTo>
                <a:cubicBezTo>
                  <a:pt x="852170" y="0"/>
                  <a:pt x="742950" y="109220"/>
                  <a:pt x="742950" y="243840"/>
                </a:cubicBezTo>
                <a:lnTo>
                  <a:pt x="742950" y="4349750"/>
                </a:lnTo>
                <a:lnTo>
                  <a:pt x="0" y="4349750"/>
                </a:lnTo>
                <a:lnTo>
                  <a:pt x="0" y="4447540"/>
                </a:lnTo>
                <a:cubicBezTo>
                  <a:pt x="0" y="4500880"/>
                  <a:pt x="43180" y="4542790"/>
                  <a:pt x="95250" y="4542790"/>
                </a:cubicBezTo>
                <a:lnTo>
                  <a:pt x="7886700" y="4542790"/>
                </a:lnTo>
                <a:cubicBezTo>
                  <a:pt x="7940040" y="4542790"/>
                  <a:pt x="7981950" y="4499610"/>
                  <a:pt x="7981950" y="4447540"/>
                </a:cubicBezTo>
                <a:lnTo>
                  <a:pt x="7981950" y="4349750"/>
                </a:lnTo>
                <a:lnTo>
                  <a:pt x="7239000" y="4349750"/>
                </a:lnTo>
                <a:close/>
                <a:moveTo>
                  <a:pt x="4519930" y="4348480"/>
                </a:moveTo>
                <a:lnTo>
                  <a:pt x="4519930" y="4349750"/>
                </a:lnTo>
                <a:cubicBezTo>
                  <a:pt x="4519930" y="4403090"/>
                  <a:pt x="4476750" y="4445000"/>
                  <a:pt x="4424680" y="4445000"/>
                </a:cubicBezTo>
                <a:lnTo>
                  <a:pt x="3557270" y="4445000"/>
                </a:lnTo>
                <a:cubicBezTo>
                  <a:pt x="3503930" y="4445000"/>
                  <a:pt x="3462020" y="4401820"/>
                  <a:pt x="3462020" y="4349750"/>
                </a:cubicBezTo>
                <a:lnTo>
                  <a:pt x="3462020" y="4348480"/>
                </a:lnTo>
                <a:lnTo>
                  <a:pt x="765810" y="4348480"/>
                </a:lnTo>
                <a:lnTo>
                  <a:pt x="765810" y="247650"/>
                </a:lnTo>
                <a:cubicBezTo>
                  <a:pt x="765810" y="123190"/>
                  <a:pt x="867410" y="21590"/>
                  <a:pt x="991870" y="21590"/>
                </a:cubicBezTo>
                <a:lnTo>
                  <a:pt x="6990080" y="21590"/>
                </a:lnTo>
                <a:cubicBezTo>
                  <a:pt x="7114539" y="21590"/>
                  <a:pt x="7216139" y="123190"/>
                  <a:pt x="7216139" y="247650"/>
                </a:cubicBezTo>
                <a:lnTo>
                  <a:pt x="7216139" y="4348480"/>
                </a:lnTo>
                <a:lnTo>
                  <a:pt x="4519930" y="4348480"/>
                </a:lnTo>
                <a:close/>
              </a:path>
            </a:pathLst>
          </a:custGeom>
          <a:solidFill>
            <a:srgbClr val="E9E9E9"/>
          </a:solidFill>
        </p:spPr>
        <p:txBody>
          <a:bodyPr/>
          <a:lstStyle/>
          <a:p>
            <a:endParaRPr lang="en-TW"/>
          </a:p>
        </p:txBody>
      </p:sp>
      <p:sp>
        <p:nvSpPr>
          <p:cNvPr id="25" name="Freeform 9">
            <a:extLst>
              <a:ext uri="{FF2B5EF4-FFF2-40B4-BE49-F238E27FC236}">
                <a16:creationId xmlns:a16="http://schemas.microsoft.com/office/drawing/2014/main" id="{9F605138-5CC9-0DE9-EC64-61A4FA182428}"/>
              </a:ext>
            </a:extLst>
          </p:cNvPr>
          <p:cNvSpPr/>
          <p:nvPr/>
        </p:nvSpPr>
        <p:spPr>
          <a:xfrm>
            <a:off x="4483839" y="8399073"/>
            <a:ext cx="1145288" cy="104367"/>
          </a:xfrm>
          <a:custGeom>
            <a:avLst/>
            <a:gdLst/>
            <a:ahLst/>
            <a:cxnLst/>
            <a:rect l="l" t="t" r="r" b="b"/>
            <a:pathLst>
              <a:path w="1059180" h="96520">
                <a:moveTo>
                  <a:pt x="96520" y="96520"/>
                </a:moveTo>
                <a:lnTo>
                  <a:pt x="963930" y="96520"/>
                </a:lnTo>
                <a:cubicBezTo>
                  <a:pt x="1017270" y="96520"/>
                  <a:pt x="1059180" y="53340"/>
                  <a:pt x="1059180" y="1270"/>
                </a:cubicBezTo>
                <a:lnTo>
                  <a:pt x="1059180" y="0"/>
                </a:lnTo>
                <a:lnTo>
                  <a:pt x="0" y="0"/>
                </a:lnTo>
                <a:lnTo>
                  <a:pt x="0" y="1270"/>
                </a:lnTo>
                <a:cubicBezTo>
                  <a:pt x="0" y="53340"/>
                  <a:pt x="43180" y="96520"/>
                  <a:pt x="96520" y="96520"/>
                </a:cubicBezTo>
                <a:close/>
              </a:path>
            </a:pathLst>
          </a:custGeom>
          <a:solidFill>
            <a:srgbClr val="CCCCCC"/>
          </a:solidFill>
        </p:spPr>
        <p:txBody>
          <a:bodyPr/>
          <a:lstStyle/>
          <a:p>
            <a:endParaRPr lang="en-TW"/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6A20CBA4-C920-68D1-9EEB-04B06D05633C}"/>
              </a:ext>
            </a:extLst>
          </p:cNvPr>
          <p:cNvSpPr/>
          <p:nvPr/>
        </p:nvSpPr>
        <p:spPr>
          <a:xfrm>
            <a:off x="918888" y="8607807"/>
            <a:ext cx="8276563" cy="38451"/>
          </a:xfrm>
          <a:custGeom>
            <a:avLst/>
            <a:gdLst/>
            <a:ahLst/>
            <a:cxnLst/>
            <a:rect l="l" t="t" r="r" b="b"/>
            <a:pathLst>
              <a:path w="7654290" h="35560">
                <a:moveTo>
                  <a:pt x="0" y="0"/>
                </a:moveTo>
                <a:cubicBezTo>
                  <a:pt x="0" y="20320"/>
                  <a:pt x="16510" y="35560"/>
                  <a:pt x="35560" y="35560"/>
                </a:cubicBezTo>
                <a:lnTo>
                  <a:pt x="7618730" y="35560"/>
                </a:lnTo>
                <a:cubicBezTo>
                  <a:pt x="7639050" y="35560"/>
                  <a:pt x="7654290" y="19050"/>
                  <a:pt x="765429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/>
          <a:lstStyle/>
          <a:p>
            <a:endParaRPr lang="en-TW"/>
          </a:p>
        </p:txBody>
      </p:sp>
      <p:pic>
        <p:nvPicPr>
          <p:cNvPr id="42" name="Screen Recording 2024-09-17 at 1.04.49 PM 3.mov">
            <a:hlinkClick r:id="" action="ppaction://media"/>
            <a:extLst>
              <a:ext uri="{FF2B5EF4-FFF2-40B4-BE49-F238E27FC236}">
                <a16:creationId xmlns:a16="http://schemas.microsoft.com/office/drawing/2014/main" id="{688CEA06-AD92-3EE6-B7CC-9A55DB29DC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9453" t="14255" r="14393" b="3864"/>
          <a:stretch/>
        </p:blipFill>
        <p:spPr>
          <a:xfrm>
            <a:off x="1828800" y="4020651"/>
            <a:ext cx="6482066" cy="409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38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7086600" y="-5600700"/>
            <a:ext cx="26289001" cy="19220311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8" name="Group 12">
            <a:extLst>
              <a:ext uri="{FF2B5EF4-FFF2-40B4-BE49-F238E27FC236}">
                <a16:creationId xmlns:a16="http://schemas.microsoft.com/office/drawing/2014/main" id="{64F69E94-EA5D-DEE2-A36D-59F7D4340984}"/>
              </a:ext>
            </a:extLst>
          </p:cNvPr>
          <p:cNvGrpSpPr>
            <a:grpSpLocks noChangeAspect="1"/>
          </p:cNvGrpSpPr>
          <p:nvPr/>
        </p:nvGrpSpPr>
        <p:grpSpPr>
          <a:xfrm>
            <a:off x="1348960" y="3719044"/>
            <a:ext cx="8623324" cy="4946235"/>
            <a:chOff x="0" y="0"/>
            <a:chExt cx="7981950" cy="4578350"/>
          </a:xfrm>
        </p:grpSpPr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17C999ED-BA3E-B3FA-15A3-D5AEC14B2CD8}"/>
                </a:ext>
              </a:extLst>
            </p:cNvPr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56918263-1C2A-437F-04C1-9EF27DAA1639}"/>
                </a:ext>
              </a:extLst>
            </p:cNvPr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D56B1EC7-D09A-4DB7-3E23-E4BAC81EACEC}"/>
                </a:ext>
              </a:extLst>
            </p:cNvPr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A4DBE2B-9090-DEC8-79FE-75C2D6AA3997}"/>
                </a:ext>
              </a:extLst>
            </p:cNvPr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TW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08CA4256-0AD7-6E95-D00A-F73091F4C988}"/>
                </a:ext>
              </a:extLst>
            </p:cNvPr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-24078" t="-14909" r="-22101" b="-18760"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sp>
        <p:nvSpPr>
          <p:cNvPr id="39" name="TextBox 28">
            <a:extLst>
              <a:ext uri="{FF2B5EF4-FFF2-40B4-BE49-F238E27FC236}">
                <a16:creationId xmlns:a16="http://schemas.microsoft.com/office/drawing/2014/main" id="{7232A19D-8A34-25CF-E971-3EEF0D6FB138}"/>
              </a:ext>
            </a:extLst>
          </p:cNvPr>
          <p:cNvSpPr txBox="1"/>
          <p:nvPr/>
        </p:nvSpPr>
        <p:spPr>
          <a:xfrm>
            <a:off x="3581400" y="1361092"/>
            <a:ext cx="59436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A5757677-F748-4A6B-3811-1046667B7688}"/>
              </a:ext>
            </a:extLst>
          </p:cNvPr>
          <p:cNvSpPr txBox="1"/>
          <p:nvPr/>
        </p:nvSpPr>
        <p:spPr>
          <a:xfrm>
            <a:off x="1025134" y="1187768"/>
            <a:ext cx="2861066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</a:t>
            </a:r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F67D51A1-1601-2733-7E62-85D69612C669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臉部辨識不完全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5591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9169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board voice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3703320" y="9149620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703320" y="9133109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7874506" y="792477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7874506" y="790825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board advice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7874506" y="9133109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7874506" y="9116598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board personal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3733800" y="7902542"/>
            <a:ext cx="3794647" cy="885600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733800" y="7886031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2045692" y="793692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2045692" y="792041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2984618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FD3245-34E0-5227-117C-7AB57564ABB5}"/>
              </a:ext>
            </a:extLst>
          </p:cNvPr>
          <p:cNvGrpSpPr>
            <a:grpSpLocks noChangeAspect="1"/>
          </p:cNvGrpSpPr>
          <p:nvPr/>
        </p:nvGrpSpPr>
        <p:grpSpPr>
          <a:xfrm>
            <a:off x="-14709759" y="-7324156"/>
            <a:ext cx="34105818" cy="24935311"/>
            <a:chOff x="-152400" y="-3058464"/>
            <a:chExt cx="19035232" cy="139169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9C8009-07D0-24DF-0245-5767FB2D6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5C64C9E4-5160-3FDC-EAF3-1038789697C9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72DA906E-649D-E4D1-EE77-57993F654641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A654EC82-9BF5-F8EB-A22E-64D7A16DABA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445528" y="1361092"/>
            <a:ext cx="46482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53" name="TextBox 73">
            <a:extLst>
              <a:ext uri="{FF2B5EF4-FFF2-40B4-BE49-F238E27FC236}">
                <a16:creationId xmlns:a16="http://schemas.microsoft.com/office/drawing/2014/main" id="{B8D3C3AD-0CFA-DAA9-00D1-B1302F2911D4}"/>
              </a:ext>
            </a:extLst>
          </p:cNvPr>
          <p:cNvSpPr txBox="1"/>
          <p:nvPr/>
        </p:nvSpPr>
        <p:spPr>
          <a:xfrm>
            <a:off x="1028700" y="1187768"/>
            <a:ext cx="26289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11E8C554-5993-937A-DD6B-549C26B43B1C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手動文字輸入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372011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FD3245-34E0-5227-117C-7AB57564ABB5}"/>
              </a:ext>
            </a:extLst>
          </p:cNvPr>
          <p:cNvGrpSpPr>
            <a:grpSpLocks noChangeAspect="1"/>
          </p:cNvGrpSpPr>
          <p:nvPr/>
        </p:nvGrpSpPr>
        <p:grpSpPr>
          <a:xfrm>
            <a:off x="-7086600" y="-5600700"/>
            <a:ext cx="26289001" cy="19220311"/>
            <a:chOff x="-152400" y="-3058464"/>
            <a:chExt cx="19035232" cy="139169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9C8009-07D0-24DF-0245-5767FB2D6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5C64C9E4-5160-3FDC-EAF3-1038789697C9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72DA906E-649D-E4D1-EE77-57993F654641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A654EC82-9BF5-F8EB-A22E-64D7A16DABA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445528" y="1361092"/>
            <a:ext cx="46482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53" name="TextBox 73">
            <a:extLst>
              <a:ext uri="{FF2B5EF4-FFF2-40B4-BE49-F238E27FC236}">
                <a16:creationId xmlns:a16="http://schemas.microsoft.com/office/drawing/2014/main" id="{B8D3C3AD-0CFA-DAA9-00D1-B1302F2911D4}"/>
              </a:ext>
            </a:extLst>
          </p:cNvPr>
          <p:cNvSpPr txBox="1"/>
          <p:nvPr/>
        </p:nvSpPr>
        <p:spPr>
          <a:xfrm>
            <a:off x="1028700" y="1187768"/>
            <a:ext cx="26289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11E8C554-5993-937A-DD6B-549C26B43B1C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手動文字輸入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6C9C5FE5-83B5-0893-60D6-DFF96FFF4013}"/>
              </a:ext>
            </a:extLst>
          </p:cNvPr>
          <p:cNvGrpSpPr/>
          <p:nvPr/>
        </p:nvGrpSpPr>
        <p:grpSpPr>
          <a:xfrm>
            <a:off x="3087632" y="4495332"/>
            <a:ext cx="5316685" cy="9840556"/>
            <a:chOff x="0" y="0"/>
            <a:chExt cx="7456852" cy="14957097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455337AD-9C1C-7742-04DF-834A47886F25}"/>
                </a:ext>
              </a:extLst>
            </p:cNvPr>
            <p:cNvSpPr/>
            <p:nvPr/>
          </p:nvSpPr>
          <p:spPr>
            <a:xfrm>
              <a:off x="0" y="0"/>
              <a:ext cx="7456852" cy="14957097"/>
            </a:xfrm>
            <a:custGeom>
              <a:avLst/>
              <a:gdLst/>
              <a:ahLst/>
              <a:cxnLst/>
              <a:rect l="l" t="t" r="r" b="b"/>
              <a:pathLst>
                <a:path w="7456852" h="14957097">
                  <a:moveTo>
                    <a:pt x="0" y="0"/>
                  </a:moveTo>
                  <a:lnTo>
                    <a:pt x="7456852" y="0"/>
                  </a:lnTo>
                  <a:lnTo>
                    <a:pt x="7456852" y="14957097"/>
                  </a:lnTo>
                  <a:lnTo>
                    <a:pt x="0" y="14957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sp>
        <p:nvSpPr>
          <p:cNvPr id="5" name="TextBox 17">
            <a:extLst>
              <a:ext uri="{FF2B5EF4-FFF2-40B4-BE49-F238E27FC236}">
                <a16:creationId xmlns:a16="http://schemas.microsoft.com/office/drawing/2014/main" id="{7B5B410C-5E1C-344F-3DDE-8691B61327CC}"/>
              </a:ext>
            </a:extLst>
          </p:cNvPr>
          <p:cNvSpPr txBox="1"/>
          <p:nvPr/>
        </p:nvSpPr>
        <p:spPr>
          <a:xfrm>
            <a:off x="3162380" y="2826605"/>
            <a:ext cx="5214496" cy="62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spc="167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其他系統</a:t>
            </a:r>
            <a:endParaRPr lang="en-US" sz="3799" spc="167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83DDB10A-EAFF-A1B2-D629-0A27BCC34A06}"/>
              </a:ext>
            </a:extLst>
          </p:cNvPr>
          <p:cNvSpPr txBox="1"/>
          <p:nvPr/>
        </p:nvSpPr>
        <p:spPr>
          <a:xfrm>
            <a:off x="3087633" y="3546231"/>
            <a:ext cx="5550054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err="1">
                <a:solidFill>
                  <a:srgbClr val="C83735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手動文字輸入</a:t>
            </a:r>
            <a:endParaRPr lang="en-US" sz="3600" spc="158">
              <a:solidFill>
                <a:srgbClr val="C83735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8068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FD3245-34E0-5227-117C-7AB57564ABB5}"/>
              </a:ext>
            </a:extLst>
          </p:cNvPr>
          <p:cNvGrpSpPr>
            <a:grpSpLocks noChangeAspect="1"/>
          </p:cNvGrpSpPr>
          <p:nvPr/>
        </p:nvGrpSpPr>
        <p:grpSpPr>
          <a:xfrm>
            <a:off x="-7086600" y="-5600700"/>
            <a:ext cx="26289001" cy="19220311"/>
            <a:chOff x="-152400" y="-3058464"/>
            <a:chExt cx="19035232" cy="139169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9C8009-07D0-24DF-0245-5767FB2D6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5C64C9E4-5160-3FDC-EAF3-1038789697C9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72DA906E-649D-E4D1-EE77-57993F654641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A654EC82-9BF5-F8EB-A22E-64D7A16DABA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445528" y="1361092"/>
            <a:ext cx="46482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53" name="TextBox 73">
            <a:extLst>
              <a:ext uri="{FF2B5EF4-FFF2-40B4-BE49-F238E27FC236}">
                <a16:creationId xmlns:a16="http://schemas.microsoft.com/office/drawing/2014/main" id="{B8D3C3AD-0CFA-DAA9-00D1-B1302F2911D4}"/>
              </a:ext>
            </a:extLst>
          </p:cNvPr>
          <p:cNvSpPr txBox="1"/>
          <p:nvPr/>
        </p:nvSpPr>
        <p:spPr>
          <a:xfrm>
            <a:off x="1028700" y="1187768"/>
            <a:ext cx="26289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11E8C554-5993-937A-DD6B-549C26B43B1C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手動文字輸入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10" name="Group 42">
            <a:extLst>
              <a:ext uri="{FF2B5EF4-FFF2-40B4-BE49-F238E27FC236}">
                <a16:creationId xmlns:a16="http://schemas.microsoft.com/office/drawing/2014/main" id="{93335CFC-F4A0-398B-D3C4-9666DA51698A}"/>
              </a:ext>
            </a:extLst>
          </p:cNvPr>
          <p:cNvGrpSpPr/>
          <p:nvPr/>
        </p:nvGrpSpPr>
        <p:grpSpPr>
          <a:xfrm>
            <a:off x="1898495" y="3421484"/>
            <a:ext cx="6673320" cy="969026"/>
            <a:chOff x="0" y="0"/>
            <a:chExt cx="8897760" cy="1292034"/>
          </a:xfrm>
        </p:grpSpPr>
        <p:grpSp>
          <p:nvGrpSpPr>
            <p:cNvPr id="12" name="Group 43">
              <a:extLst>
                <a:ext uri="{FF2B5EF4-FFF2-40B4-BE49-F238E27FC236}">
                  <a16:creationId xmlns:a16="http://schemas.microsoft.com/office/drawing/2014/main" id="{83F57E9F-4185-0E73-1785-9C4C6AD43F44}"/>
                </a:ext>
              </a:extLst>
            </p:cNvPr>
            <p:cNvGrpSpPr/>
            <p:nvPr/>
          </p:nvGrpSpPr>
          <p:grpSpPr>
            <a:xfrm>
              <a:off x="0" y="0"/>
              <a:ext cx="1292034" cy="1292034"/>
              <a:chOff x="0" y="0"/>
              <a:chExt cx="812800" cy="812800"/>
            </a:xfrm>
          </p:grpSpPr>
          <p:sp>
            <p:nvSpPr>
              <p:cNvPr id="18" name="Freeform 44">
                <a:extLst>
                  <a:ext uri="{FF2B5EF4-FFF2-40B4-BE49-F238E27FC236}">
                    <a16:creationId xmlns:a16="http://schemas.microsoft.com/office/drawing/2014/main" id="{D183AC8D-CDC1-C2D9-06AE-9C9799028C2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19" name="TextBox 45">
                <a:extLst>
                  <a:ext uri="{FF2B5EF4-FFF2-40B4-BE49-F238E27FC236}">
                    <a16:creationId xmlns:a16="http://schemas.microsoft.com/office/drawing/2014/main" id="{394A9613-79BE-2FAC-8C48-71D351A3F5CC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3" name="Freeform 46">
              <a:extLst>
                <a:ext uri="{FF2B5EF4-FFF2-40B4-BE49-F238E27FC236}">
                  <a16:creationId xmlns:a16="http://schemas.microsoft.com/office/drawing/2014/main" id="{0A1AA1E4-2D94-1D89-DFAC-181DF1A2B062}"/>
                </a:ext>
              </a:extLst>
            </p:cNvPr>
            <p:cNvSpPr/>
            <p:nvPr/>
          </p:nvSpPr>
          <p:spPr>
            <a:xfrm>
              <a:off x="243223" y="154683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2"/>
                  </a:lnTo>
                  <a:lnTo>
                    <a:pt x="0" y="97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14" name="Group 47">
              <a:extLst>
                <a:ext uri="{FF2B5EF4-FFF2-40B4-BE49-F238E27FC236}">
                  <a16:creationId xmlns:a16="http://schemas.microsoft.com/office/drawing/2014/main" id="{C04371FE-1320-AA76-64C3-6ECCDDE7ED6D}"/>
                </a:ext>
              </a:extLst>
            </p:cNvPr>
            <p:cNvGrpSpPr/>
            <p:nvPr/>
          </p:nvGrpSpPr>
          <p:grpSpPr>
            <a:xfrm>
              <a:off x="1561077" y="0"/>
              <a:ext cx="7336683" cy="1292034"/>
              <a:chOff x="0" y="0"/>
              <a:chExt cx="1449221" cy="255217"/>
            </a:xfrm>
          </p:grpSpPr>
          <p:sp>
            <p:nvSpPr>
              <p:cNvPr id="16" name="Freeform 48">
                <a:extLst>
                  <a:ext uri="{FF2B5EF4-FFF2-40B4-BE49-F238E27FC236}">
                    <a16:creationId xmlns:a16="http://schemas.microsoft.com/office/drawing/2014/main" id="{1F119BB2-383D-E704-7A93-ACBE1470ADF9}"/>
                  </a:ext>
                </a:extLst>
              </p:cNvPr>
              <p:cNvSpPr/>
              <p:nvPr/>
            </p:nvSpPr>
            <p:spPr>
              <a:xfrm>
                <a:off x="0" y="0"/>
                <a:ext cx="1449221" cy="255217"/>
              </a:xfrm>
              <a:custGeom>
                <a:avLst/>
                <a:gdLst/>
                <a:ahLst/>
                <a:cxnLst/>
                <a:rect l="l" t="t" r="r" b="b"/>
                <a:pathLst>
                  <a:path w="1449221" h="255217">
                    <a:moveTo>
                      <a:pt x="22531" y="0"/>
                    </a:moveTo>
                    <a:lnTo>
                      <a:pt x="1426690" y="0"/>
                    </a:lnTo>
                    <a:cubicBezTo>
                      <a:pt x="1432666" y="0"/>
                      <a:pt x="1438397" y="2374"/>
                      <a:pt x="1442622" y="6599"/>
                    </a:cubicBezTo>
                    <a:cubicBezTo>
                      <a:pt x="1446848" y="10825"/>
                      <a:pt x="1449221" y="16556"/>
                      <a:pt x="1449221" y="22531"/>
                    </a:cubicBezTo>
                    <a:lnTo>
                      <a:pt x="1449221" y="232686"/>
                    </a:lnTo>
                    <a:cubicBezTo>
                      <a:pt x="1449221" y="238661"/>
                      <a:pt x="1446848" y="244392"/>
                      <a:pt x="1442622" y="248617"/>
                    </a:cubicBezTo>
                    <a:cubicBezTo>
                      <a:pt x="1438397" y="252843"/>
                      <a:pt x="1432666" y="255217"/>
                      <a:pt x="1426690" y="255217"/>
                    </a:cubicBezTo>
                    <a:lnTo>
                      <a:pt x="22531" y="255217"/>
                    </a:lnTo>
                    <a:cubicBezTo>
                      <a:pt x="16556" y="255217"/>
                      <a:pt x="10825" y="252843"/>
                      <a:pt x="6599" y="248617"/>
                    </a:cubicBezTo>
                    <a:cubicBezTo>
                      <a:pt x="2374" y="244392"/>
                      <a:pt x="0" y="238661"/>
                      <a:pt x="0" y="232686"/>
                    </a:cubicBezTo>
                    <a:lnTo>
                      <a:pt x="0" y="22531"/>
                    </a:lnTo>
                    <a:cubicBezTo>
                      <a:pt x="0" y="16556"/>
                      <a:pt x="2374" y="10825"/>
                      <a:pt x="6599" y="6599"/>
                    </a:cubicBezTo>
                    <a:cubicBezTo>
                      <a:pt x="10825" y="2374"/>
                      <a:pt x="16556" y="0"/>
                      <a:pt x="22531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17" name="TextBox 49">
                <a:extLst>
                  <a:ext uri="{FF2B5EF4-FFF2-40B4-BE49-F238E27FC236}">
                    <a16:creationId xmlns:a16="http://schemas.microsoft.com/office/drawing/2014/main" id="{7D0720ED-FE85-40E3-BD38-8492795DF45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9221" cy="283792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50">
              <a:extLst>
                <a:ext uri="{FF2B5EF4-FFF2-40B4-BE49-F238E27FC236}">
                  <a16:creationId xmlns:a16="http://schemas.microsoft.com/office/drawing/2014/main" id="{CA5F607D-7C0A-942C-1FF2-8767540F7623}"/>
                </a:ext>
              </a:extLst>
            </p:cNvPr>
            <p:cNvSpPr txBox="1"/>
            <p:nvPr/>
          </p:nvSpPr>
          <p:spPr>
            <a:xfrm>
              <a:off x="1704945" y="296556"/>
              <a:ext cx="7048948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分享你在IBM當intern的經驗</a:t>
              </a:r>
            </a:p>
          </p:txBody>
        </p:sp>
      </p:grpSp>
      <p:grpSp>
        <p:nvGrpSpPr>
          <p:cNvPr id="20" name="Group 51">
            <a:extLst>
              <a:ext uri="{FF2B5EF4-FFF2-40B4-BE49-F238E27FC236}">
                <a16:creationId xmlns:a16="http://schemas.microsoft.com/office/drawing/2014/main" id="{EE4A7BBC-589D-F417-1085-A082A7A48EE6}"/>
              </a:ext>
            </a:extLst>
          </p:cNvPr>
          <p:cNvGrpSpPr/>
          <p:nvPr/>
        </p:nvGrpSpPr>
        <p:grpSpPr>
          <a:xfrm>
            <a:off x="1898495" y="7350789"/>
            <a:ext cx="6673320" cy="1575119"/>
            <a:chOff x="0" y="0"/>
            <a:chExt cx="8897760" cy="2100159"/>
          </a:xfrm>
        </p:grpSpPr>
        <p:grpSp>
          <p:nvGrpSpPr>
            <p:cNvPr id="21" name="Group 52">
              <a:extLst>
                <a:ext uri="{FF2B5EF4-FFF2-40B4-BE49-F238E27FC236}">
                  <a16:creationId xmlns:a16="http://schemas.microsoft.com/office/drawing/2014/main" id="{55BF446E-E9E9-1737-D903-C8D29ECA0681}"/>
                </a:ext>
              </a:extLst>
            </p:cNvPr>
            <p:cNvGrpSpPr/>
            <p:nvPr/>
          </p:nvGrpSpPr>
          <p:grpSpPr>
            <a:xfrm>
              <a:off x="0" y="808124"/>
              <a:ext cx="1292034" cy="1292034"/>
              <a:chOff x="0" y="0"/>
              <a:chExt cx="812800" cy="812800"/>
            </a:xfrm>
          </p:grpSpPr>
          <p:sp>
            <p:nvSpPr>
              <p:cNvPr id="32" name="Freeform 53">
                <a:extLst>
                  <a:ext uri="{FF2B5EF4-FFF2-40B4-BE49-F238E27FC236}">
                    <a16:creationId xmlns:a16="http://schemas.microsoft.com/office/drawing/2014/main" id="{E94E582D-07DB-3204-73EC-0988D9903D5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33" name="TextBox 54">
                <a:extLst>
                  <a:ext uri="{FF2B5EF4-FFF2-40B4-BE49-F238E27FC236}">
                    <a16:creationId xmlns:a16="http://schemas.microsoft.com/office/drawing/2014/main" id="{2462FA8B-97F3-E817-CDFC-7FF68B7C8BCC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13DA7B34-DD5E-0A3B-4DA3-D8EC5FCB829B}"/>
                </a:ext>
              </a:extLst>
            </p:cNvPr>
            <p:cNvSpPr/>
            <p:nvPr/>
          </p:nvSpPr>
          <p:spPr>
            <a:xfrm>
              <a:off x="243223" y="962808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1"/>
                  </a:lnTo>
                  <a:lnTo>
                    <a:pt x="0" y="97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23" name="Group 56">
              <a:extLst>
                <a:ext uri="{FF2B5EF4-FFF2-40B4-BE49-F238E27FC236}">
                  <a16:creationId xmlns:a16="http://schemas.microsoft.com/office/drawing/2014/main" id="{41003A66-D5C0-49A5-66FD-1A717D70695A}"/>
                </a:ext>
              </a:extLst>
            </p:cNvPr>
            <p:cNvGrpSpPr/>
            <p:nvPr/>
          </p:nvGrpSpPr>
          <p:grpSpPr>
            <a:xfrm>
              <a:off x="1561077" y="0"/>
              <a:ext cx="7336683" cy="2100159"/>
              <a:chOff x="0" y="0"/>
              <a:chExt cx="1449221" cy="414846"/>
            </a:xfrm>
          </p:grpSpPr>
          <p:sp>
            <p:nvSpPr>
              <p:cNvPr id="25" name="Freeform 57">
                <a:extLst>
                  <a:ext uri="{FF2B5EF4-FFF2-40B4-BE49-F238E27FC236}">
                    <a16:creationId xmlns:a16="http://schemas.microsoft.com/office/drawing/2014/main" id="{0C33FF84-31CF-7FED-7D28-4C58346ED954}"/>
                  </a:ext>
                </a:extLst>
              </p:cNvPr>
              <p:cNvSpPr/>
              <p:nvPr/>
            </p:nvSpPr>
            <p:spPr>
              <a:xfrm>
                <a:off x="0" y="0"/>
                <a:ext cx="1449221" cy="414846"/>
              </a:xfrm>
              <a:custGeom>
                <a:avLst/>
                <a:gdLst/>
                <a:ahLst/>
                <a:cxnLst/>
                <a:rect l="l" t="t" r="r" b="b"/>
                <a:pathLst>
                  <a:path w="1449221" h="414846">
                    <a:moveTo>
                      <a:pt x="22531" y="0"/>
                    </a:moveTo>
                    <a:lnTo>
                      <a:pt x="1426690" y="0"/>
                    </a:lnTo>
                    <a:cubicBezTo>
                      <a:pt x="1432666" y="0"/>
                      <a:pt x="1438397" y="2374"/>
                      <a:pt x="1442622" y="6599"/>
                    </a:cubicBezTo>
                    <a:cubicBezTo>
                      <a:pt x="1446848" y="10825"/>
                      <a:pt x="1449221" y="16556"/>
                      <a:pt x="1449221" y="22531"/>
                    </a:cubicBezTo>
                    <a:lnTo>
                      <a:pt x="1449221" y="392315"/>
                    </a:lnTo>
                    <a:cubicBezTo>
                      <a:pt x="1449221" y="404759"/>
                      <a:pt x="1439134" y="414846"/>
                      <a:pt x="1426690" y="414846"/>
                    </a:cubicBezTo>
                    <a:lnTo>
                      <a:pt x="22531" y="414846"/>
                    </a:lnTo>
                    <a:cubicBezTo>
                      <a:pt x="16556" y="414846"/>
                      <a:pt x="10825" y="412472"/>
                      <a:pt x="6599" y="408247"/>
                    </a:cubicBezTo>
                    <a:cubicBezTo>
                      <a:pt x="2374" y="404022"/>
                      <a:pt x="0" y="398291"/>
                      <a:pt x="0" y="392315"/>
                    </a:cubicBezTo>
                    <a:lnTo>
                      <a:pt x="0" y="22531"/>
                    </a:lnTo>
                    <a:cubicBezTo>
                      <a:pt x="0" y="16556"/>
                      <a:pt x="2374" y="10825"/>
                      <a:pt x="6599" y="6599"/>
                    </a:cubicBezTo>
                    <a:cubicBezTo>
                      <a:pt x="10825" y="2374"/>
                      <a:pt x="16556" y="0"/>
                      <a:pt x="22531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8" name="TextBox 58">
                <a:extLst>
                  <a:ext uri="{FF2B5EF4-FFF2-40B4-BE49-F238E27FC236}">
                    <a16:creationId xmlns:a16="http://schemas.microsoft.com/office/drawing/2014/main" id="{6C49768D-38B0-5097-641E-5918A8367C3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9221" cy="443421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59">
              <a:extLst>
                <a:ext uri="{FF2B5EF4-FFF2-40B4-BE49-F238E27FC236}">
                  <a16:creationId xmlns:a16="http://schemas.microsoft.com/office/drawing/2014/main" id="{126EFFB7-0239-09B3-2657-D28AABA57F2D}"/>
                </a:ext>
              </a:extLst>
            </p:cNvPr>
            <p:cNvSpPr txBox="1"/>
            <p:nvPr/>
          </p:nvSpPr>
          <p:spPr>
            <a:xfrm>
              <a:off x="2129471" y="370418"/>
              <a:ext cx="6136507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為何使用NEXT.JS做系統開發</a:t>
              </a:r>
              <a:r>
                <a:rPr lang="en-US" sz="2800" spc="123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,</a:t>
              </a:r>
            </a:p>
            <a:p>
              <a:pPr algn="l">
                <a:lnSpc>
                  <a:spcPts val="3920"/>
                </a:lnSpc>
              </a:pP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使用上遇過哪些困難</a:t>
              </a: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？</a:t>
              </a:r>
            </a:p>
          </p:txBody>
        </p:sp>
      </p:grpSp>
      <p:grpSp>
        <p:nvGrpSpPr>
          <p:cNvPr id="56" name="Group 64">
            <a:extLst>
              <a:ext uri="{FF2B5EF4-FFF2-40B4-BE49-F238E27FC236}">
                <a16:creationId xmlns:a16="http://schemas.microsoft.com/office/drawing/2014/main" id="{A05C16F8-1527-D1D3-870E-867279850F0F}"/>
              </a:ext>
            </a:extLst>
          </p:cNvPr>
          <p:cNvGrpSpPr/>
          <p:nvPr/>
        </p:nvGrpSpPr>
        <p:grpSpPr>
          <a:xfrm>
            <a:off x="3495598" y="5220813"/>
            <a:ext cx="6350168" cy="1464326"/>
            <a:chOff x="0" y="0"/>
            <a:chExt cx="8466891" cy="1952434"/>
          </a:xfrm>
        </p:grpSpPr>
        <p:grpSp>
          <p:nvGrpSpPr>
            <p:cNvPr id="58" name="Group 65">
              <a:extLst>
                <a:ext uri="{FF2B5EF4-FFF2-40B4-BE49-F238E27FC236}">
                  <a16:creationId xmlns:a16="http://schemas.microsoft.com/office/drawing/2014/main" id="{B1EC764F-4231-F1DE-B729-C1812AE7D755}"/>
                </a:ext>
              </a:extLst>
            </p:cNvPr>
            <p:cNvGrpSpPr/>
            <p:nvPr/>
          </p:nvGrpSpPr>
          <p:grpSpPr>
            <a:xfrm>
              <a:off x="7257678" y="743222"/>
              <a:ext cx="1209212" cy="1209212"/>
              <a:chOff x="0" y="0"/>
              <a:chExt cx="812800" cy="812800"/>
            </a:xfrm>
          </p:grpSpPr>
          <p:sp>
            <p:nvSpPr>
              <p:cNvPr id="64" name="Freeform 66">
                <a:extLst>
                  <a:ext uri="{FF2B5EF4-FFF2-40B4-BE49-F238E27FC236}">
                    <a16:creationId xmlns:a16="http://schemas.microsoft.com/office/drawing/2014/main" id="{B8D43C6F-804C-7B99-EBFF-098045A4D8E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65" name="TextBox 67">
                <a:extLst>
                  <a:ext uri="{FF2B5EF4-FFF2-40B4-BE49-F238E27FC236}">
                    <a16:creationId xmlns:a16="http://schemas.microsoft.com/office/drawing/2014/main" id="{96327599-5A4B-72AE-56C3-4E9EF0D7738C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14929" tIns="14929" rIns="14929" bIns="1492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9" name="Freeform 68">
              <a:extLst>
                <a:ext uri="{FF2B5EF4-FFF2-40B4-BE49-F238E27FC236}">
                  <a16:creationId xmlns:a16="http://schemas.microsoft.com/office/drawing/2014/main" id="{2A867F4E-0E61-CF83-B07A-42728C1B7F4D}"/>
                </a:ext>
              </a:extLst>
            </p:cNvPr>
            <p:cNvSpPr/>
            <p:nvPr/>
          </p:nvSpPr>
          <p:spPr>
            <a:xfrm>
              <a:off x="7310692" y="909611"/>
              <a:ext cx="1103186" cy="840427"/>
            </a:xfrm>
            <a:custGeom>
              <a:avLst/>
              <a:gdLst/>
              <a:ahLst/>
              <a:cxnLst/>
              <a:rect l="l" t="t" r="r" b="b"/>
              <a:pathLst>
                <a:path w="1103186" h="840427">
                  <a:moveTo>
                    <a:pt x="0" y="0"/>
                  </a:moveTo>
                  <a:lnTo>
                    <a:pt x="1103185" y="0"/>
                  </a:lnTo>
                  <a:lnTo>
                    <a:pt x="1103185" y="840427"/>
                  </a:lnTo>
                  <a:lnTo>
                    <a:pt x="0" y="840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60" name="Group 69">
              <a:extLst>
                <a:ext uri="{FF2B5EF4-FFF2-40B4-BE49-F238E27FC236}">
                  <a16:creationId xmlns:a16="http://schemas.microsoft.com/office/drawing/2014/main" id="{F37EB369-C890-FCEA-63E4-CB53ABED64AC}"/>
                </a:ext>
              </a:extLst>
            </p:cNvPr>
            <p:cNvGrpSpPr/>
            <p:nvPr/>
          </p:nvGrpSpPr>
          <p:grpSpPr>
            <a:xfrm>
              <a:off x="0" y="0"/>
              <a:ext cx="6967508" cy="1952434"/>
              <a:chOff x="0" y="0"/>
              <a:chExt cx="1376298" cy="385666"/>
            </a:xfrm>
          </p:grpSpPr>
          <p:sp>
            <p:nvSpPr>
              <p:cNvPr id="62" name="Freeform 70">
                <a:extLst>
                  <a:ext uri="{FF2B5EF4-FFF2-40B4-BE49-F238E27FC236}">
                    <a16:creationId xmlns:a16="http://schemas.microsoft.com/office/drawing/2014/main" id="{536F24CF-2565-5111-605B-A33DF6AE93A8}"/>
                  </a:ext>
                </a:extLst>
              </p:cNvPr>
              <p:cNvSpPr/>
              <p:nvPr/>
            </p:nvSpPr>
            <p:spPr>
              <a:xfrm>
                <a:off x="0" y="0"/>
                <a:ext cx="1376298" cy="385666"/>
              </a:xfrm>
              <a:custGeom>
                <a:avLst/>
                <a:gdLst/>
                <a:ahLst/>
                <a:cxnLst/>
                <a:rect l="l" t="t" r="r" b="b"/>
                <a:pathLst>
                  <a:path w="1376298" h="385666">
                    <a:moveTo>
                      <a:pt x="75558" y="0"/>
                    </a:moveTo>
                    <a:lnTo>
                      <a:pt x="1300740" y="0"/>
                    </a:lnTo>
                    <a:cubicBezTo>
                      <a:pt x="1342469" y="0"/>
                      <a:pt x="1376298" y="33828"/>
                      <a:pt x="1376298" y="75558"/>
                    </a:cubicBezTo>
                    <a:lnTo>
                      <a:pt x="1376298" y="310108"/>
                    </a:lnTo>
                    <a:cubicBezTo>
                      <a:pt x="1376298" y="351838"/>
                      <a:pt x="1342469" y="385666"/>
                      <a:pt x="1300740" y="385666"/>
                    </a:cubicBezTo>
                    <a:lnTo>
                      <a:pt x="75558" y="385666"/>
                    </a:lnTo>
                    <a:cubicBezTo>
                      <a:pt x="33828" y="385666"/>
                      <a:pt x="0" y="351838"/>
                      <a:pt x="0" y="310108"/>
                    </a:cubicBezTo>
                    <a:lnTo>
                      <a:pt x="0" y="75558"/>
                    </a:lnTo>
                    <a:cubicBezTo>
                      <a:pt x="0" y="33828"/>
                      <a:pt x="33828" y="0"/>
                      <a:pt x="75558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63" name="TextBox 71">
                <a:extLst>
                  <a:ext uri="{FF2B5EF4-FFF2-40B4-BE49-F238E27FC236}">
                    <a16:creationId xmlns:a16="http://schemas.microsoft.com/office/drawing/2014/main" id="{A9861560-2DB7-52D2-819A-F7202D1B774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376298" cy="4142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1" name="TextBox 72">
              <a:extLst>
                <a:ext uri="{FF2B5EF4-FFF2-40B4-BE49-F238E27FC236}">
                  <a16:creationId xmlns:a16="http://schemas.microsoft.com/office/drawing/2014/main" id="{2B2DDDDC-F2F6-8101-C3A4-FCFCB29E5585}"/>
                </a:ext>
              </a:extLst>
            </p:cNvPr>
            <p:cNvSpPr txBox="1"/>
            <p:nvPr/>
          </p:nvSpPr>
          <p:spPr>
            <a:xfrm>
              <a:off x="504082" y="296556"/>
              <a:ext cx="6753596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使用Figma設計</a:t>
              </a: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,</a:t>
              </a:r>
            </a:p>
            <a:p>
              <a:pPr algn="l">
                <a:lnSpc>
                  <a:spcPts val="3920"/>
                </a:lnSpc>
              </a:pPr>
              <a:r>
                <a:rPr lang="en-US" sz="2800" spc="123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並用NEXT.JS做系統開發</a:t>
              </a:r>
              <a:endParaRPr lang="en-US" sz="2800" spc="123"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049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FD3245-34E0-5227-117C-7AB57564ABB5}"/>
              </a:ext>
            </a:extLst>
          </p:cNvPr>
          <p:cNvGrpSpPr>
            <a:grpSpLocks noChangeAspect="1"/>
          </p:cNvGrpSpPr>
          <p:nvPr/>
        </p:nvGrpSpPr>
        <p:grpSpPr>
          <a:xfrm>
            <a:off x="-7086600" y="-5600700"/>
            <a:ext cx="26289001" cy="19220311"/>
            <a:chOff x="-152400" y="-3058464"/>
            <a:chExt cx="19035232" cy="139169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9C8009-07D0-24DF-0245-5767FB2D6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5C64C9E4-5160-3FDC-EAF3-1038789697C9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72DA906E-649D-E4D1-EE77-57993F654641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5">
                <a:extLst>
                  <a:ext uri="{FF2B5EF4-FFF2-40B4-BE49-F238E27FC236}">
                    <a16:creationId xmlns:a16="http://schemas.microsoft.com/office/drawing/2014/main" id="{A654EC82-9BF5-F8EB-A22E-64D7A16DABA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445528" y="1361092"/>
            <a:ext cx="4648200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53" name="TextBox 73">
            <a:extLst>
              <a:ext uri="{FF2B5EF4-FFF2-40B4-BE49-F238E27FC236}">
                <a16:creationId xmlns:a16="http://schemas.microsoft.com/office/drawing/2014/main" id="{B8D3C3AD-0CFA-DAA9-00D1-B1302F2911D4}"/>
              </a:ext>
            </a:extLst>
          </p:cNvPr>
          <p:cNvSpPr txBox="1"/>
          <p:nvPr/>
        </p:nvSpPr>
        <p:spPr>
          <a:xfrm>
            <a:off x="1028700" y="1187768"/>
            <a:ext cx="2628900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11E8C554-5993-937A-DD6B-549C26B43B1C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手動文字輸入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9" name="!!pyAudio">
            <a:extLst>
              <a:ext uri="{FF2B5EF4-FFF2-40B4-BE49-F238E27FC236}">
                <a16:creationId xmlns:a16="http://schemas.microsoft.com/office/drawing/2014/main" id="{A883FD32-C196-C25A-F771-4E2001097B65}"/>
              </a:ext>
            </a:extLst>
          </p:cNvPr>
          <p:cNvSpPr/>
          <p:nvPr/>
        </p:nvSpPr>
        <p:spPr>
          <a:xfrm>
            <a:off x="5949568" y="4277275"/>
            <a:ext cx="2652047" cy="1016967"/>
          </a:xfrm>
          <a:custGeom>
            <a:avLst/>
            <a:gdLst/>
            <a:ahLst/>
            <a:cxnLst/>
            <a:rect l="l" t="t" r="r" b="b"/>
            <a:pathLst>
              <a:path w="2977901" h="1083182">
                <a:moveTo>
                  <a:pt x="0" y="0"/>
                </a:moveTo>
                <a:lnTo>
                  <a:pt x="2977901" y="0"/>
                </a:lnTo>
                <a:lnTo>
                  <a:pt x="2977901" y="1083182"/>
                </a:lnTo>
                <a:lnTo>
                  <a:pt x="0" y="1083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W"/>
          </a:p>
        </p:txBody>
      </p:sp>
      <p:sp>
        <p:nvSpPr>
          <p:cNvPr id="50" name="!!googleSpeech">
            <a:extLst>
              <a:ext uri="{FF2B5EF4-FFF2-40B4-BE49-F238E27FC236}">
                <a16:creationId xmlns:a16="http://schemas.microsoft.com/office/drawing/2014/main" id="{7CC5AAF2-3E5F-DEE4-BDDD-F68C00E2DC15}"/>
              </a:ext>
            </a:extLst>
          </p:cNvPr>
          <p:cNvSpPr/>
          <p:nvPr/>
        </p:nvSpPr>
        <p:spPr>
          <a:xfrm>
            <a:off x="1898495" y="4284593"/>
            <a:ext cx="3607594" cy="1129354"/>
          </a:xfrm>
          <a:custGeom>
            <a:avLst/>
            <a:gdLst/>
            <a:ahLst/>
            <a:cxnLst/>
            <a:rect l="l" t="t" r="r" b="b"/>
            <a:pathLst>
              <a:path w="4050855" h="1202886">
                <a:moveTo>
                  <a:pt x="0" y="0"/>
                </a:moveTo>
                <a:lnTo>
                  <a:pt x="4050855" y="0"/>
                </a:lnTo>
                <a:lnTo>
                  <a:pt x="4050855" y="1202885"/>
                </a:lnTo>
                <a:lnTo>
                  <a:pt x="0" y="1202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17" t="-49057" r="-5659" b="-47884"/>
            </a:stretch>
          </a:blipFill>
        </p:spPr>
        <p:txBody>
          <a:bodyPr/>
          <a:lstStyle/>
          <a:p>
            <a:endParaRPr lang="en-TW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D9774A-E8D1-56BD-3108-E7D45F832E68}"/>
              </a:ext>
            </a:extLst>
          </p:cNvPr>
          <p:cNvGrpSpPr/>
          <p:nvPr/>
        </p:nvGrpSpPr>
        <p:grpSpPr>
          <a:xfrm>
            <a:off x="4716509" y="5810530"/>
            <a:ext cx="5071692" cy="1054912"/>
            <a:chOff x="4188166" y="5828260"/>
            <a:chExt cx="5071692" cy="1054912"/>
          </a:xfrm>
        </p:grpSpPr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C62CAAAF-20CF-CF53-F48D-F1B6B4CE29D4}"/>
                </a:ext>
              </a:extLst>
            </p:cNvPr>
            <p:cNvGrpSpPr/>
            <p:nvPr/>
          </p:nvGrpSpPr>
          <p:grpSpPr>
            <a:xfrm>
              <a:off x="4188166" y="5828260"/>
              <a:ext cx="3986915" cy="1054912"/>
              <a:chOff x="0" y="0"/>
              <a:chExt cx="5315887" cy="1406550"/>
            </a:xfrm>
          </p:grpSpPr>
          <p:grpSp>
            <p:nvGrpSpPr>
              <p:cNvPr id="37" name="Group 61">
                <a:extLst>
                  <a:ext uri="{FF2B5EF4-FFF2-40B4-BE49-F238E27FC236}">
                    <a16:creationId xmlns:a16="http://schemas.microsoft.com/office/drawing/2014/main" id="{2870513B-F53C-E04B-C3E6-EC0878325EF5}"/>
                  </a:ext>
                </a:extLst>
              </p:cNvPr>
              <p:cNvGrpSpPr/>
              <p:nvPr/>
            </p:nvGrpSpPr>
            <p:grpSpPr>
              <a:xfrm>
                <a:off x="0" y="0"/>
                <a:ext cx="5315887" cy="1406550"/>
                <a:chOff x="0" y="0"/>
                <a:chExt cx="1050052" cy="277837"/>
              </a:xfrm>
            </p:grpSpPr>
            <p:sp>
              <p:nvSpPr>
                <p:cNvPr id="47" name="Freeform 62">
                  <a:extLst>
                    <a:ext uri="{FF2B5EF4-FFF2-40B4-BE49-F238E27FC236}">
                      <a16:creationId xmlns:a16="http://schemas.microsoft.com/office/drawing/2014/main" id="{F0DA7E71-11D2-4448-9736-3326F67ECDE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50052" cy="277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052" h="277837">
                      <a:moveTo>
                        <a:pt x="99033" y="0"/>
                      </a:moveTo>
                      <a:lnTo>
                        <a:pt x="951018" y="0"/>
                      </a:lnTo>
                      <a:cubicBezTo>
                        <a:pt x="977284" y="0"/>
                        <a:pt x="1002473" y="10434"/>
                        <a:pt x="1021046" y="29006"/>
                      </a:cubicBezTo>
                      <a:cubicBezTo>
                        <a:pt x="1039618" y="47579"/>
                        <a:pt x="1050052" y="72768"/>
                        <a:pt x="1050052" y="99033"/>
                      </a:cubicBezTo>
                      <a:lnTo>
                        <a:pt x="1050052" y="178804"/>
                      </a:lnTo>
                      <a:cubicBezTo>
                        <a:pt x="1050052" y="233498"/>
                        <a:pt x="1005713" y="277837"/>
                        <a:pt x="951018" y="277837"/>
                      </a:cubicBezTo>
                      <a:lnTo>
                        <a:pt x="99033" y="277837"/>
                      </a:lnTo>
                      <a:cubicBezTo>
                        <a:pt x="44339" y="277837"/>
                        <a:pt x="0" y="233498"/>
                        <a:pt x="0" y="178804"/>
                      </a:cubicBezTo>
                      <a:lnTo>
                        <a:pt x="0" y="99033"/>
                      </a:lnTo>
                      <a:cubicBezTo>
                        <a:pt x="0" y="44339"/>
                        <a:pt x="44339" y="0"/>
                        <a:pt x="99033" y="0"/>
                      </a:cubicBezTo>
                      <a:close/>
                    </a:path>
                  </a:pathLst>
                </a:custGeom>
                <a:solidFill>
                  <a:srgbClr val="E9E9E9"/>
                </a:solidFill>
              </p:spPr>
              <p:txBody>
                <a:bodyPr/>
                <a:lstStyle/>
                <a:p>
                  <a:endParaRPr lang="en-TW"/>
                </a:p>
              </p:txBody>
            </p:sp>
            <p:sp>
              <p:nvSpPr>
                <p:cNvPr id="48" name="TextBox 63">
                  <a:extLst>
                    <a:ext uri="{FF2B5EF4-FFF2-40B4-BE49-F238E27FC236}">
                      <a16:creationId xmlns:a16="http://schemas.microsoft.com/office/drawing/2014/main" id="{85391AC5-03D2-416F-7E44-91E48292CAB1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050052" cy="30641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40" name="Freeform 64">
                <a:extLst>
                  <a:ext uri="{FF2B5EF4-FFF2-40B4-BE49-F238E27FC236}">
                    <a16:creationId xmlns:a16="http://schemas.microsoft.com/office/drawing/2014/main" id="{CDF4BFAA-ED08-11B5-19EE-2A5CD72438FA}"/>
                  </a:ext>
                </a:extLst>
              </p:cNvPr>
              <p:cNvSpPr/>
              <p:nvPr/>
            </p:nvSpPr>
            <p:spPr>
              <a:xfrm>
                <a:off x="1514960" y="285088"/>
                <a:ext cx="1862988" cy="830854"/>
              </a:xfrm>
              <a:custGeom>
                <a:avLst/>
                <a:gdLst/>
                <a:ahLst/>
                <a:cxnLst/>
                <a:rect l="l" t="t" r="r" b="b"/>
                <a:pathLst>
                  <a:path w="1862988" h="830854">
                    <a:moveTo>
                      <a:pt x="0" y="0"/>
                    </a:moveTo>
                    <a:lnTo>
                      <a:pt x="1862988" y="0"/>
                    </a:lnTo>
                    <a:lnTo>
                      <a:pt x="1862988" y="830854"/>
                    </a:lnTo>
                    <a:lnTo>
                      <a:pt x="0" y="83085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4225"/>
                </a:stretch>
              </a:blip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43" name="Freeform 65">
                <a:extLst>
                  <a:ext uri="{FF2B5EF4-FFF2-40B4-BE49-F238E27FC236}">
                    <a16:creationId xmlns:a16="http://schemas.microsoft.com/office/drawing/2014/main" id="{FC0B93EE-0F8E-A2BB-44EC-879213FD2CDF}"/>
                  </a:ext>
                </a:extLst>
              </p:cNvPr>
              <p:cNvSpPr/>
              <p:nvPr/>
            </p:nvSpPr>
            <p:spPr>
              <a:xfrm>
                <a:off x="636932" y="264261"/>
                <a:ext cx="878027" cy="878027"/>
              </a:xfrm>
              <a:custGeom>
                <a:avLst/>
                <a:gdLst/>
                <a:ahLst/>
                <a:cxnLst/>
                <a:rect l="l" t="t" r="r" b="b"/>
                <a:pathLst>
                  <a:path w="878027" h="878027">
                    <a:moveTo>
                      <a:pt x="0" y="0"/>
                    </a:moveTo>
                    <a:lnTo>
                      <a:pt x="878028" y="0"/>
                    </a:lnTo>
                    <a:lnTo>
                      <a:pt x="878028" y="878027"/>
                    </a:lnTo>
                    <a:lnTo>
                      <a:pt x="0" y="87802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46" name="Freeform 66">
                <a:extLst>
                  <a:ext uri="{FF2B5EF4-FFF2-40B4-BE49-F238E27FC236}">
                    <a16:creationId xmlns:a16="http://schemas.microsoft.com/office/drawing/2014/main" id="{C5FE8C3A-7BD7-C881-A99D-4F73A060C671}"/>
                  </a:ext>
                </a:extLst>
              </p:cNvPr>
              <p:cNvSpPr/>
              <p:nvPr/>
            </p:nvSpPr>
            <p:spPr>
              <a:xfrm>
                <a:off x="2756683" y="285088"/>
                <a:ext cx="1862988" cy="830854"/>
              </a:xfrm>
              <a:custGeom>
                <a:avLst/>
                <a:gdLst/>
                <a:ahLst/>
                <a:cxnLst/>
                <a:rect l="l" t="t" r="r" b="b"/>
                <a:pathLst>
                  <a:path w="1862988" h="830854">
                    <a:moveTo>
                      <a:pt x="0" y="0"/>
                    </a:moveTo>
                    <a:lnTo>
                      <a:pt x="1862988" y="0"/>
                    </a:lnTo>
                    <a:lnTo>
                      <a:pt x="1862988" y="830854"/>
                    </a:lnTo>
                    <a:lnTo>
                      <a:pt x="0" y="83085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24225"/>
                </a:stretch>
              </a:blipFill>
            </p:spPr>
            <p:txBody>
              <a:bodyPr/>
              <a:lstStyle/>
              <a:p>
                <a:endParaRPr lang="en-TW"/>
              </a:p>
            </p:txBody>
          </p:sp>
        </p:grpSp>
        <p:sp>
          <p:nvSpPr>
            <p:cNvPr id="55" name="Freeform 78">
              <a:extLst>
                <a:ext uri="{FF2B5EF4-FFF2-40B4-BE49-F238E27FC236}">
                  <a16:creationId xmlns:a16="http://schemas.microsoft.com/office/drawing/2014/main" id="{2A1A0F26-14DC-0EBE-0BF6-287315FA2863}"/>
                </a:ext>
              </a:extLst>
            </p:cNvPr>
            <p:cNvSpPr/>
            <p:nvPr/>
          </p:nvSpPr>
          <p:spPr>
            <a:xfrm>
              <a:off x="8432469" y="6137766"/>
              <a:ext cx="827389" cy="630320"/>
            </a:xfrm>
            <a:custGeom>
              <a:avLst/>
              <a:gdLst/>
              <a:ahLst/>
              <a:cxnLst/>
              <a:rect l="l" t="t" r="r" b="b"/>
              <a:pathLst>
                <a:path w="827389" h="630320">
                  <a:moveTo>
                    <a:pt x="0" y="0"/>
                  </a:moveTo>
                  <a:lnTo>
                    <a:pt x="827390" y="0"/>
                  </a:lnTo>
                  <a:lnTo>
                    <a:pt x="827390" y="630321"/>
                  </a:lnTo>
                  <a:lnTo>
                    <a:pt x="0" y="630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grpSp>
        <p:nvGrpSpPr>
          <p:cNvPr id="5" name="Group 42">
            <a:extLst>
              <a:ext uri="{FF2B5EF4-FFF2-40B4-BE49-F238E27FC236}">
                <a16:creationId xmlns:a16="http://schemas.microsoft.com/office/drawing/2014/main" id="{DB2F2A8B-723B-BEC9-272C-CCB9632307C1}"/>
              </a:ext>
            </a:extLst>
          </p:cNvPr>
          <p:cNvGrpSpPr/>
          <p:nvPr/>
        </p:nvGrpSpPr>
        <p:grpSpPr>
          <a:xfrm>
            <a:off x="1898495" y="2754304"/>
            <a:ext cx="6673320" cy="969026"/>
            <a:chOff x="0" y="0"/>
            <a:chExt cx="8897760" cy="1292034"/>
          </a:xfrm>
        </p:grpSpPr>
        <p:grpSp>
          <p:nvGrpSpPr>
            <p:cNvPr id="11" name="Group 43">
              <a:extLst>
                <a:ext uri="{FF2B5EF4-FFF2-40B4-BE49-F238E27FC236}">
                  <a16:creationId xmlns:a16="http://schemas.microsoft.com/office/drawing/2014/main" id="{5EDD5787-C5FC-EAA0-80C5-4193736B8767}"/>
                </a:ext>
              </a:extLst>
            </p:cNvPr>
            <p:cNvGrpSpPr/>
            <p:nvPr/>
          </p:nvGrpSpPr>
          <p:grpSpPr>
            <a:xfrm>
              <a:off x="0" y="0"/>
              <a:ext cx="1292034" cy="1292034"/>
              <a:chOff x="0" y="0"/>
              <a:chExt cx="812800" cy="812800"/>
            </a:xfrm>
          </p:grpSpPr>
          <p:sp>
            <p:nvSpPr>
              <p:cNvPr id="36" name="Freeform 44">
                <a:extLst>
                  <a:ext uri="{FF2B5EF4-FFF2-40B4-BE49-F238E27FC236}">
                    <a16:creationId xmlns:a16="http://schemas.microsoft.com/office/drawing/2014/main" id="{CCCA6DB1-0F39-1B77-370A-2B3765CBD5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38" name="TextBox 45">
                <a:extLst>
                  <a:ext uri="{FF2B5EF4-FFF2-40B4-BE49-F238E27FC236}">
                    <a16:creationId xmlns:a16="http://schemas.microsoft.com/office/drawing/2014/main" id="{FE1E7B53-5612-4AA3-6849-14B37ED0D188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6" name="Freeform 46">
              <a:extLst>
                <a:ext uri="{FF2B5EF4-FFF2-40B4-BE49-F238E27FC236}">
                  <a16:creationId xmlns:a16="http://schemas.microsoft.com/office/drawing/2014/main" id="{8D3F8BA0-6693-C73C-0E0E-CBD1124CBABE}"/>
                </a:ext>
              </a:extLst>
            </p:cNvPr>
            <p:cNvSpPr/>
            <p:nvPr/>
          </p:nvSpPr>
          <p:spPr>
            <a:xfrm>
              <a:off x="243223" y="154683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2"/>
                  </a:lnTo>
                  <a:lnTo>
                    <a:pt x="0" y="97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29" name="Group 47">
              <a:extLst>
                <a:ext uri="{FF2B5EF4-FFF2-40B4-BE49-F238E27FC236}">
                  <a16:creationId xmlns:a16="http://schemas.microsoft.com/office/drawing/2014/main" id="{F5B945A2-BF55-DD2A-88E9-6054E38C0CD2}"/>
                </a:ext>
              </a:extLst>
            </p:cNvPr>
            <p:cNvGrpSpPr/>
            <p:nvPr/>
          </p:nvGrpSpPr>
          <p:grpSpPr>
            <a:xfrm>
              <a:off x="1561077" y="0"/>
              <a:ext cx="7336683" cy="1292034"/>
              <a:chOff x="0" y="0"/>
              <a:chExt cx="1449221" cy="255217"/>
            </a:xfrm>
          </p:grpSpPr>
          <p:sp>
            <p:nvSpPr>
              <p:cNvPr id="31" name="Freeform 48">
                <a:extLst>
                  <a:ext uri="{FF2B5EF4-FFF2-40B4-BE49-F238E27FC236}">
                    <a16:creationId xmlns:a16="http://schemas.microsoft.com/office/drawing/2014/main" id="{16553693-2F21-B379-0550-2CCF2CBA4006}"/>
                  </a:ext>
                </a:extLst>
              </p:cNvPr>
              <p:cNvSpPr/>
              <p:nvPr/>
            </p:nvSpPr>
            <p:spPr>
              <a:xfrm>
                <a:off x="0" y="0"/>
                <a:ext cx="1449221" cy="255217"/>
              </a:xfrm>
              <a:custGeom>
                <a:avLst/>
                <a:gdLst/>
                <a:ahLst/>
                <a:cxnLst/>
                <a:rect l="l" t="t" r="r" b="b"/>
                <a:pathLst>
                  <a:path w="1449221" h="255217">
                    <a:moveTo>
                      <a:pt x="22531" y="0"/>
                    </a:moveTo>
                    <a:lnTo>
                      <a:pt x="1426690" y="0"/>
                    </a:lnTo>
                    <a:cubicBezTo>
                      <a:pt x="1432666" y="0"/>
                      <a:pt x="1438397" y="2374"/>
                      <a:pt x="1442622" y="6599"/>
                    </a:cubicBezTo>
                    <a:cubicBezTo>
                      <a:pt x="1446848" y="10825"/>
                      <a:pt x="1449221" y="16556"/>
                      <a:pt x="1449221" y="22531"/>
                    </a:cubicBezTo>
                    <a:lnTo>
                      <a:pt x="1449221" y="232686"/>
                    </a:lnTo>
                    <a:cubicBezTo>
                      <a:pt x="1449221" y="238661"/>
                      <a:pt x="1446848" y="244392"/>
                      <a:pt x="1442622" y="248617"/>
                    </a:cubicBezTo>
                    <a:cubicBezTo>
                      <a:pt x="1438397" y="252843"/>
                      <a:pt x="1432666" y="255217"/>
                      <a:pt x="1426690" y="255217"/>
                    </a:cubicBezTo>
                    <a:lnTo>
                      <a:pt x="22531" y="255217"/>
                    </a:lnTo>
                    <a:cubicBezTo>
                      <a:pt x="16556" y="255217"/>
                      <a:pt x="10825" y="252843"/>
                      <a:pt x="6599" y="248617"/>
                    </a:cubicBezTo>
                    <a:cubicBezTo>
                      <a:pt x="2374" y="244392"/>
                      <a:pt x="0" y="238661"/>
                      <a:pt x="0" y="232686"/>
                    </a:cubicBezTo>
                    <a:lnTo>
                      <a:pt x="0" y="22531"/>
                    </a:lnTo>
                    <a:cubicBezTo>
                      <a:pt x="0" y="16556"/>
                      <a:pt x="2374" y="10825"/>
                      <a:pt x="6599" y="6599"/>
                    </a:cubicBezTo>
                    <a:cubicBezTo>
                      <a:pt x="10825" y="2374"/>
                      <a:pt x="16556" y="0"/>
                      <a:pt x="22531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35" name="TextBox 49">
                <a:extLst>
                  <a:ext uri="{FF2B5EF4-FFF2-40B4-BE49-F238E27FC236}">
                    <a16:creationId xmlns:a16="http://schemas.microsoft.com/office/drawing/2014/main" id="{111C40C8-675A-E53E-22D6-57D22816286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9221" cy="283792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50">
              <a:extLst>
                <a:ext uri="{FF2B5EF4-FFF2-40B4-BE49-F238E27FC236}">
                  <a16:creationId xmlns:a16="http://schemas.microsoft.com/office/drawing/2014/main" id="{675B0761-B914-608E-1CA2-8A49FCA8157A}"/>
                </a:ext>
              </a:extLst>
            </p:cNvPr>
            <p:cNvSpPr txBox="1"/>
            <p:nvPr/>
          </p:nvSpPr>
          <p:spPr>
            <a:xfrm>
              <a:off x="1704945" y="296556"/>
              <a:ext cx="7048948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分享你在IBM當intern的經驗</a:t>
              </a:r>
            </a:p>
          </p:txBody>
        </p:sp>
      </p:grpSp>
      <p:grpSp>
        <p:nvGrpSpPr>
          <p:cNvPr id="39" name="Group 51">
            <a:extLst>
              <a:ext uri="{FF2B5EF4-FFF2-40B4-BE49-F238E27FC236}">
                <a16:creationId xmlns:a16="http://schemas.microsoft.com/office/drawing/2014/main" id="{5FE33A0F-1D2B-48AC-B5BD-1B722D4C6EB3}"/>
              </a:ext>
            </a:extLst>
          </p:cNvPr>
          <p:cNvGrpSpPr/>
          <p:nvPr/>
        </p:nvGrpSpPr>
        <p:grpSpPr>
          <a:xfrm>
            <a:off x="1898495" y="7350789"/>
            <a:ext cx="6673320" cy="1575119"/>
            <a:chOff x="0" y="0"/>
            <a:chExt cx="8897760" cy="2100159"/>
          </a:xfrm>
        </p:grpSpPr>
        <p:grpSp>
          <p:nvGrpSpPr>
            <p:cNvPr id="41" name="Group 52">
              <a:extLst>
                <a:ext uri="{FF2B5EF4-FFF2-40B4-BE49-F238E27FC236}">
                  <a16:creationId xmlns:a16="http://schemas.microsoft.com/office/drawing/2014/main" id="{FA91A4C2-8DC4-7EA9-AEDC-A70D4918DD71}"/>
                </a:ext>
              </a:extLst>
            </p:cNvPr>
            <p:cNvGrpSpPr/>
            <p:nvPr/>
          </p:nvGrpSpPr>
          <p:grpSpPr>
            <a:xfrm>
              <a:off x="0" y="808124"/>
              <a:ext cx="1292034" cy="1292034"/>
              <a:chOff x="0" y="0"/>
              <a:chExt cx="812800" cy="812800"/>
            </a:xfrm>
          </p:grpSpPr>
          <p:sp>
            <p:nvSpPr>
              <p:cNvPr id="56" name="Freeform 53">
                <a:extLst>
                  <a:ext uri="{FF2B5EF4-FFF2-40B4-BE49-F238E27FC236}">
                    <a16:creationId xmlns:a16="http://schemas.microsoft.com/office/drawing/2014/main" id="{E9F0DF7A-CB51-7913-7B31-B0F57D3CD45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11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8" name="TextBox 54">
                <a:extLst>
                  <a:ext uri="{FF2B5EF4-FFF2-40B4-BE49-F238E27FC236}">
                    <a16:creationId xmlns:a16="http://schemas.microsoft.com/office/drawing/2014/main" id="{483C97A0-AD0A-9767-BD5D-E972B2ABE220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2" name="Freeform 55">
              <a:extLst>
                <a:ext uri="{FF2B5EF4-FFF2-40B4-BE49-F238E27FC236}">
                  <a16:creationId xmlns:a16="http://schemas.microsoft.com/office/drawing/2014/main" id="{7C5A1D58-F15F-2C41-981A-69EE28A930B8}"/>
                </a:ext>
              </a:extLst>
            </p:cNvPr>
            <p:cNvSpPr/>
            <p:nvPr/>
          </p:nvSpPr>
          <p:spPr>
            <a:xfrm>
              <a:off x="243223" y="962808"/>
              <a:ext cx="805588" cy="971652"/>
            </a:xfrm>
            <a:custGeom>
              <a:avLst/>
              <a:gdLst/>
              <a:ahLst/>
              <a:cxnLst/>
              <a:rect l="l" t="t" r="r" b="b"/>
              <a:pathLst>
                <a:path w="805588" h="971652">
                  <a:moveTo>
                    <a:pt x="0" y="0"/>
                  </a:moveTo>
                  <a:lnTo>
                    <a:pt x="805588" y="0"/>
                  </a:lnTo>
                  <a:lnTo>
                    <a:pt x="805588" y="971651"/>
                  </a:lnTo>
                  <a:lnTo>
                    <a:pt x="0" y="971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grpSp>
          <p:nvGrpSpPr>
            <p:cNvPr id="44" name="Group 56">
              <a:extLst>
                <a:ext uri="{FF2B5EF4-FFF2-40B4-BE49-F238E27FC236}">
                  <a16:creationId xmlns:a16="http://schemas.microsoft.com/office/drawing/2014/main" id="{DF6D1C65-DCAD-25E7-8DFC-FCB847357F3E}"/>
                </a:ext>
              </a:extLst>
            </p:cNvPr>
            <p:cNvGrpSpPr/>
            <p:nvPr/>
          </p:nvGrpSpPr>
          <p:grpSpPr>
            <a:xfrm>
              <a:off x="1561077" y="0"/>
              <a:ext cx="7336683" cy="2100159"/>
              <a:chOff x="0" y="0"/>
              <a:chExt cx="1449221" cy="414846"/>
            </a:xfrm>
          </p:grpSpPr>
          <p:sp>
            <p:nvSpPr>
              <p:cNvPr id="51" name="Freeform 57">
                <a:extLst>
                  <a:ext uri="{FF2B5EF4-FFF2-40B4-BE49-F238E27FC236}">
                    <a16:creationId xmlns:a16="http://schemas.microsoft.com/office/drawing/2014/main" id="{CD12157D-B598-511B-683B-5FB13263EC71}"/>
                  </a:ext>
                </a:extLst>
              </p:cNvPr>
              <p:cNvSpPr/>
              <p:nvPr/>
            </p:nvSpPr>
            <p:spPr>
              <a:xfrm>
                <a:off x="0" y="0"/>
                <a:ext cx="1449221" cy="414846"/>
              </a:xfrm>
              <a:custGeom>
                <a:avLst/>
                <a:gdLst/>
                <a:ahLst/>
                <a:cxnLst/>
                <a:rect l="l" t="t" r="r" b="b"/>
                <a:pathLst>
                  <a:path w="1449221" h="414846">
                    <a:moveTo>
                      <a:pt x="22531" y="0"/>
                    </a:moveTo>
                    <a:lnTo>
                      <a:pt x="1426690" y="0"/>
                    </a:lnTo>
                    <a:cubicBezTo>
                      <a:pt x="1432666" y="0"/>
                      <a:pt x="1438397" y="2374"/>
                      <a:pt x="1442622" y="6599"/>
                    </a:cubicBezTo>
                    <a:cubicBezTo>
                      <a:pt x="1446848" y="10825"/>
                      <a:pt x="1449221" y="16556"/>
                      <a:pt x="1449221" y="22531"/>
                    </a:cubicBezTo>
                    <a:lnTo>
                      <a:pt x="1449221" y="392315"/>
                    </a:lnTo>
                    <a:cubicBezTo>
                      <a:pt x="1449221" y="404759"/>
                      <a:pt x="1439134" y="414846"/>
                      <a:pt x="1426690" y="414846"/>
                    </a:cubicBezTo>
                    <a:lnTo>
                      <a:pt x="22531" y="414846"/>
                    </a:lnTo>
                    <a:cubicBezTo>
                      <a:pt x="16556" y="414846"/>
                      <a:pt x="10825" y="412472"/>
                      <a:pt x="6599" y="408247"/>
                    </a:cubicBezTo>
                    <a:cubicBezTo>
                      <a:pt x="2374" y="404022"/>
                      <a:pt x="0" y="398291"/>
                      <a:pt x="0" y="392315"/>
                    </a:cubicBezTo>
                    <a:lnTo>
                      <a:pt x="0" y="22531"/>
                    </a:lnTo>
                    <a:cubicBezTo>
                      <a:pt x="0" y="16556"/>
                      <a:pt x="2374" y="10825"/>
                      <a:pt x="6599" y="6599"/>
                    </a:cubicBezTo>
                    <a:cubicBezTo>
                      <a:pt x="10825" y="2374"/>
                      <a:pt x="16556" y="0"/>
                      <a:pt x="22531" y="0"/>
                    </a:cubicBez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2" name="TextBox 58">
                <a:extLst>
                  <a:ext uri="{FF2B5EF4-FFF2-40B4-BE49-F238E27FC236}">
                    <a16:creationId xmlns:a16="http://schemas.microsoft.com/office/drawing/2014/main" id="{9EA1AC1A-F63B-206C-8216-751291627FF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49221" cy="443421"/>
              </a:xfrm>
              <a:prstGeom prst="rect">
                <a:avLst/>
              </a:prstGeom>
            </p:spPr>
            <p:txBody>
              <a:bodyPr lIns="161785" tIns="161785" rIns="161785" bIns="16178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5" name="TextBox 59">
              <a:extLst>
                <a:ext uri="{FF2B5EF4-FFF2-40B4-BE49-F238E27FC236}">
                  <a16:creationId xmlns:a16="http://schemas.microsoft.com/office/drawing/2014/main" id="{04B10113-8075-0133-36E6-05EF013D5C3E}"/>
                </a:ext>
              </a:extLst>
            </p:cNvPr>
            <p:cNvSpPr txBox="1"/>
            <p:nvPr/>
          </p:nvSpPr>
          <p:spPr>
            <a:xfrm>
              <a:off x="2129471" y="370418"/>
              <a:ext cx="6136507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123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為何使用NEXT.JS做系統開發</a:t>
              </a:r>
              <a:r>
                <a:rPr lang="en-US" sz="2800" spc="123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,</a:t>
              </a:r>
            </a:p>
            <a:p>
              <a:pPr algn="l">
                <a:lnSpc>
                  <a:spcPts val="3920"/>
                </a:lnSpc>
              </a:pPr>
              <a:r>
                <a:rPr lang="en-US" sz="2800" spc="123" err="1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使用上遇過哪些困難</a:t>
              </a:r>
              <a:r>
                <a:rPr lang="en-US" sz="2800" spc="123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700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9169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Freeform 10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3703320" y="9149620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703320" y="9133109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!!board2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7874506" y="792477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7874506" y="790825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7874506" y="9133109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7874506" y="9116598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!!board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3733800" y="7902542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733800" y="7886031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2045692" y="793692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2045692" y="792041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255275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762000" y="-3581400"/>
            <a:ext cx="21015492" cy="153647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7D776C42-0AB9-2789-535E-2597456B5305}"/>
              </a:ext>
            </a:extLst>
          </p:cNvPr>
          <p:cNvSpPr txBox="1"/>
          <p:nvPr/>
        </p:nvSpPr>
        <p:spPr>
          <a:xfrm>
            <a:off x="1028700" y="1187768"/>
            <a:ext cx="1923554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回饋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B9B2216D-556A-6A56-1E12-F04154C55084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僅做文本情感分析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CFB937D5-D755-54F4-F65A-0B4217737A40}"/>
              </a:ext>
            </a:extLst>
          </p:cNvPr>
          <p:cNvSpPr txBox="1"/>
          <p:nvPr/>
        </p:nvSpPr>
        <p:spPr>
          <a:xfrm>
            <a:off x="2753264" y="1386471"/>
            <a:ext cx="4323239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985067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762000" y="-3581400"/>
            <a:ext cx="21015492" cy="153647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1" name="TextBox 19">
            <a:extLst>
              <a:ext uri="{FF2B5EF4-FFF2-40B4-BE49-F238E27FC236}">
                <a16:creationId xmlns:a16="http://schemas.microsoft.com/office/drawing/2014/main" id="{B9B2216D-556A-6A56-1E12-F04154C55084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僅做文本情感分析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3E3D4E-0FC2-612B-450E-4F49878702F3}"/>
              </a:ext>
            </a:extLst>
          </p:cNvPr>
          <p:cNvGrpSpPr/>
          <p:nvPr/>
        </p:nvGrpSpPr>
        <p:grpSpPr>
          <a:xfrm>
            <a:off x="5067299" y="4545874"/>
            <a:ext cx="8153401" cy="4864805"/>
            <a:chOff x="642390" y="6296179"/>
            <a:chExt cx="5028432" cy="266345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1DC64E0-C2A2-66F8-31BA-F7BC99CFDB0C}"/>
                </a:ext>
              </a:extLst>
            </p:cNvPr>
            <p:cNvGrpSpPr/>
            <p:nvPr/>
          </p:nvGrpSpPr>
          <p:grpSpPr>
            <a:xfrm>
              <a:off x="642390" y="6296179"/>
              <a:ext cx="5028432" cy="2663450"/>
              <a:chOff x="0" y="441087"/>
              <a:chExt cx="6704576" cy="3551266"/>
            </a:xfrm>
          </p:grpSpPr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EC4E4D7-8059-EE93-1FD8-C8537F40D228}"/>
                  </a:ext>
                </a:extLst>
              </p:cNvPr>
              <p:cNvSpPr/>
              <p:nvPr/>
            </p:nvSpPr>
            <p:spPr>
              <a:xfrm>
                <a:off x="0" y="441087"/>
                <a:ext cx="6704576" cy="3551266"/>
              </a:xfrm>
              <a:custGeom>
                <a:avLst/>
                <a:gdLst/>
                <a:ahLst/>
                <a:cxnLst/>
                <a:rect l="l" t="t" r="r" b="b"/>
                <a:pathLst>
                  <a:path w="6704576" h="3992352">
                    <a:moveTo>
                      <a:pt x="0" y="0"/>
                    </a:moveTo>
                    <a:lnTo>
                      <a:pt x="6704576" y="0"/>
                    </a:lnTo>
                    <a:lnTo>
                      <a:pt x="6704576" y="3992352"/>
                    </a:lnTo>
                    <a:lnTo>
                      <a:pt x="0" y="39923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TW"/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8C07AFE5-C22D-DC47-53CD-0790D6C68B72}"/>
                </a:ext>
              </a:extLst>
            </p:cNvPr>
            <p:cNvGrpSpPr/>
            <p:nvPr/>
          </p:nvGrpSpPr>
          <p:grpSpPr>
            <a:xfrm>
              <a:off x="1247737" y="6820428"/>
              <a:ext cx="3817734" cy="602422"/>
              <a:chOff x="-2" y="259615"/>
              <a:chExt cx="3517214" cy="555001"/>
            </a:xfrm>
          </p:grpSpPr>
          <p:sp>
            <p:nvSpPr>
              <p:cNvPr id="8" name="Freeform 9">
                <a:extLst>
                  <a:ext uri="{FF2B5EF4-FFF2-40B4-BE49-F238E27FC236}">
                    <a16:creationId xmlns:a16="http://schemas.microsoft.com/office/drawing/2014/main" id="{E8BB82D6-E37F-2437-CB80-375D86CE7E10}"/>
                  </a:ext>
                </a:extLst>
              </p:cNvPr>
              <p:cNvSpPr/>
              <p:nvPr/>
            </p:nvSpPr>
            <p:spPr>
              <a:xfrm>
                <a:off x="-2" y="259615"/>
                <a:ext cx="3517214" cy="509214"/>
              </a:xfrm>
              <a:custGeom>
                <a:avLst/>
                <a:gdLst/>
                <a:ahLst/>
                <a:cxnLst/>
                <a:rect l="l" t="t" r="r" b="b"/>
                <a:pathLst>
                  <a:path w="3517214" h="509214">
                    <a:moveTo>
                      <a:pt x="3314014" y="0"/>
                    </a:moveTo>
                    <a:cubicBezTo>
                      <a:pt x="3426238" y="0"/>
                      <a:pt x="3517214" y="113991"/>
                      <a:pt x="3517214" y="254607"/>
                    </a:cubicBezTo>
                    <a:cubicBezTo>
                      <a:pt x="3517214" y="395223"/>
                      <a:pt x="3426238" y="509214"/>
                      <a:pt x="3314014" y="509214"/>
                    </a:cubicBezTo>
                    <a:lnTo>
                      <a:pt x="203200" y="509214"/>
                    </a:lnTo>
                    <a:cubicBezTo>
                      <a:pt x="90976" y="509214"/>
                      <a:pt x="0" y="395223"/>
                      <a:pt x="0" y="254607"/>
                    </a:cubicBezTo>
                    <a:cubicBezTo>
                      <a:pt x="0" y="11399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9" name="TextBox 10">
                <a:extLst>
                  <a:ext uri="{FF2B5EF4-FFF2-40B4-BE49-F238E27FC236}">
                    <a16:creationId xmlns:a16="http://schemas.microsoft.com/office/drawing/2014/main" id="{448FDC1C-67A5-2BF9-25D2-F1375C47218A}"/>
                  </a:ext>
                </a:extLst>
              </p:cNvPr>
              <p:cNvSpPr txBox="1"/>
              <p:nvPr/>
            </p:nvSpPr>
            <p:spPr>
              <a:xfrm>
                <a:off x="-2" y="295877"/>
                <a:ext cx="3517213" cy="518739"/>
              </a:xfrm>
              <a:prstGeom prst="rect">
                <a:avLst/>
              </a:prstGeom>
            </p:spPr>
            <p:txBody>
              <a:bodyPr lIns="68109" tIns="68109" rIns="68109" bIns="68109" rtlCol="0" anchor="ctr"/>
              <a:lstStyle/>
              <a:p>
                <a:pPr algn="ctr">
                  <a:lnSpc>
                    <a:spcPts val="2760"/>
                  </a:lnSpc>
                </a:pPr>
                <a:r>
                  <a:rPr lang="en-US" sz="5400" err="1">
                    <a:solidFill>
                      <a:srgbClr val="000000"/>
                    </a:solidFill>
                    <a:latin typeface="可畫和劑局方明刻本-繁"/>
                    <a:ea typeface="可畫和劑局方明刻本-繁"/>
                    <a:cs typeface="可畫和劑局方明刻本-繁"/>
                    <a:sym typeface="可畫和劑局方明刻本-繁"/>
                  </a:rPr>
                  <a:t>回答內容</a:t>
                </a:r>
                <a:endParaRPr lang="en-US" sz="5400">
                  <a:solidFill>
                    <a:srgbClr val="000000"/>
                  </a:solidFill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endParaRPr>
              </a:p>
            </p:txBody>
          </p:sp>
        </p:grpSp>
      </p:grpSp>
      <p:sp>
        <p:nvSpPr>
          <p:cNvPr id="17" name="TextBox 18">
            <a:extLst>
              <a:ext uri="{FF2B5EF4-FFF2-40B4-BE49-F238E27FC236}">
                <a16:creationId xmlns:a16="http://schemas.microsoft.com/office/drawing/2014/main" id="{0140D3A8-F544-29DA-3E6D-ADDD6D64B042}"/>
              </a:ext>
            </a:extLst>
          </p:cNvPr>
          <p:cNvSpPr txBox="1"/>
          <p:nvPr/>
        </p:nvSpPr>
        <p:spPr>
          <a:xfrm>
            <a:off x="1028700" y="1187768"/>
            <a:ext cx="1923554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回饋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  <p:sp>
        <p:nvSpPr>
          <p:cNvPr id="13" name="TextBox 19">
            <a:extLst>
              <a:ext uri="{FF2B5EF4-FFF2-40B4-BE49-F238E27FC236}">
                <a16:creationId xmlns:a16="http://schemas.microsoft.com/office/drawing/2014/main" id="{30504323-3334-03D2-D8CD-BC7808A0C237}"/>
              </a:ext>
            </a:extLst>
          </p:cNvPr>
          <p:cNvSpPr txBox="1"/>
          <p:nvPr/>
        </p:nvSpPr>
        <p:spPr>
          <a:xfrm>
            <a:off x="2753264" y="1386471"/>
            <a:ext cx="4323239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3518071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762000" y="-3581400"/>
            <a:ext cx="21015492" cy="153647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1" name="TextBox 19">
            <a:extLst>
              <a:ext uri="{FF2B5EF4-FFF2-40B4-BE49-F238E27FC236}">
                <a16:creationId xmlns:a16="http://schemas.microsoft.com/office/drawing/2014/main" id="{B9B2216D-556A-6A56-1E12-F04154C55084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 − 僅做文本情感分析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4B398E-2EAF-1E4B-D11D-DEFBE881FDFC}"/>
              </a:ext>
            </a:extLst>
          </p:cNvPr>
          <p:cNvGrpSpPr/>
          <p:nvPr/>
        </p:nvGrpSpPr>
        <p:grpSpPr>
          <a:xfrm>
            <a:off x="4902249" y="4402180"/>
            <a:ext cx="8508472" cy="5035949"/>
            <a:chOff x="0" y="0"/>
            <a:chExt cx="12089565" cy="719896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41F364B-DEA7-2C4D-49CD-42F93C7484DA}"/>
                </a:ext>
              </a:extLst>
            </p:cNvPr>
            <p:cNvSpPr/>
            <p:nvPr/>
          </p:nvSpPr>
          <p:spPr>
            <a:xfrm>
              <a:off x="0" y="0"/>
              <a:ext cx="12089565" cy="7198933"/>
            </a:xfrm>
            <a:custGeom>
              <a:avLst/>
              <a:gdLst/>
              <a:ahLst/>
              <a:cxnLst/>
              <a:rect l="l" t="t" r="r" b="b"/>
              <a:pathLst>
                <a:path w="12089565" h="7198933">
                  <a:moveTo>
                    <a:pt x="0" y="0"/>
                  </a:moveTo>
                  <a:lnTo>
                    <a:pt x="12089565" y="0"/>
                  </a:lnTo>
                  <a:lnTo>
                    <a:pt x="12089565" y="7198933"/>
                  </a:lnTo>
                  <a:lnTo>
                    <a:pt x="0" y="7198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sp>
        <p:nvSpPr>
          <p:cNvPr id="14" name="TextBox 19">
            <a:extLst>
              <a:ext uri="{FF2B5EF4-FFF2-40B4-BE49-F238E27FC236}">
                <a16:creationId xmlns:a16="http://schemas.microsoft.com/office/drawing/2014/main" id="{926739DA-F3A1-55A8-C50E-1195CB52DD51}"/>
              </a:ext>
            </a:extLst>
          </p:cNvPr>
          <p:cNvSpPr txBox="1"/>
          <p:nvPr/>
        </p:nvSpPr>
        <p:spPr>
          <a:xfrm>
            <a:off x="2753264" y="1386471"/>
            <a:ext cx="4323239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ACC5005-52E7-0BBB-E9D8-3892A5BF0FBA}"/>
              </a:ext>
            </a:extLst>
          </p:cNvPr>
          <p:cNvSpPr txBox="1"/>
          <p:nvPr/>
        </p:nvSpPr>
        <p:spPr>
          <a:xfrm>
            <a:off x="1028700" y="1187768"/>
            <a:ext cx="1923554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回饋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</p:spTree>
    <p:extLst>
      <p:ext uri="{BB962C8B-B14F-4D97-AF65-F5344CB8AC3E}">
        <p14:creationId xmlns:p14="http://schemas.microsoft.com/office/powerpoint/2010/main" val="2409650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>
            <a:grpSpLocks noChangeAspect="1"/>
          </p:cNvGrpSpPr>
          <p:nvPr/>
        </p:nvGrpSpPr>
        <p:grpSpPr>
          <a:xfrm>
            <a:off x="-762000" y="-3695133"/>
            <a:ext cx="21015492" cy="153647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7098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2625306" y="2991043"/>
            <a:ext cx="5562600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B9B2216D-556A-6A56-1E12-F04154C55084}"/>
              </a:ext>
            </a:extLst>
          </p:cNvPr>
          <p:cNvSpPr txBox="1"/>
          <p:nvPr/>
        </p:nvSpPr>
        <p:spPr>
          <a:xfrm>
            <a:off x="1028700" y="679132"/>
            <a:ext cx="7375619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改善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無錯題紀錄</a:t>
            </a:r>
            <a:r>
              <a:rPr lang="en-US" sz="3599" spc="158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</a:t>
            </a:r>
            <a:r>
              <a:rPr lang="en-US" sz="3599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無法再次練習</a:t>
            </a:r>
            <a:endParaRPr lang="en-US" sz="3599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D418ABDC-DC6C-B904-956F-386A418E9F38}"/>
              </a:ext>
            </a:extLst>
          </p:cNvPr>
          <p:cNvGrpSpPr/>
          <p:nvPr/>
        </p:nvGrpSpPr>
        <p:grpSpPr>
          <a:xfrm>
            <a:off x="4828569" y="3987249"/>
            <a:ext cx="8630861" cy="5139413"/>
            <a:chOff x="0" y="0"/>
            <a:chExt cx="11507815" cy="6852550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2894B4ED-347B-D384-F321-A3CEC0B6688C}"/>
                </a:ext>
              </a:extLst>
            </p:cNvPr>
            <p:cNvSpPr/>
            <p:nvPr/>
          </p:nvSpPr>
          <p:spPr>
            <a:xfrm>
              <a:off x="0" y="0"/>
              <a:ext cx="11507815" cy="6852520"/>
            </a:xfrm>
            <a:custGeom>
              <a:avLst/>
              <a:gdLst/>
              <a:ahLst/>
              <a:cxnLst/>
              <a:rect l="l" t="t" r="r" b="b"/>
              <a:pathLst>
                <a:path w="11507815" h="6852520">
                  <a:moveTo>
                    <a:pt x="0" y="0"/>
                  </a:moveTo>
                  <a:lnTo>
                    <a:pt x="11507815" y="0"/>
                  </a:lnTo>
                  <a:lnTo>
                    <a:pt x="11507815" y="6852520"/>
                  </a:lnTo>
                  <a:lnTo>
                    <a:pt x="0" y="6852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</p:grpSp>
      <p:sp>
        <p:nvSpPr>
          <p:cNvPr id="9" name="TextBox 19">
            <a:extLst>
              <a:ext uri="{FF2B5EF4-FFF2-40B4-BE49-F238E27FC236}">
                <a16:creationId xmlns:a16="http://schemas.microsoft.com/office/drawing/2014/main" id="{63371FF0-9BC9-565C-4B4B-F8CD7A1BF705}"/>
              </a:ext>
            </a:extLst>
          </p:cNvPr>
          <p:cNvSpPr txBox="1"/>
          <p:nvPr/>
        </p:nvSpPr>
        <p:spPr>
          <a:xfrm>
            <a:off x="3117841" y="1356911"/>
            <a:ext cx="5434642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數據分析錯題集合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F29D0E4D-796F-E12C-B1C2-14C249C260C2}"/>
              </a:ext>
            </a:extLst>
          </p:cNvPr>
          <p:cNvSpPr txBox="1"/>
          <p:nvPr/>
        </p:nvSpPr>
        <p:spPr>
          <a:xfrm>
            <a:off x="1028700" y="1187768"/>
            <a:ext cx="1923554" cy="92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回饋</a:t>
            </a:r>
            <a:r>
              <a:rPr lang="en-US" sz="5600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− </a:t>
            </a:r>
          </a:p>
        </p:txBody>
      </p:sp>
    </p:spTree>
    <p:extLst>
      <p:ext uri="{BB962C8B-B14F-4D97-AF65-F5344CB8AC3E}">
        <p14:creationId xmlns:p14="http://schemas.microsoft.com/office/powerpoint/2010/main" val="2916855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9169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1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Freeform 10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3703320" y="9149620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3703320" y="9133109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7874506" y="792477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7874506" y="790825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7874506" y="9133109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7874506" y="9116598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3733800" y="7902542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3733800" y="7886031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353D3292-16CA-DD9F-2C68-BE1E38037DFB}"/>
              </a:ext>
            </a:extLst>
          </p:cNvPr>
          <p:cNvSpPr txBox="1"/>
          <p:nvPr/>
        </p:nvSpPr>
        <p:spPr>
          <a:xfrm>
            <a:off x="12045692" y="906238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2045692" y="793692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2045692" y="792041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1294887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3657600" y="-5328497"/>
            <a:ext cx="26855129" cy="19924161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6000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6" name="Freeform 10">
            <a:extLst>
              <a:ext uri="{FF2B5EF4-FFF2-40B4-BE49-F238E27FC236}">
                <a16:creationId xmlns:a16="http://schemas.microsoft.com/office/drawing/2014/main" id="{EF2B50A0-DF20-D646-3CB0-5E1CC2170F46}"/>
              </a:ext>
            </a:extLst>
          </p:cNvPr>
          <p:cNvSpPr/>
          <p:nvPr/>
        </p:nvSpPr>
        <p:spPr>
          <a:xfrm>
            <a:off x="10842807" y="5452196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CD38298E-0566-ECC8-4E74-C00873CFF4B7}"/>
              </a:ext>
            </a:extLst>
          </p:cNvPr>
          <p:cNvSpPr txBox="1"/>
          <p:nvPr/>
        </p:nvSpPr>
        <p:spPr>
          <a:xfrm>
            <a:off x="10842807" y="5435685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即時語音辨識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FCEE53CA-C214-5A97-52A1-3E2DA93FC5F3}"/>
              </a:ext>
            </a:extLst>
          </p:cNvPr>
          <p:cNvSpPr/>
          <p:nvPr/>
        </p:nvSpPr>
        <p:spPr>
          <a:xfrm>
            <a:off x="6589735" y="5470490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0114DAC-7B20-98F5-ECF8-B3A34081386E}"/>
              </a:ext>
            </a:extLst>
          </p:cNvPr>
          <p:cNvSpPr txBox="1"/>
          <p:nvPr/>
        </p:nvSpPr>
        <p:spPr>
          <a:xfrm>
            <a:off x="6589735" y="5453979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dirty="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數位擬真面試官</a:t>
            </a:r>
            <a:endParaRPr lang="en-US" sz="3300" dirty="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55799F97-9CC1-411C-2B88-5EE730583A66}"/>
              </a:ext>
            </a:extLst>
          </p:cNvPr>
          <p:cNvSpPr/>
          <p:nvPr/>
        </p:nvSpPr>
        <p:spPr>
          <a:xfrm>
            <a:off x="6616631" y="7167631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C5AF01C3-4166-1951-9BFC-440367EA9B62}"/>
              </a:ext>
            </a:extLst>
          </p:cNvPr>
          <p:cNvSpPr txBox="1"/>
          <p:nvPr/>
        </p:nvSpPr>
        <p:spPr>
          <a:xfrm>
            <a:off x="6616631" y="7151120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回覆分析建議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38" name="Freeform 21">
            <a:extLst>
              <a:ext uri="{FF2B5EF4-FFF2-40B4-BE49-F238E27FC236}">
                <a16:creationId xmlns:a16="http://schemas.microsoft.com/office/drawing/2014/main" id="{56A4956C-715C-1FBB-BC87-DC1DBE5EE462}"/>
              </a:ext>
            </a:extLst>
          </p:cNvPr>
          <p:cNvSpPr/>
          <p:nvPr/>
        </p:nvSpPr>
        <p:spPr>
          <a:xfrm>
            <a:off x="6589735" y="3726728"/>
            <a:ext cx="3794647" cy="886612"/>
          </a:xfrm>
          <a:custGeom>
            <a:avLst/>
            <a:gdLst/>
            <a:ahLst/>
            <a:cxnLst/>
            <a:rect l="l" t="t" r="r" b="b"/>
            <a:pathLst>
              <a:path w="2189035" h="511463">
                <a:moveTo>
                  <a:pt x="1985835" y="0"/>
                </a:moveTo>
                <a:cubicBezTo>
                  <a:pt x="2098059" y="0"/>
                  <a:pt x="2189035" y="114495"/>
                  <a:pt x="2189035" y="255732"/>
                </a:cubicBezTo>
                <a:cubicBezTo>
                  <a:pt x="2189035" y="396968"/>
                  <a:pt x="2098059" y="511463"/>
                  <a:pt x="1985835" y="511463"/>
                </a:cubicBezTo>
                <a:lnTo>
                  <a:pt x="203200" y="511463"/>
                </a:lnTo>
                <a:cubicBezTo>
                  <a:pt x="90976" y="511463"/>
                  <a:pt x="0" y="396968"/>
                  <a:pt x="0" y="255732"/>
                </a:cubicBezTo>
                <a:cubicBezTo>
                  <a:pt x="0" y="114495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65DBB28-E41D-0A57-D940-8B441596315C}"/>
              </a:ext>
            </a:extLst>
          </p:cNvPr>
          <p:cNvSpPr txBox="1"/>
          <p:nvPr/>
        </p:nvSpPr>
        <p:spPr>
          <a:xfrm>
            <a:off x="6589735" y="3710217"/>
            <a:ext cx="3794647" cy="9031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個人化題目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4" name="Freeform 27">
            <a:extLst>
              <a:ext uri="{FF2B5EF4-FFF2-40B4-BE49-F238E27FC236}">
                <a16:creationId xmlns:a16="http://schemas.microsoft.com/office/drawing/2014/main" id="{8608EA18-5D3E-009E-D4FE-2B8AAB07E990}"/>
              </a:ext>
            </a:extLst>
          </p:cNvPr>
          <p:cNvSpPr/>
          <p:nvPr/>
        </p:nvSpPr>
        <p:spPr>
          <a:xfrm>
            <a:off x="10842807" y="3750872"/>
            <a:ext cx="3794647" cy="882712"/>
          </a:xfrm>
          <a:custGeom>
            <a:avLst/>
            <a:gdLst/>
            <a:ahLst/>
            <a:cxnLst/>
            <a:rect l="l" t="t" r="r" b="b"/>
            <a:pathLst>
              <a:path w="2189035" h="509214">
                <a:moveTo>
                  <a:pt x="1985835" y="0"/>
                </a:moveTo>
                <a:cubicBezTo>
                  <a:pt x="2098059" y="0"/>
                  <a:pt x="2189035" y="113991"/>
                  <a:pt x="2189035" y="254607"/>
                </a:cubicBezTo>
                <a:cubicBezTo>
                  <a:pt x="2189035" y="395223"/>
                  <a:pt x="2098059" y="509214"/>
                  <a:pt x="1985835" y="509214"/>
                </a:cubicBezTo>
                <a:lnTo>
                  <a:pt x="203200" y="509214"/>
                </a:lnTo>
                <a:cubicBezTo>
                  <a:pt x="90976" y="509214"/>
                  <a:pt x="0" y="395223"/>
                  <a:pt x="0" y="254607"/>
                </a:cubicBezTo>
                <a:cubicBezTo>
                  <a:pt x="0" y="113991"/>
                  <a:pt x="90976" y="0"/>
                  <a:pt x="2032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Box 28">
            <a:extLst>
              <a:ext uri="{FF2B5EF4-FFF2-40B4-BE49-F238E27FC236}">
                <a16:creationId xmlns:a16="http://schemas.microsoft.com/office/drawing/2014/main" id="{2758D3D7-8948-24EC-200D-040CFF767EC1}"/>
              </a:ext>
            </a:extLst>
          </p:cNvPr>
          <p:cNvSpPr txBox="1"/>
          <p:nvPr/>
        </p:nvSpPr>
        <p:spPr>
          <a:xfrm>
            <a:off x="10842807" y="3734361"/>
            <a:ext cx="3794647" cy="899223"/>
          </a:xfrm>
          <a:prstGeom prst="rect">
            <a:avLst/>
          </a:prstGeom>
          <a:ln>
            <a:noFill/>
          </a:ln>
        </p:spPr>
        <p:txBody>
          <a:bodyPr lIns="68109" tIns="68109" rIns="68109" bIns="68109" rtlCol="0" anchor="ctr"/>
          <a:lstStyle/>
          <a:p>
            <a:pPr algn="ctr">
              <a:lnSpc>
                <a:spcPts val="3960"/>
              </a:lnSpc>
            </a:pPr>
            <a:r>
              <a:rPr lang="en-US" sz="3300" err="1">
                <a:solidFill>
                  <a:srgbClr val="000000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情緒分析＆眼神追蹤</a:t>
            </a:r>
            <a:endParaRPr lang="en-US" sz="3300">
              <a:solidFill>
                <a:srgbClr val="000000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4004E2DD-E6F7-19CE-112E-D534B7E6B5AE}"/>
              </a:ext>
            </a:extLst>
          </p:cNvPr>
          <p:cNvSpPr txBox="1"/>
          <p:nvPr/>
        </p:nvSpPr>
        <p:spPr>
          <a:xfrm>
            <a:off x="1123236" y="847725"/>
            <a:ext cx="12059363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效益</a:t>
            </a:r>
            <a:endParaRPr lang="en-US" sz="90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243B686F-89A3-5282-3596-5D236DB586F9}"/>
              </a:ext>
            </a:extLst>
          </p:cNvPr>
          <p:cNvSpPr txBox="1"/>
          <p:nvPr/>
        </p:nvSpPr>
        <p:spPr>
          <a:xfrm>
            <a:off x="3614125" y="3964772"/>
            <a:ext cx="2115911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400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準確度</a:t>
            </a:r>
            <a:endParaRPr lang="en-US" sz="5400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C1142DAE-CE3F-3827-152B-F941AC9B4B0D}"/>
              </a:ext>
            </a:extLst>
          </p:cNvPr>
          <p:cNvSpPr txBox="1"/>
          <p:nvPr/>
        </p:nvSpPr>
        <p:spPr>
          <a:xfrm>
            <a:off x="3614124" y="5610394"/>
            <a:ext cx="2115911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400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真實度</a:t>
            </a:r>
            <a:endParaRPr lang="en-US" sz="5400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C7853B42-2AAD-9AFD-3BC4-DF95FA83DD39}"/>
              </a:ext>
            </a:extLst>
          </p:cNvPr>
          <p:cNvSpPr txBox="1"/>
          <p:nvPr/>
        </p:nvSpPr>
        <p:spPr>
          <a:xfrm>
            <a:off x="3623650" y="7318494"/>
            <a:ext cx="1536524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5400" spc="158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回饋</a:t>
            </a:r>
            <a:endParaRPr lang="en-US" sz="5400" spc="158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1163420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0" y="-3058464"/>
            <a:ext cx="19035232" cy="13916964"/>
            <a:chOff x="-152400" y="-3058464"/>
            <a:chExt cx="19035232" cy="139169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7098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166DA26E-9F73-6FCB-3F4B-7A4F6766C64C}"/>
              </a:ext>
            </a:extLst>
          </p:cNvPr>
          <p:cNvGrpSpPr/>
          <p:nvPr/>
        </p:nvGrpSpPr>
        <p:grpSpPr>
          <a:xfrm>
            <a:off x="6851394" y="3730681"/>
            <a:ext cx="4585212" cy="2092949"/>
            <a:chOff x="0" y="0"/>
            <a:chExt cx="6113616" cy="2896399"/>
          </a:xfrm>
        </p:grpSpPr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F8E19C63-9672-CC34-6EA3-3C28047BBF02}"/>
                </a:ext>
              </a:extLst>
            </p:cNvPr>
            <p:cNvGrpSpPr/>
            <p:nvPr/>
          </p:nvGrpSpPr>
          <p:grpSpPr>
            <a:xfrm>
              <a:off x="0" y="0"/>
              <a:ext cx="6113616" cy="2896399"/>
              <a:chOff x="0" y="0"/>
              <a:chExt cx="1207628" cy="572128"/>
            </a:xfrm>
          </p:grpSpPr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57DA3A05-BDBC-B4E9-5197-CB87BD6C6C91}"/>
                  </a:ext>
                </a:extLst>
              </p:cNvPr>
              <p:cNvSpPr/>
              <p:nvPr/>
            </p:nvSpPr>
            <p:spPr>
              <a:xfrm>
                <a:off x="0" y="0"/>
                <a:ext cx="1207628" cy="572128"/>
              </a:xfrm>
              <a:custGeom>
                <a:avLst/>
                <a:gdLst/>
                <a:ahLst/>
                <a:cxnLst/>
                <a:rect l="l" t="t" r="r" b="b"/>
                <a:pathLst>
                  <a:path w="1207628" h="572128">
                    <a:moveTo>
                      <a:pt x="86111" y="0"/>
                    </a:moveTo>
                    <a:lnTo>
                      <a:pt x="1121517" y="0"/>
                    </a:lnTo>
                    <a:cubicBezTo>
                      <a:pt x="1169075" y="0"/>
                      <a:pt x="1207628" y="38553"/>
                      <a:pt x="1207628" y="86111"/>
                    </a:cubicBezTo>
                    <a:lnTo>
                      <a:pt x="1207628" y="486017"/>
                    </a:lnTo>
                    <a:cubicBezTo>
                      <a:pt x="1207628" y="533575"/>
                      <a:pt x="1169075" y="572128"/>
                      <a:pt x="1121517" y="572128"/>
                    </a:cubicBezTo>
                    <a:lnTo>
                      <a:pt x="86111" y="572128"/>
                    </a:lnTo>
                    <a:cubicBezTo>
                      <a:pt x="38553" y="572128"/>
                      <a:pt x="0" y="533575"/>
                      <a:pt x="0" y="486017"/>
                    </a:cubicBezTo>
                    <a:lnTo>
                      <a:pt x="0" y="86111"/>
                    </a:lnTo>
                    <a:cubicBezTo>
                      <a:pt x="0" y="38553"/>
                      <a:pt x="38553" y="0"/>
                      <a:pt x="8611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16" name="TextBox 10">
                <a:extLst>
                  <a:ext uri="{FF2B5EF4-FFF2-40B4-BE49-F238E27FC236}">
                    <a16:creationId xmlns:a16="http://schemas.microsoft.com/office/drawing/2014/main" id="{CBDA4C89-CA5B-9F3E-E187-367DA4BD9F7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07628" cy="6007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CFD8D75-D8A7-00E3-C851-44B54ADE1B79}"/>
                </a:ext>
              </a:extLst>
            </p:cNvPr>
            <p:cNvSpPr/>
            <p:nvPr/>
          </p:nvSpPr>
          <p:spPr>
            <a:xfrm>
              <a:off x="3446468" y="569087"/>
              <a:ext cx="1473752" cy="1921214"/>
            </a:xfrm>
            <a:custGeom>
              <a:avLst/>
              <a:gdLst/>
              <a:ahLst/>
              <a:cxnLst/>
              <a:rect l="l" t="t" r="r" b="b"/>
              <a:pathLst>
                <a:path w="1473752" h="1921214">
                  <a:moveTo>
                    <a:pt x="0" y="0"/>
                  </a:moveTo>
                  <a:lnTo>
                    <a:pt x="1473752" y="0"/>
                  </a:lnTo>
                  <a:lnTo>
                    <a:pt x="1473752" y="1921214"/>
                  </a:lnTo>
                  <a:lnTo>
                    <a:pt x="0" y="1921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519"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06372903-3A74-FB30-F039-1E9DD8EF3D18}"/>
                </a:ext>
              </a:extLst>
            </p:cNvPr>
            <p:cNvSpPr txBox="1"/>
            <p:nvPr/>
          </p:nvSpPr>
          <p:spPr>
            <a:xfrm>
              <a:off x="258195" y="578677"/>
              <a:ext cx="2751791" cy="65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Backend</a:t>
              </a:r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FC6BC151-8B2A-6555-B8E4-55B42CDCC2FF}"/>
              </a:ext>
            </a:extLst>
          </p:cNvPr>
          <p:cNvGrpSpPr/>
          <p:nvPr/>
        </p:nvGrpSpPr>
        <p:grpSpPr>
          <a:xfrm>
            <a:off x="13343217" y="3730088"/>
            <a:ext cx="4304142" cy="2077276"/>
            <a:chOff x="0" y="0"/>
            <a:chExt cx="5738856" cy="2874711"/>
          </a:xfrm>
        </p:grpSpPr>
        <p:grpSp>
          <p:nvGrpSpPr>
            <p:cNvPr id="18" name="Group 14">
              <a:extLst>
                <a:ext uri="{FF2B5EF4-FFF2-40B4-BE49-F238E27FC236}">
                  <a16:creationId xmlns:a16="http://schemas.microsoft.com/office/drawing/2014/main" id="{79735FDE-03F2-CA52-6C21-EAF962248038}"/>
                </a:ext>
              </a:extLst>
            </p:cNvPr>
            <p:cNvGrpSpPr/>
            <p:nvPr/>
          </p:nvGrpSpPr>
          <p:grpSpPr>
            <a:xfrm>
              <a:off x="0" y="0"/>
              <a:ext cx="5738856" cy="2874711"/>
              <a:chOff x="0" y="0"/>
              <a:chExt cx="1133601" cy="567844"/>
            </a:xfrm>
          </p:grpSpPr>
          <p:sp>
            <p:nvSpPr>
              <p:cNvPr id="21" name="Freeform 15">
                <a:extLst>
                  <a:ext uri="{FF2B5EF4-FFF2-40B4-BE49-F238E27FC236}">
                    <a16:creationId xmlns:a16="http://schemas.microsoft.com/office/drawing/2014/main" id="{103E727A-B1BD-30B2-EBAB-9C7F06B506CC}"/>
                  </a:ext>
                </a:extLst>
              </p:cNvPr>
              <p:cNvSpPr/>
              <p:nvPr/>
            </p:nvSpPr>
            <p:spPr>
              <a:xfrm>
                <a:off x="0" y="0"/>
                <a:ext cx="1133601" cy="567844"/>
              </a:xfrm>
              <a:custGeom>
                <a:avLst/>
                <a:gdLst/>
                <a:ahLst/>
                <a:cxnLst/>
                <a:rect l="l" t="t" r="r" b="b"/>
                <a:pathLst>
                  <a:path w="1133601" h="567844">
                    <a:moveTo>
                      <a:pt x="91734" y="0"/>
                    </a:moveTo>
                    <a:lnTo>
                      <a:pt x="1041867" y="0"/>
                    </a:lnTo>
                    <a:cubicBezTo>
                      <a:pt x="1092530" y="0"/>
                      <a:pt x="1133601" y="41071"/>
                      <a:pt x="1133601" y="91734"/>
                    </a:cubicBezTo>
                    <a:lnTo>
                      <a:pt x="1133601" y="476110"/>
                    </a:lnTo>
                    <a:cubicBezTo>
                      <a:pt x="1133601" y="526773"/>
                      <a:pt x="1092530" y="567844"/>
                      <a:pt x="1041867" y="567844"/>
                    </a:cubicBezTo>
                    <a:lnTo>
                      <a:pt x="91734" y="567844"/>
                    </a:lnTo>
                    <a:cubicBezTo>
                      <a:pt x="41071" y="567844"/>
                      <a:pt x="0" y="526773"/>
                      <a:pt x="0" y="476110"/>
                    </a:cubicBezTo>
                    <a:lnTo>
                      <a:pt x="0" y="91734"/>
                    </a:lnTo>
                    <a:cubicBezTo>
                      <a:pt x="0" y="41071"/>
                      <a:pt x="41071" y="0"/>
                      <a:pt x="917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2" name="TextBox 16">
                <a:extLst>
                  <a:ext uri="{FF2B5EF4-FFF2-40B4-BE49-F238E27FC236}">
                    <a16:creationId xmlns:a16="http://schemas.microsoft.com/office/drawing/2014/main" id="{C078A6B1-AC71-508B-D44B-9E934C628E7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133601" cy="596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8C04B9F4-91CF-55BA-66CF-EB03DD498B0A}"/>
                </a:ext>
              </a:extLst>
            </p:cNvPr>
            <p:cNvSpPr/>
            <p:nvPr/>
          </p:nvSpPr>
          <p:spPr>
            <a:xfrm>
              <a:off x="1164716" y="1342411"/>
              <a:ext cx="3807632" cy="1070897"/>
            </a:xfrm>
            <a:custGeom>
              <a:avLst/>
              <a:gdLst/>
              <a:ahLst/>
              <a:cxnLst/>
              <a:rect l="l" t="t" r="r" b="b"/>
              <a:pathLst>
                <a:path w="3807632" h="1070897">
                  <a:moveTo>
                    <a:pt x="0" y="0"/>
                  </a:moveTo>
                  <a:lnTo>
                    <a:pt x="3807632" y="0"/>
                  </a:lnTo>
                  <a:lnTo>
                    <a:pt x="3807632" y="1070896"/>
                  </a:lnTo>
                  <a:lnTo>
                    <a:pt x="0" y="107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34E9BF2C-E12B-B6B5-5FD0-81975A0877B4}"/>
                </a:ext>
              </a:extLst>
            </p:cNvPr>
            <p:cNvSpPr txBox="1"/>
            <p:nvPr/>
          </p:nvSpPr>
          <p:spPr>
            <a:xfrm>
              <a:off x="0" y="303886"/>
              <a:ext cx="3250291" cy="655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26"/>
                </a:lnSpc>
              </a:pPr>
              <a:r>
                <a:rPr lang="en-US" sz="2947" b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Database</a:t>
              </a: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52EE35AD-145D-EC74-8E09-C87217FD1409}"/>
              </a:ext>
            </a:extLst>
          </p:cNvPr>
          <p:cNvGrpSpPr/>
          <p:nvPr/>
        </p:nvGrpSpPr>
        <p:grpSpPr>
          <a:xfrm>
            <a:off x="721560" y="3823293"/>
            <a:ext cx="4087620" cy="1993670"/>
            <a:chOff x="0" y="0"/>
            <a:chExt cx="5450160" cy="2759009"/>
          </a:xfrm>
        </p:grpSpPr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91FBB280-5290-8773-C6D7-B6B058658011}"/>
                </a:ext>
              </a:extLst>
            </p:cNvPr>
            <p:cNvGrpSpPr/>
            <p:nvPr/>
          </p:nvGrpSpPr>
          <p:grpSpPr>
            <a:xfrm>
              <a:off x="0" y="0"/>
              <a:ext cx="5450160" cy="2759009"/>
              <a:chOff x="0" y="0"/>
              <a:chExt cx="1076575" cy="544990"/>
            </a:xfrm>
          </p:grpSpPr>
          <p:sp>
            <p:nvSpPr>
              <p:cNvPr id="27" name="Freeform 21">
                <a:extLst>
                  <a:ext uri="{FF2B5EF4-FFF2-40B4-BE49-F238E27FC236}">
                    <a16:creationId xmlns:a16="http://schemas.microsoft.com/office/drawing/2014/main" id="{F53EBA9C-73BC-63DC-9AF7-DED7BA05B6CB}"/>
                  </a:ext>
                </a:extLst>
              </p:cNvPr>
              <p:cNvSpPr/>
              <p:nvPr/>
            </p:nvSpPr>
            <p:spPr>
              <a:xfrm>
                <a:off x="0" y="0"/>
                <a:ext cx="1076575" cy="544990"/>
              </a:xfrm>
              <a:custGeom>
                <a:avLst/>
                <a:gdLst/>
                <a:ahLst/>
                <a:cxnLst/>
                <a:rect l="l" t="t" r="r" b="b"/>
                <a:pathLst>
                  <a:path w="1076575" h="544990">
                    <a:moveTo>
                      <a:pt x="96594" y="0"/>
                    </a:moveTo>
                    <a:lnTo>
                      <a:pt x="979981" y="0"/>
                    </a:lnTo>
                    <a:cubicBezTo>
                      <a:pt x="1005599" y="0"/>
                      <a:pt x="1030168" y="10177"/>
                      <a:pt x="1048283" y="28292"/>
                    </a:cubicBezTo>
                    <a:cubicBezTo>
                      <a:pt x="1066398" y="46406"/>
                      <a:pt x="1076575" y="70975"/>
                      <a:pt x="1076575" y="96594"/>
                    </a:cubicBezTo>
                    <a:lnTo>
                      <a:pt x="1076575" y="448396"/>
                    </a:lnTo>
                    <a:cubicBezTo>
                      <a:pt x="1076575" y="474014"/>
                      <a:pt x="1066398" y="498583"/>
                      <a:pt x="1048283" y="516698"/>
                    </a:cubicBezTo>
                    <a:cubicBezTo>
                      <a:pt x="1030168" y="534813"/>
                      <a:pt x="1005599" y="544990"/>
                      <a:pt x="979981" y="544990"/>
                    </a:cubicBezTo>
                    <a:lnTo>
                      <a:pt x="96594" y="544990"/>
                    </a:lnTo>
                    <a:cubicBezTo>
                      <a:pt x="70975" y="544990"/>
                      <a:pt x="46406" y="534813"/>
                      <a:pt x="28292" y="516698"/>
                    </a:cubicBezTo>
                    <a:cubicBezTo>
                      <a:pt x="10177" y="498583"/>
                      <a:pt x="0" y="474014"/>
                      <a:pt x="0" y="448396"/>
                    </a:cubicBezTo>
                    <a:lnTo>
                      <a:pt x="0" y="96594"/>
                    </a:lnTo>
                    <a:cubicBezTo>
                      <a:pt x="0" y="70975"/>
                      <a:pt x="10177" y="46406"/>
                      <a:pt x="28292" y="28292"/>
                    </a:cubicBezTo>
                    <a:cubicBezTo>
                      <a:pt x="46406" y="10177"/>
                      <a:pt x="70975" y="0"/>
                      <a:pt x="965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8" name="TextBox 22">
                <a:extLst>
                  <a:ext uri="{FF2B5EF4-FFF2-40B4-BE49-F238E27FC236}">
                    <a16:creationId xmlns:a16="http://schemas.microsoft.com/office/drawing/2014/main" id="{6666DFF2-3B8B-726B-6B99-A89AD291E08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76575" cy="5735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C780EF46-7BF2-B30F-31AF-26D4C999A14C}"/>
                </a:ext>
              </a:extLst>
            </p:cNvPr>
            <p:cNvSpPr/>
            <p:nvPr/>
          </p:nvSpPr>
          <p:spPr>
            <a:xfrm>
              <a:off x="3034712" y="522981"/>
              <a:ext cx="1752937" cy="1752937"/>
            </a:xfrm>
            <a:custGeom>
              <a:avLst/>
              <a:gdLst/>
              <a:ahLst/>
              <a:cxnLst/>
              <a:rect l="l" t="t" r="r" b="b"/>
              <a:pathLst>
                <a:path w="1752937" h="1752937">
                  <a:moveTo>
                    <a:pt x="0" y="0"/>
                  </a:moveTo>
                  <a:lnTo>
                    <a:pt x="1752937" y="0"/>
                  </a:lnTo>
                  <a:lnTo>
                    <a:pt x="1752937" y="1752936"/>
                  </a:lnTo>
                  <a:lnTo>
                    <a:pt x="0" y="1752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2F7F1F41-A4F6-7201-E65B-35934CC2E38A}"/>
                </a:ext>
              </a:extLst>
            </p:cNvPr>
            <p:cNvSpPr txBox="1"/>
            <p:nvPr/>
          </p:nvSpPr>
          <p:spPr>
            <a:xfrm>
              <a:off x="349720" y="441287"/>
              <a:ext cx="2751791" cy="65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Frontend</a:t>
              </a:r>
            </a:p>
          </p:txBody>
        </p:sp>
      </p:grpSp>
      <p:grpSp>
        <p:nvGrpSpPr>
          <p:cNvPr id="44" name="Group 39">
            <a:extLst>
              <a:ext uri="{FF2B5EF4-FFF2-40B4-BE49-F238E27FC236}">
                <a16:creationId xmlns:a16="http://schemas.microsoft.com/office/drawing/2014/main" id="{E3518522-A922-1BF1-804C-2F0550EF6BE1}"/>
              </a:ext>
            </a:extLst>
          </p:cNvPr>
          <p:cNvGrpSpPr/>
          <p:nvPr/>
        </p:nvGrpSpPr>
        <p:grpSpPr>
          <a:xfrm>
            <a:off x="5172528" y="4132490"/>
            <a:ext cx="1476290" cy="409339"/>
            <a:chOff x="0" y="-28575"/>
            <a:chExt cx="1968388" cy="545785"/>
          </a:xfrm>
          <a:noFill/>
        </p:grpSpPr>
        <p:sp>
          <p:nvSpPr>
            <p:cNvPr id="45" name="AutoShape 40">
              <a:extLst>
                <a:ext uri="{FF2B5EF4-FFF2-40B4-BE49-F238E27FC236}">
                  <a16:creationId xmlns:a16="http://schemas.microsoft.com/office/drawing/2014/main" id="{4234BF74-CBE6-5765-8371-065B0EB5B43E}"/>
                </a:ext>
              </a:extLst>
            </p:cNvPr>
            <p:cNvSpPr/>
            <p:nvPr/>
          </p:nvSpPr>
          <p:spPr>
            <a:xfrm>
              <a:off x="0" y="517210"/>
              <a:ext cx="1968388" cy="0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A618B026-D1A1-E105-7A18-02C11F55B22B}"/>
                </a:ext>
              </a:extLst>
            </p:cNvPr>
            <p:cNvSpPr txBox="1"/>
            <p:nvPr/>
          </p:nvSpPr>
          <p:spPr>
            <a:xfrm>
              <a:off x="307711" y="-28575"/>
              <a:ext cx="1143398" cy="38284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Request</a:t>
              </a:r>
            </a:p>
          </p:txBody>
        </p:sp>
      </p:grpSp>
      <p:grpSp>
        <p:nvGrpSpPr>
          <p:cNvPr id="47" name="Group 42">
            <a:extLst>
              <a:ext uri="{FF2B5EF4-FFF2-40B4-BE49-F238E27FC236}">
                <a16:creationId xmlns:a16="http://schemas.microsoft.com/office/drawing/2014/main" id="{079595A0-3E04-58B1-7B89-49A101EA3E1E}"/>
              </a:ext>
            </a:extLst>
          </p:cNvPr>
          <p:cNvGrpSpPr/>
          <p:nvPr/>
        </p:nvGrpSpPr>
        <p:grpSpPr>
          <a:xfrm>
            <a:off x="5172528" y="5005858"/>
            <a:ext cx="1476290" cy="437149"/>
            <a:chOff x="0" y="25400"/>
            <a:chExt cx="1968387" cy="582865"/>
          </a:xfrm>
          <a:noFill/>
        </p:grpSpPr>
        <p:sp>
          <p:nvSpPr>
            <p:cNvPr id="48" name="AutoShape 43">
              <a:extLst>
                <a:ext uri="{FF2B5EF4-FFF2-40B4-BE49-F238E27FC236}">
                  <a16:creationId xmlns:a16="http://schemas.microsoft.com/office/drawing/2014/main" id="{E9E79BE1-2E69-D408-3CEC-C4EB23D42672}"/>
                </a:ext>
              </a:extLst>
            </p:cNvPr>
            <p:cNvSpPr/>
            <p:nvPr/>
          </p:nvSpPr>
          <p:spPr>
            <a:xfrm flipH="1">
              <a:off x="0" y="25400"/>
              <a:ext cx="1968387" cy="0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49" name="TextBox 44">
              <a:extLst>
                <a:ext uri="{FF2B5EF4-FFF2-40B4-BE49-F238E27FC236}">
                  <a16:creationId xmlns:a16="http://schemas.microsoft.com/office/drawing/2014/main" id="{D5C5BDAF-20BB-5445-6388-F3ACF8B35493}"/>
                </a:ext>
              </a:extLst>
            </p:cNvPr>
            <p:cNvSpPr txBox="1"/>
            <p:nvPr/>
          </p:nvSpPr>
          <p:spPr>
            <a:xfrm>
              <a:off x="278271" y="225425"/>
              <a:ext cx="1411846" cy="38284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Response</a:t>
              </a:r>
            </a:p>
          </p:txBody>
        </p:sp>
      </p:grpSp>
      <p:grpSp>
        <p:nvGrpSpPr>
          <p:cNvPr id="50" name="Group 45">
            <a:extLst>
              <a:ext uri="{FF2B5EF4-FFF2-40B4-BE49-F238E27FC236}">
                <a16:creationId xmlns:a16="http://schemas.microsoft.com/office/drawing/2014/main" id="{7404C0FB-9FD2-EA8B-C0EF-7C73C848741C}"/>
              </a:ext>
            </a:extLst>
          </p:cNvPr>
          <p:cNvGrpSpPr/>
          <p:nvPr/>
        </p:nvGrpSpPr>
        <p:grpSpPr>
          <a:xfrm>
            <a:off x="11597379" y="4070176"/>
            <a:ext cx="1476290" cy="409339"/>
            <a:chOff x="0" y="-28575"/>
            <a:chExt cx="1968387" cy="545786"/>
          </a:xfrm>
          <a:noFill/>
        </p:grpSpPr>
        <p:sp>
          <p:nvSpPr>
            <p:cNvPr id="51" name="AutoShape 46">
              <a:extLst>
                <a:ext uri="{FF2B5EF4-FFF2-40B4-BE49-F238E27FC236}">
                  <a16:creationId xmlns:a16="http://schemas.microsoft.com/office/drawing/2014/main" id="{B0919435-908A-A30F-ED2E-5B6A7230535E}"/>
                </a:ext>
              </a:extLst>
            </p:cNvPr>
            <p:cNvSpPr/>
            <p:nvPr/>
          </p:nvSpPr>
          <p:spPr>
            <a:xfrm>
              <a:off x="0" y="517211"/>
              <a:ext cx="1968387" cy="0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>
                <a:solidFill>
                  <a:schemeClr val="bg1"/>
                </a:solidFill>
              </a:endParaRPr>
            </a:p>
          </p:txBody>
        </p:sp>
        <p:sp>
          <p:nvSpPr>
            <p:cNvPr id="52" name="TextBox 47">
              <a:extLst>
                <a:ext uri="{FF2B5EF4-FFF2-40B4-BE49-F238E27FC236}">
                  <a16:creationId xmlns:a16="http://schemas.microsoft.com/office/drawing/2014/main" id="{F8D35386-17F3-44FE-2382-8F9AE5054CEE}"/>
                </a:ext>
              </a:extLst>
            </p:cNvPr>
            <p:cNvSpPr txBox="1"/>
            <p:nvPr/>
          </p:nvSpPr>
          <p:spPr>
            <a:xfrm>
              <a:off x="307711" y="-28575"/>
              <a:ext cx="1143398" cy="38284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Request</a:t>
              </a:r>
            </a:p>
          </p:txBody>
        </p:sp>
      </p:grpSp>
      <p:grpSp>
        <p:nvGrpSpPr>
          <p:cNvPr id="53" name="Group 48">
            <a:extLst>
              <a:ext uri="{FF2B5EF4-FFF2-40B4-BE49-F238E27FC236}">
                <a16:creationId xmlns:a16="http://schemas.microsoft.com/office/drawing/2014/main" id="{BE9BF28B-1FE0-0304-C082-81CED3CECE72}"/>
              </a:ext>
            </a:extLst>
          </p:cNvPr>
          <p:cNvGrpSpPr/>
          <p:nvPr/>
        </p:nvGrpSpPr>
        <p:grpSpPr>
          <a:xfrm>
            <a:off x="11597379" y="4943543"/>
            <a:ext cx="1476290" cy="437149"/>
            <a:chOff x="0" y="25400"/>
            <a:chExt cx="1968387" cy="582865"/>
          </a:xfrm>
          <a:noFill/>
        </p:grpSpPr>
        <p:sp>
          <p:nvSpPr>
            <p:cNvPr id="54" name="AutoShape 49">
              <a:extLst>
                <a:ext uri="{FF2B5EF4-FFF2-40B4-BE49-F238E27FC236}">
                  <a16:creationId xmlns:a16="http://schemas.microsoft.com/office/drawing/2014/main" id="{87865A29-DC27-9C7B-1247-A77EF5EF1DA5}"/>
                </a:ext>
              </a:extLst>
            </p:cNvPr>
            <p:cNvSpPr/>
            <p:nvPr/>
          </p:nvSpPr>
          <p:spPr>
            <a:xfrm flipH="1">
              <a:off x="0" y="25400"/>
              <a:ext cx="1968387" cy="0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55" name="TextBox 50">
              <a:extLst>
                <a:ext uri="{FF2B5EF4-FFF2-40B4-BE49-F238E27FC236}">
                  <a16:creationId xmlns:a16="http://schemas.microsoft.com/office/drawing/2014/main" id="{CBD47836-6653-705D-7DBE-0CFBE71121C5}"/>
                </a:ext>
              </a:extLst>
            </p:cNvPr>
            <p:cNvSpPr txBox="1"/>
            <p:nvPr/>
          </p:nvSpPr>
          <p:spPr>
            <a:xfrm>
              <a:off x="278271" y="225425"/>
              <a:ext cx="1411846" cy="38284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Response</a:t>
              </a:r>
            </a:p>
          </p:txBody>
        </p:sp>
      </p:grpSp>
      <p:grpSp>
        <p:nvGrpSpPr>
          <p:cNvPr id="59" name="Group 55">
            <a:extLst>
              <a:ext uri="{FF2B5EF4-FFF2-40B4-BE49-F238E27FC236}">
                <a16:creationId xmlns:a16="http://schemas.microsoft.com/office/drawing/2014/main" id="{A2489F87-1DB1-1C85-4177-2DA6831CE3CB}"/>
              </a:ext>
            </a:extLst>
          </p:cNvPr>
          <p:cNvGrpSpPr/>
          <p:nvPr/>
        </p:nvGrpSpPr>
        <p:grpSpPr>
          <a:xfrm rot="10800000">
            <a:off x="9552142" y="5945872"/>
            <a:ext cx="1171067" cy="596629"/>
            <a:chOff x="1588237" y="-71095"/>
            <a:chExt cx="1561424" cy="1191388"/>
          </a:xfrm>
          <a:noFill/>
        </p:grpSpPr>
        <p:sp>
          <p:nvSpPr>
            <p:cNvPr id="60" name="AutoShape 56">
              <a:extLst>
                <a:ext uri="{FF2B5EF4-FFF2-40B4-BE49-F238E27FC236}">
                  <a16:creationId xmlns:a16="http://schemas.microsoft.com/office/drawing/2014/main" id="{56A9BD95-6F5C-A0F5-24DD-EAD99AC89BDF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61" name="TextBox 57">
              <a:extLst>
                <a:ext uri="{FF2B5EF4-FFF2-40B4-BE49-F238E27FC236}">
                  <a16:creationId xmlns:a16="http://schemas.microsoft.com/office/drawing/2014/main" id="{99D9A678-CA02-7057-3247-07FCEFC8A273}"/>
                </a:ext>
              </a:extLst>
            </p:cNvPr>
            <p:cNvSpPr txBox="1"/>
            <p:nvPr/>
          </p:nvSpPr>
          <p:spPr>
            <a:xfrm rot="10800000">
              <a:off x="1737816" y="412316"/>
              <a:ext cx="1411845" cy="382839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API Call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A193CD-C58A-751F-445D-C0D6DFC37A9D}"/>
              </a:ext>
            </a:extLst>
          </p:cNvPr>
          <p:cNvGrpSpPr/>
          <p:nvPr/>
        </p:nvGrpSpPr>
        <p:grpSpPr>
          <a:xfrm>
            <a:off x="1551104" y="6613652"/>
            <a:ext cx="6487904" cy="3435164"/>
            <a:chOff x="8990999" y="123922"/>
            <a:chExt cx="6724868" cy="3969411"/>
          </a:xfrm>
        </p:grpSpPr>
        <p:grpSp>
          <p:nvGrpSpPr>
            <p:cNvPr id="30" name="Group 25">
              <a:extLst>
                <a:ext uri="{FF2B5EF4-FFF2-40B4-BE49-F238E27FC236}">
                  <a16:creationId xmlns:a16="http://schemas.microsoft.com/office/drawing/2014/main" id="{0FD8E5F4-C3EB-F856-632A-2074E88E5C5A}"/>
                </a:ext>
              </a:extLst>
            </p:cNvPr>
            <p:cNvGrpSpPr/>
            <p:nvPr/>
          </p:nvGrpSpPr>
          <p:grpSpPr>
            <a:xfrm>
              <a:off x="8990999" y="123922"/>
              <a:ext cx="6724868" cy="3969411"/>
              <a:chOff x="0" y="-28575"/>
              <a:chExt cx="1771159" cy="659778"/>
            </a:xfrm>
          </p:grpSpPr>
          <p:sp>
            <p:nvSpPr>
              <p:cNvPr id="31" name="Freeform 26">
                <a:extLst>
                  <a:ext uri="{FF2B5EF4-FFF2-40B4-BE49-F238E27FC236}">
                    <a16:creationId xmlns:a16="http://schemas.microsoft.com/office/drawing/2014/main" id="{04A2574A-2124-85A8-82DC-57161DCF9F32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TextBox 27">
                <a:extLst>
                  <a:ext uri="{FF2B5EF4-FFF2-40B4-BE49-F238E27FC236}">
                    <a16:creationId xmlns:a16="http://schemas.microsoft.com/office/drawing/2014/main" id="{33244565-6286-30D6-DED9-0AB1201A656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F1FF2CF1-D9F9-76F9-5A74-2024262D9007}"/>
                </a:ext>
              </a:extLst>
            </p:cNvPr>
            <p:cNvSpPr/>
            <p:nvPr/>
          </p:nvSpPr>
          <p:spPr>
            <a:xfrm>
              <a:off x="9951531" y="1577334"/>
              <a:ext cx="1205604" cy="1483821"/>
            </a:xfrm>
            <a:custGeom>
              <a:avLst/>
              <a:gdLst/>
              <a:ahLst/>
              <a:cxnLst/>
              <a:rect l="l" t="t" r="r" b="b"/>
              <a:pathLst>
                <a:path w="1205604" h="1483821">
                  <a:moveTo>
                    <a:pt x="0" y="0"/>
                  </a:moveTo>
                  <a:lnTo>
                    <a:pt x="1205604" y="0"/>
                  </a:lnTo>
                  <a:lnTo>
                    <a:pt x="1205604" y="1483821"/>
                  </a:lnTo>
                  <a:lnTo>
                    <a:pt x="0" y="148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5D9A5A1A-BFD3-A518-B47B-0F59F5A9BC7B}"/>
                </a:ext>
              </a:extLst>
            </p:cNvPr>
            <p:cNvSpPr/>
            <p:nvPr/>
          </p:nvSpPr>
          <p:spPr>
            <a:xfrm>
              <a:off x="14121120" y="824839"/>
              <a:ext cx="996632" cy="1242505"/>
            </a:xfrm>
            <a:custGeom>
              <a:avLst/>
              <a:gdLst/>
              <a:ahLst/>
              <a:cxnLst/>
              <a:rect l="l" t="t" r="r" b="b"/>
              <a:pathLst>
                <a:path w="1384591" h="1660679">
                  <a:moveTo>
                    <a:pt x="0" y="0"/>
                  </a:moveTo>
                  <a:lnTo>
                    <a:pt x="1384591" y="0"/>
                  </a:lnTo>
                  <a:lnTo>
                    <a:pt x="1384591" y="1660679"/>
                  </a:lnTo>
                  <a:lnTo>
                    <a:pt x="0" y="16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35" name="TextBox 30">
              <a:extLst>
                <a:ext uri="{FF2B5EF4-FFF2-40B4-BE49-F238E27FC236}">
                  <a16:creationId xmlns:a16="http://schemas.microsoft.com/office/drawing/2014/main" id="{99C62223-7324-D385-510F-BE5FF922CACA}"/>
                </a:ext>
              </a:extLst>
            </p:cNvPr>
            <p:cNvSpPr txBox="1"/>
            <p:nvPr/>
          </p:nvSpPr>
          <p:spPr>
            <a:xfrm>
              <a:off x="9257668" y="702067"/>
              <a:ext cx="3178797" cy="4896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臉部情緒分析模組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772E51C0-4137-CC43-00FA-A4F868E7D605}"/>
                </a:ext>
              </a:extLst>
            </p:cNvPr>
            <p:cNvSpPr txBox="1"/>
            <p:nvPr/>
          </p:nvSpPr>
          <p:spPr>
            <a:xfrm>
              <a:off x="9959267" y="3147546"/>
              <a:ext cx="1205604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8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辨識臉部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1" name="TextBox 41">
              <a:extLst>
                <a:ext uri="{FF2B5EF4-FFF2-40B4-BE49-F238E27FC236}">
                  <a16:creationId xmlns:a16="http://schemas.microsoft.com/office/drawing/2014/main" id="{270FE42C-FD7C-710C-DF37-BC5066545473}"/>
                </a:ext>
              </a:extLst>
            </p:cNvPr>
            <p:cNvSpPr txBox="1"/>
            <p:nvPr/>
          </p:nvSpPr>
          <p:spPr>
            <a:xfrm>
              <a:off x="13973673" y="2049353"/>
              <a:ext cx="1205604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6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辨識情緒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91EFCB7-EE0D-95B7-858F-1F6E016CF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154866" y="2642019"/>
              <a:ext cx="860794" cy="860794"/>
            </a:xfrm>
            <a:prstGeom prst="rect">
              <a:avLst/>
            </a:prstGeom>
          </p:spPr>
        </p:pic>
        <p:sp>
          <p:nvSpPr>
            <p:cNvPr id="76" name="TextBox 41">
              <a:extLst>
                <a:ext uri="{FF2B5EF4-FFF2-40B4-BE49-F238E27FC236}">
                  <a16:creationId xmlns:a16="http://schemas.microsoft.com/office/drawing/2014/main" id="{9BC3EB3E-56CE-F0C7-F55B-A7EB6710AA13}"/>
                </a:ext>
              </a:extLst>
            </p:cNvPr>
            <p:cNvSpPr txBox="1"/>
            <p:nvPr/>
          </p:nvSpPr>
          <p:spPr>
            <a:xfrm>
              <a:off x="13982461" y="3532947"/>
              <a:ext cx="1205604" cy="2857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6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辨識眼神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cxnSp>
          <p:nvCxnSpPr>
            <p:cNvPr id="80" name="Elbow Connector 79">
              <a:extLst>
                <a:ext uri="{FF2B5EF4-FFF2-40B4-BE49-F238E27FC236}">
                  <a16:creationId xmlns:a16="http://schemas.microsoft.com/office/drawing/2014/main" id="{F7643023-D235-53A9-1B6C-85322E8109AF}"/>
                </a:ext>
              </a:extLst>
            </p:cNvPr>
            <p:cNvCxnSpPr>
              <a:cxnSpLocks/>
            </p:cNvCxnSpPr>
            <p:nvPr/>
          </p:nvCxnSpPr>
          <p:spPr>
            <a:xfrm>
              <a:off x="11636397" y="2367417"/>
              <a:ext cx="2423198" cy="906859"/>
            </a:xfrm>
            <a:prstGeom prst="bentConnector3">
              <a:avLst>
                <a:gd name="adj1" fmla="val 77805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C4662439-3B8A-8796-0D27-09BE478D1A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35375" y="1351662"/>
              <a:ext cx="2424220" cy="1005644"/>
            </a:xfrm>
            <a:prstGeom prst="bentConnector3">
              <a:avLst>
                <a:gd name="adj1" fmla="val 7779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Box 41">
              <a:extLst>
                <a:ext uri="{FF2B5EF4-FFF2-40B4-BE49-F238E27FC236}">
                  <a16:creationId xmlns:a16="http://schemas.microsoft.com/office/drawing/2014/main" id="{61DB5EE0-063D-E93A-B0D3-3594B59C0262}"/>
                </a:ext>
              </a:extLst>
            </p:cNvPr>
            <p:cNvSpPr txBox="1"/>
            <p:nvPr/>
          </p:nvSpPr>
          <p:spPr>
            <a:xfrm>
              <a:off x="11794031" y="1904882"/>
              <a:ext cx="1463012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提供</a:t>
              </a:r>
              <a:r>
                <a:rPr lang="en-US" sz="18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臉部特徵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E6DDCFE-A43C-394D-54A5-F02EF9F618B4}"/>
              </a:ext>
            </a:extLst>
          </p:cNvPr>
          <p:cNvGrpSpPr/>
          <p:nvPr/>
        </p:nvGrpSpPr>
        <p:grpSpPr>
          <a:xfrm>
            <a:off x="1344700" y="43143"/>
            <a:ext cx="7060924" cy="2851556"/>
            <a:chOff x="1551104" y="-112806"/>
            <a:chExt cx="7060924" cy="2851556"/>
          </a:xfrm>
        </p:grpSpPr>
        <p:grpSp>
          <p:nvGrpSpPr>
            <p:cNvPr id="97" name="Group 25">
              <a:extLst>
                <a:ext uri="{FF2B5EF4-FFF2-40B4-BE49-F238E27FC236}">
                  <a16:creationId xmlns:a16="http://schemas.microsoft.com/office/drawing/2014/main" id="{59B845F5-3697-F414-5B13-FE2DDC7A06D9}"/>
                </a:ext>
              </a:extLst>
            </p:cNvPr>
            <p:cNvGrpSpPr/>
            <p:nvPr/>
          </p:nvGrpSpPr>
          <p:grpSpPr>
            <a:xfrm>
              <a:off x="1551104" y="-112806"/>
              <a:ext cx="7060924" cy="2851556"/>
              <a:chOff x="0" y="-28575"/>
              <a:chExt cx="1771159" cy="659778"/>
            </a:xfrm>
          </p:grpSpPr>
          <p:sp>
            <p:nvSpPr>
              <p:cNvPr id="108" name="Freeform 26">
                <a:extLst>
                  <a:ext uri="{FF2B5EF4-FFF2-40B4-BE49-F238E27FC236}">
                    <a16:creationId xmlns:a16="http://schemas.microsoft.com/office/drawing/2014/main" id="{B1FCEF0A-0028-C872-C1B5-EDA1D203AAAA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9" name="TextBox 27">
                <a:extLst>
                  <a:ext uri="{FF2B5EF4-FFF2-40B4-BE49-F238E27FC236}">
                    <a16:creationId xmlns:a16="http://schemas.microsoft.com/office/drawing/2014/main" id="{5F830F85-B746-97EE-0DA3-E806C093F3C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0" name="TextBox 30">
              <a:extLst>
                <a:ext uri="{FF2B5EF4-FFF2-40B4-BE49-F238E27FC236}">
                  <a16:creationId xmlns:a16="http://schemas.microsoft.com/office/drawing/2014/main" id="{E4755CE4-4D7B-299E-E348-C3A40FE12543}"/>
                </a:ext>
              </a:extLst>
            </p:cNvPr>
            <p:cNvSpPr txBox="1"/>
            <p:nvPr/>
          </p:nvSpPr>
          <p:spPr>
            <a:xfrm>
              <a:off x="1904500" y="326320"/>
              <a:ext cx="3013141" cy="490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即時語音辨識模組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101" name="TextBox 41">
              <a:extLst>
                <a:ext uri="{FF2B5EF4-FFF2-40B4-BE49-F238E27FC236}">
                  <a16:creationId xmlns:a16="http://schemas.microsoft.com/office/drawing/2014/main" id="{2C27B977-40A6-1666-33D5-141FE9302916}"/>
                </a:ext>
              </a:extLst>
            </p:cNvPr>
            <p:cNvSpPr txBox="1"/>
            <p:nvPr/>
          </p:nvSpPr>
          <p:spPr>
            <a:xfrm>
              <a:off x="2399420" y="2095000"/>
              <a:ext cx="1198659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Canva Sans"/>
                  <a:sym typeface="可畫和劑局方明刻本-繁"/>
                </a:rPr>
                <a:t>擷取音訊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07" name="TextBox 41">
              <a:extLst>
                <a:ext uri="{FF2B5EF4-FFF2-40B4-BE49-F238E27FC236}">
                  <a16:creationId xmlns:a16="http://schemas.microsoft.com/office/drawing/2014/main" id="{0D6CCB91-8D24-3CC4-FF4A-B55ABBA5E9EB}"/>
                </a:ext>
              </a:extLst>
            </p:cNvPr>
            <p:cNvSpPr txBox="1"/>
            <p:nvPr/>
          </p:nvSpPr>
          <p:spPr>
            <a:xfrm>
              <a:off x="4254362" y="1356748"/>
              <a:ext cx="1454585" cy="290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提供音訊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10" name="Freeform 67">
              <a:extLst>
                <a:ext uri="{FF2B5EF4-FFF2-40B4-BE49-F238E27FC236}">
                  <a16:creationId xmlns:a16="http://schemas.microsoft.com/office/drawing/2014/main" id="{361A82AA-5E13-4D44-DFC9-A8166EB965E2}"/>
                </a:ext>
              </a:extLst>
            </p:cNvPr>
            <p:cNvSpPr/>
            <p:nvPr/>
          </p:nvSpPr>
          <p:spPr>
            <a:xfrm>
              <a:off x="2020940" y="1241006"/>
              <a:ext cx="2101609" cy="760416"/>
            </a:xfrm>
            <a:custGeom>
              <a:avLst/>
              <a:gdLst/>
              <a:ahLst/>
              <a:cxnLst/>
              <a:rect l="l" t="t" r="r" b="b"/>
              <a:pathLst>
                <a:path w="2977901" h="1083182">
                  <a:moveTo>
                    <a:pt x="0" y="0"/>
                  </a:moveTo>
                  <a:lnTo>
                    <a:pt x="2977901" y="0"/>
                  </a:lnTo>
                  <a:lnTo>
                    <a:pt x="2977901" y="1083182"/>
                  </a:lnTo>
                  <a:lnTo>
                    <a:pt x="0" y="1083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06AC04B-7679-4230-6232-51D781B96D10}"/>
                </a:ext>
              </a:extLst>
            </p:cNvPr>
            <p:cNvCxnSpPr>
              <a:cxnSpLocks/>
            </p:cNvCxnSpPr>
            <p:nvPr/>
          </p:nvCxnSpPr>
          <p:spPr>
            <a:xfrm>
              <a:off x="4181264" y="1813102"/>
              <a:ext cx="1751369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Freeform 68">
              <a:extLst>
                <a:ext uri="{FF2B5EF4-FFF2-40B4-BE49-F238E27FC236}">
                  <a16:creationId xmlns:a16="http://schemas.microsoft.com/office/drawing/2014/main" id="{64E9CA9D-73C7-BFC4-F986-FEE72A0F3E1E}"/>
                </a:ext>
              </a:extLst>
            </p:cNvPr>
            <p:cNvSpPr/>
            <p:nvPr/>
          </p:nvSpPr>
          <p:spPr>
            <a:xfrm>
              <a:off x="6130647" y="1349079"/>
              <a:ext cx="2208459" cy="674150"/>
            </a:xfrm>
            <a:custGeom>
              <a:avLst/>
              <a:gdLst/>
              <a:ahLst/>
              <a:cxnLst/>
              <a:rect l="l" t="t" r="r" b="b"/>
              <a:pathLst>
                <a:path w="4050855" h="1202886">
                  <a:moveTo>
                    <a:pt x="0" y="0"/>
                  </a:moveTo>
                  <a:lnTo>
                    <a:pt x="4050855" y="0"/>
                  </a:lnTo>
                  <a:lnTo>
                    <a:pt x="4050855" y="1202885"/>
                  </a:lnTo>
                  <a:lnTo>
                    <a:pt x="0" y="1202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17" t="-49057" r="-5659" b="-47884"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117" name="TextBox 41">
              <a:extLst>
                <a:ext uri="{FF2B5EF4-FFF2-40B4-BE49-F238E27FC236}">
                  <a16:creationId xmlns:a16="http://schemas.microsoft.com/office/drawing/2014/main" id="{7FD0AC02-6F42-9B6B-FDC4-E279EE80CEF1}"/>
                </a:ext>
              </a:extLst>
            </p:cNvPr>
            <p:cNvSpPr txBox="1"/>
            <p:nvPr/>
          </p:nvSpPr>
          <p:spPr>
            <a:xfrm>
              <a:off x="6582451" y="2110610"/>
              <a:ext cx="1454585" cy="290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音訊轉文字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B77800D-59EE-CAAE-9047-917D007CAECE}"/>
              </a:ext>
            </a:extLst>
          </p:cNvPr>
          <p:cNvGrpSpPr/>
          <p:nvPr/>
        </p:nvGrpSpPr>
        <p:grpSpPr>
          <a:xfrm>
            <a:off x="10325967" y="6480073"/>
            <a:ext cx="7413334" cy="3638026"/>
            <a:chOff x="9478495" y="7236466"/>
            <a:chExt cx="7875233" cy="3666090"/>
          </a:xfrm>
        </p:grpSpPr>
        <p:grpSp>
          <p:nvGrpSpPr>
            <p:cNvPr id="124" name="Group 25">
              <a:extLst>
                <a:ext uri="{FF2B5EF4-FFF2-40B4-BE49-F238E27FC236}">
                  <a16:creationId xmlns:a16="http://schemas.microsoft.com/office/drawing/2014/main" id="{78B971CC-1981-1718-EE81-1A0A925FDFB3}"/>
                </a:ext>
              </a:extLst>
            </p:cNvPr>
            <p:cNvGrpSpPr/>
            <p:nvPr/>
          </p:nvGrpSpPr>
          <p:grpSpPr>
            <a:xfrm>
              <a:off x="9478495" y="7236466"/>
              <a:ext cx="7875233" cy="3666090"/>
              <a:chOff x="0" y="-28575"/>
              <a:chExt cx="1771159" cy="659778"/>
            </a:xfrm>
          </p:grpSpPr>
          <p:sp>
            <p:nvSpPr>
              <p:cNvPr id="132" name="Freeform 26">
                <a:extLst>
                  <a:ext uri="{FF2B5EF4-FFF2-40B4-BE49-F238E27FC236}">
                    <a16:creationId xmlns:a16="http://schemas.microsoft.com/office/drawing/2014/main" id="{D8273B38-7A36-DE58-A3F6-3C7D99450A1D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" name="TextBox 27">
                <a:extLst>
                  <a:ext uri="{FF2B5EF4-FFF2-40B4-BE49-F238E27FC236}">
                    <a16:creationId xmlns:a16="http://schemas.microsoft.com/office/drawing/2014/main" id="{6BF685A0-42C4-532C-B9CE-19591FD41B1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5" name="TextBox 30">
              <a:extLst>
                <a:ext uri="{FF2B5EF4-FFF2-40B4-BE49-F238E27FC236}">
                  <a16:creationId xmlns:a16="http://schemas.microsoft.com/office/drawing/2014/main" id="{DFA2663F-8622-A1C0-D5BF-18A0F428EB0B}"/>
                </a:ext>
              </a:extLst>
            </p:cNvPr>
            <p:cNvSpPr txBox="1"/>
            <p:nvPr/>
          </p:nvSpPr>
          <p:spPr>
            <a:xfrm>
              <a:off x="9835864" y="7674845"/>
              <a:ext cx="2578832" cy="522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數位孿生模組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127" name="TextBox 41">
              <a:extLst>
                <a:ext uri="{FF2B5EF4-FFF2-40B4-BE49-F238E27FC236}">
                  <a16:creationId xmlns:a16="http://schemas.microsoft.com/office/drawing/2014/main" id="{7EC46336-9FAC-34FE-AFB3-6BD96F61C8A6}"/>
                </a:ext>
              </a:extLst>
            </p:cNvPr>
            <p:cNvSpPr txBox="1"/>
            <p:nvPr/>
          </p:nvSpPr>
          <p:spPr>
            <a:xfrm>
              <a:off x="12656100" y="8918981"/>
              <a:ext cx="1463013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err="1">
                  <a:latin typeface="可畫和劑局方明刻本-繁"/>
                  <a:ea typeface="可畫和劑局方明刻本-繁"/>
                  <a:cs typeface="Canva Sans"/>
                  <a:sym typeface="可畫和劑局方明刻本-繁"/>
                </a:rPr>
                <a:t>引用模組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31" name="TextBox 41">
              <a:extLst>
                <a:ext uri="{FF2B5EF4-FFF2-40B4-BE49-F238E27FC236}">
                  <a16:creationId xmlns:a16="http://schemas.microsoft.com/office/drawing/2014/main" id="{885E2400-8BD1-707D-E547-9633224F1F7F}"/>
                </a:ext>
              </a:extLst>
            </p:cNvPr>
            <p:cNvSpPr txBox="1"/>
            <p:nvPr/>
          </p:nvSpPr>
          <p:spPr>
            <a:xfrm>
              <a:off x="15119364" y="10334271"/>
              <a:ext cx="1890159" cy="3090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Avatar Video V2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244C896-19DB-908E-D2DD-5D128813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3" t="32021" r="8901" b="25355"/>
            <a:stretch/>
          </p:blipFill>
          <p:spPr>
            <a:xfrm>
              <a:off x="9900488" y="8989796"/>
              <a:ext cx="2578833" cy="744547"/>
            </a:xfrm>
            <a:prstGeom prst="rect">
              <a:avLst/>
            </a:prstGeom>
          </p:spPr>
        </p:pic>
        <p:cxnSp>
          <p:nvCxnSpPr>
            <p:cNvPr id="136" name="Elbow Connector 135">
              <a:extLst>
                <a:ext uri="{FF2B5EF4-FFF2-40B4-BE49-F238E27FC236}">
                  <a16:creationId xmlns:a16="http://schemas.microsoft.com/office/drawing/2014/main" id="{F48E3EE3-2BEC-1689-5C22-A66699AA936E}"/>
                </a:ext>
              </a:extLst>
            </p:cNvPr>
            <p:cNvCxnSpPr>
              <a:cxnSpLocks/>
            </p:cNvCxnSpPr>
            <p:nvPr/>
          </p:nvCxnSpPr>
          <p:spPr>
            <a:xfrm>
              <a:off x="12571876" y="9380134"/>
              <a:ext cx="2423199" cy="906859"/>
            </a:xfrm>
            <a:prstGeom prst="bentConnector3">
              <a:avLst>
                <a:gd name="adj1" fmla="val 67141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Elbow Connector 136">
              <a:extLst>
                <a:ext uri="{FF2B5EF4-FFF2-40B4-BE49-F238E27FC236}">
                  <a16:creationId xmlns:a16="http://schemas.microsoft.com/office/drawing/2014/main" id="{5B21E11B-4761-B6E7-CA74-D366F8296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0854" y="8364380"/>
              <a:ext cx="2424221" cy="1005644"/>
            </a:xfrm>
            <a:prstGeom prst="bentConnector3">
              <a:avLst>
                <a:gd name="adj1" fmla="val 6713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EA5784EC-40E8-5E56-481C-679B9EB65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452088" y="7843652"/>
              <a:ext cx="848835" cy="763587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E20FF2D3-474E-D1ED-ECD2-363E32734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411292" y="9243729"/>
              <a:ext cx="1047203" cy="1088107"/>
            </a:xfrm>
            <a:prstGeom prst="rect">
              <a:avLst/>
            </a:prstGeom>
          </p:spPr>
        </p:pic>
        <p:sp>
          <p:nvSpPr>
            <p:cNvPr id="142" name="TextBox 41">
              <a:extLst>
                <a:ext uri="{FF2B5EF4-FFF2-40B4-BE49-F238E27FC236}">
                  <a16:creationId xmlns:a16="http://schemas.microsoft.com/office/drawing/2014/main" id="{E0873769-2C4A-4B06-A333-EEF34131FEA2}"/>
                </a:ext>
              </a:extLst>
            </p:cNvPr>
            <p:cNvSpPr txBox="1"/>
            <p:nvPr/>
          </p:nvSpPr>
          <p:spPr>
            <a:xfrm>
              <a:off x="15119364" y="8732774"/>
              <a:ext cx="1737495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Avatar Voice V2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CC0B881-2B33-9C8D-0488-C2D6B09FFB5E}"/>
              </a:ext>
            </a:extLst>
          </p:cNvPr>
          <p:cNvGrpSpPr/>
          <p:nvPr/>
        </p:nvGrpSpPr>
        <p:grpSpPr>
          <a:xfrm>
            <a:off x="10278525" y="139054"/>
            <a:ext cx="4591820" cy="2589037"/>
            <a:chOff x="1204823" y="7538047"/>
            <a:chExt cx="4591820" cy="2589037"/>
          </a:xfrm>
        </p:grpSpPr>
        <p:grpSp>
          <p:nvGrpSpPr>
            <p:cNvPr id="152" name="Group 25">
              <a:extLst>
                <a:ext uri="{FF2B5EF4-FFF2-40B4-BE49-F238E27FC236}">
                  <a16:creationId xmlns:a16="http://schemas.microsoft.com/office/drawing/2014/main" id="{4610D774-29A3-A737-2306-46D1FE502242}"/>
                </a:ext>
              </a:extLst>
            </p:cNvPr>
            <p:cNvGrpSpPr/>
            <p:nvPr/>
          </p:nvGrpSpPr>
          <p:grpSpPr>
            <a:xfrm>
              <a:off x="1204823" y="7538047"/>
              <a:ext cx="4591820" cy="2589037"/>
              <a:chOff x="0" y="-28575"/>
              <a:chExt cx="1771159" cy="659778"/>
            </a:xfrm>
          </p:grpSpPr>
          <p:sp>
            <p:nvSpPr>
              <p:cNvPr id="160" name="Freeform 26">
                <a:extLst>
                  <a:ext uri="{FF2B5EF4-FFF2-40B4-BE49-F238E27FC236}">
                    <a16:creationId xmlns:a16="http://schemas.microsoft.com/office/drawing/2014/main" id="{51294980-0688-F17F-F87D-87A19C506368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1" name="TextBox 27">
                <a:extLst>
                  <a:ext uri="{FF2B5EF4-FFF2-40B4-BE49-F238E27FC236}">
                    <a16:creationId xmlns:a16="http://schemas.microsoft.com/office/drawing/2014/main" id="{E5ED470B-386B-B676-6ECE-267296C1D2C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3" name="TextBox 30">
              <a:extLst>
                <a:ext uri="{FF2B5EF4-FFF2-40B4-BE49-F238E27FC236}">
                  <a16:creationId xmlns:a16="http://schemas.microsoft.com/office/drawing/2014/main" id="{8487FD94-65F9-0EB6-2169-052EC1262D0F}"/>
                </a:ext>
              </a:extLst>
            </p:cNvPr>
            <p:cNvSpPr txBox="1"/>
            <p:nvPr/>
          </p:nvSpPr>
          <p:spPr>
            <a:xfrm>
              <a:off x="1560265" y="7976423"/>
              <a:ext cx="2363477" cy="4896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文本分析模組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pic>
          <p:nvPicPr>
            <p:cNvPr id="1026" name="Picture 2" descr="ChatGPT Logo PNG With Transparent Background">
              <a:extLst>
                <a:ext uri="{FF2B5EF4-FFF2-40B4-BE49-F238E27FC236}">
                  <a16:creationId xmlns:a16="http://schemas.microsoft.com/office/drawing/2014/main" id="{55A679C6-5F66-2B5B-1915-1566039D8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1712" y="8726569"/>
              <a:ext cx="3162690" cy="929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1" name="Group 55">
            <a:extLst>
              <a:ext uri="{FF2B5EF4-FFF2-40B4-BE49-F238E27FC236}">
                <a16:creationId xmlns:a16="http://schemas.microsoft.com/office/drawing/2014/main" id="{9D6FCAEC-68D5-FA28-A09B-37082F69779F}"/>
              </a:ext>
            </a:extLst>
          </p:cNvPr>
          <p:cNvGrpSpPr/>
          <p:nvPr/>
        </p:nvGrpSpPr>
        <p:grpSpPr>
          <a:xfrm rot="10800000">
            <a:off x="5731417" y="6023395"/>
            <a:ext cx="1177383" cy="596629"/>
            <a:chOff x="1588237" y="-71095"/>
            <a:chExt cx="1569845" cy="1191388"/>
          </a:xfrm>
          <a:noFill/>
        </p:grpSpPr>
        <p:sp>
          <p:nvSpPr>
            <p:cNvPr id="172" name="AutoShape 56">
              <a:extLst>
                <a:ext uri="{FF2B5EF4-FFF2-40B4-BE49-F238E27FC236}">
                  <a16:creationId xmlns:a16="http://schemas.microsoft.com/office/drawing/2014/main" id="{C5D81073-A508-9D51-329B-7359C2017116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73" name="TextBox 57">
              <a:extLst>
                <a:ext uri="{FF2B5EF4-FFF2-40B4-BE49-F238E27FC236}">
                  <a16:creationId xmlns:a16="http://schemas.microsoft.com/office/drawing/2014/main" id="{E7EF0894-83BF-D7A5-A24B-DCC77F8BA79D}"/>
                </a:ext>
              </a:extLst>
            </p:cNvPr>
            <p:cNvSpPr txBox="1"/>
            <p:nvPr/>
          </p:nvSpPr>
          <p:spPr>
            <a:xfrm rot="10800000">
              <a:off x="1746237" y="490527"/>
              <a:ext cx="1411845" cy="382839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API Call</a:t>
              </a:r>
            </a:p>
          </p:txBody>
        </p:sp>
      </p:grpSp>
      <p:grpSp>
        <p:nvGrpSpPr>
          <p:cNvPr id="175" name="Group 55">
            <a:extLst>
              <a:ext uri="{FF2B5EF4-FFF2-40B4-BE49-F238E27FC236}">
                <a16:creationId xmlns:a16="http://schemas.microsoft.com/office/drawing/2014/main" id="{387FCBC8-8526-DDC3-41BF-7F75A8F30B6E}"/>
              </a:ext>
            </a:extLst>
          </p:cNvPr>
          <p:cNvGrpSpPr/>
          <p:nvPr/>
        </p:nvGrpSpPr>
        <p:grpSpPr>
          <a:xfrm>
            <a:off x="11078970" y="5923519"/>
            <a:ext cx="1225533" cy="596629"/>
            <a:chOff x="1588237" y="-71095"/>
            <a:chExt cx="1634045" cy="1191388"/>
          </a:xfrm>
          <a:noFill/>
        </p:grpSpPr>
        <p:sp>
          <p:nvSpPr>
            <p:cNvPr id="176" name="AutoShape 56">
              <a:extLst>
                <a:ext uri="{FF2B5EF4-FFF2-40B4-BE49-F238E27FC236}">
                  <a16:creationId xmlns:a16="http://schemas.microsoft.com/office/drawing/2014/main" id="{CD0E6C4B-020D-D474-4100-9C3FB5639F31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77" name="TextBox 57">
              <a:extLst>
                <a:ext uri="{FF2B5EF4-FFF2-40B4-BE49-F238E27FC236}">
                  <a16:creationId xmlns:a16="http://schemas.microsoft.com/office/drawing/2014/main" id="{7CBBAFC4-3DD9-8144-38DF-4227AA63ADBE}"/>
                </a:ext>
              </a:extLst>
            </p:cNvPr>
            <p:cNvSpPr txBox="1"/>
            <p:nvPr/>
          </p:nvSpPr>
          <p:spPr>
            <a:xfrm>
              <a:off x="1810437" y="250888"/>
              <a:ext cx="1411845" cy="57336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Response</a:t>
              </a:r>
            </a:p>
          </p:txBody>
        </p:sp>
      </p:grpSp>
      <p:grpSp>
        <p:nvGrpSpPr>
          <p:cNvPr id="178" name="Group 55">
            <a:extLst>
              <a:ext uri="{FF2B5EF4-FFF2-40B4-BE49-F238E27FC236}">
                <a16:creationId xmlns:a16="http://schemas.microsoft.com/office/drawing/2014/main" id="{2EB65AAE-7755-58C1-C0CC-D50587ED8C31}"/>
              </a:ext>
            </a:extLst>
          </p:cNvPr>
          <p:cNvGrpSpPr/>
          <p:nvPr/>
        </p:nvGrpSpPr>
        <p:grpSpPr>
          <a:xfrm>
            <a:off x="7264560" y="5996567"/>
            <a:ext cx="1225533" cy="596629"/>
            <a:chOff x="1588237" y="-71095"/>
            <a:chExt cx="1634045" cy="1191388"/>
          </a:xfrm>
          <a:noFill/>
        </p:grpSpPr>
        <p:sp>
          <p:nvSpPr>
            <p:cNvPr id="179" name="AutoShape 56">
              <a:extLst>
                <a:ext uri="{FF2B5EF4-FFF2-40B4-BE49-F238E27FC236}">
                  <a16:creationId xmlns:a16="http://schemas.microsoft.com/office/drawing/2014/main" id="{4F3160D8-B6A1-971A-5109-C55F8346495B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80" name="TextBox 57">
              <a:extLst>
                <a:ext uri="{FF2B5EF4-FFF2-40B4-BE49-F238E27FC236}">
                  <a16:creationId xmlns:a16="http://schemas.microsoft.com/office/drawing/2014/main" id="{309A642D-FD34-84B4-E1E5-BF56CFEC0D5E}"/>
                </a:ext>
              </a:extLst>
            </p:cNvPr>
            <p:cNvSpPr txBox="1"/>
            <p:nvPr/>
          </p:nvSpPr>
          <p:spPr>
            <a:xfrm>
              <a:off x="1810437" y="250888"/>
              <a:ext cx="1411845" cy="57336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Response</a:t>
              </a:r>
            </a:p>
          </p:txBody>
        </p:sp>
      </p:grpSp>
      <p:grpSp>
        <p:nvGrpSpPr>
          <p:cNvPr id="181" name="Group 55">
            <a:extLst>
              <a:ext uri="{FF2B5EF4-FFF2-40B4-BE49-F238E27FC236}">
                <a16:creationId xmlns:a16="http://schemas.microsoft.com/office/drawing/2014/main" id="{9DBECF42-B250-6093-1BBD-4ACB8A7028D2}"/>
              </a:ext>
            </a:extLst>
          </p:cNvPr>
          <p:cNvGrpSpPr/>
          <p:nvPr/>
        </p:nvGrpSpPr>
        <p:grpSpPr>
          <a:xfrm rot="10800000">
            <a:off x="7777400" y="3027676"/>
            <a:ext cx="1242134" cy="596629"/>
            <a:chOff x="-67943" y="-71095"/>
            <a:chExt cx="1656180" cy="1191388"/>
          </a:xfrm>
          <a:noFill/>
        </p:grpSpPr>
        <p:sp>
          <p:nvSpPr>
            <p:cNvPr id="182" name="AutoShape 56">
              <a:extLst>
                <a:ext uri="{FF2B5EF4-FFF2-40B4-BE49-F238E27FC236}">
                  <a16:creationId xmlns:a16="http://schemas.microsoft.com/office/drawing/2014/main" id="{4E6B93C6-AAF5-4D15-A2C3-FCCCA6125BFC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83" name="TextBox 57">
              <a:extLst>
                <a:ext uri="{FF2B5EF4-FFF2-40B4-BE49-F238E27FC236}">
                  <a16:creationId xmlns:a16="http://schemas.microsoft.com/office/drawing/2014/main" id="{AE6C194F-0D64-48A5-C749-9D2E09B08861}"/>
                </a:ext>
              </a:extLst>
            </p:cNvPr>
            <p:cNvSpPr txBox="1"/>
            <p:nvPr/>
          </p:nvSpPr>
          <p:spPr>
            <a:xfrm rot="10800000">
              <a:off x="-67943" y="374476"/>
              <a:ext cx="1411845" cy="57336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Response</a:t>
              </a:r>
            </a:p>
          </p:txBody>
        </p:sp>
      </p:grpSp>
      <p:grpSp>
        <p:nvGrpSpPr>
          <p:cNvPr id="184" name="Group 55">
            <a:extLst>
              <a:ext uri="{FF2B5EF4-FFF2-40B4-BE49-F238E27FC236}">
                <a16:creationId xmlns:a16="http://schemas.microsoft.com/office/drawing/2014/main" id="{998FA5E7-7772-7A80-357E-3015C9EA8E72}"/>
              </a:ext>
            </a:extLst>
          </p:cNvPr>
          <p:cNvGrpSpPr/>
          <p:nvPr/>
        </p:nvGrpSpPr>
        <p:grpSpPr>
          <a:xfrm>
            <a:off x="6157915" y="2993679"/>
            <a:ext cx="1174419" cy="596629"/>
            <a:chOff x="22344" y="-71095"/>
            <a:chExt cx="1565893" cy="1191388"/>
          </a:xfrm>
          <a:noFill/>
        </p:grpSpPr>
        <p:sp>
          <p:nvSpPr>
            <p:cNvPr id="185" name="AutoShape 56">
              <a:extLst>
                <a:ext uri="{FF2B5EF4-FFF2-40B4-BE49-F238E27FC236}">
                  <a16:creationId xmlns:a16="http://schemas.microsoft.com/office/drawing/2014/main" id="{004BE7AF-9587-55C6-6ACE-025A5D7114EF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86" name="TextBox 57">
              <a:extLst>
                <a:ext uri="{FF2B5EF4-FFF2-40B4-BE49-F238E27FC236}">
                  <a16:creationId xmlns:a16="http://schemas.microsoft.com/office/drawing/2014/main" id="{3A3A0957-19E7-0AAB-2159-A1D404A0544C}"/>
                </a:ext>
              </a:extLst>
            </p:cNvPr>
            <p:cNvSpPr txBox="1"/>
            <p:nvPr/>
          </p:nvSpPr>
          <p:spPr>
            <a:xfrm>
              <a:off x="22344" y="248595"/>
              <a:ext cx="1411845" cy="57336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Request</a:t>
              </a:r>
            </a:p>
          </p:txBody>
        </p:sp>
      </p:grpSp>
      <p:grpSp>
        <p:nvGrpSpPr>
          <p:cNvPr id="190" name="Group 55">
            <a:extLst>
              <a:ext uri="{FF2B5EF4-FFF2-40B4-BE49-F238E27FC236}">
                <a16:creationId xmlns:a16="http://schemas.microsoft.com/office/drawing/2014/main" id="{5CE89E32-1178-437F-A889-163E3E07594D}"/>
              </a:ext>
            </a:extLst>
          </p:cNvPr>
          <p:cNvGrpSpPr/>
          <p:nvPr/>
        </p:nvGrpSpPr>
        <p:grpSpPr>
          <a:xfrm rot="10800000">
            <a:off x="11078970" y="2964954"/>
            <a:ext cx="1242134" cy="596629"/>
            <a:chOff x="-67943" y="-71095"/>
            <a:chExt cx="1656180" cy="1191388"/>
          </a:xfrm>
          <a:noFill/>
        </p:grpSpPr>
        <p:sp>
          <p:nvSpPr>
            <p:cNvPr id="191" name="AutoShape 56">
              <a:extLst>
                <a:ext uri="{FF2B5EF4-FFF2-40B4-BE49-F238E27FC236}">
                  <a16:creationId xmlns:a16="http://schemas.microsoft.com/office/drawing/2014/main" id="{945244B2-C4F4-A988-21A6-98F5AB2ECE8F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024" name="TextBox 57">
              <a:extLst>
                <a:ext uri="{FF2B5EF4-FFF2-40B4-BE49-F238E27FC236}">
                  <a16:creationId xmlns:a16="http://schemas.microsoft.com/office/drawing/2014/main" id="{B3393DD6-C3E9-054A-ACAE-34CE6EF330DE}"/>
                </a:ext>
              </a:extLst>
            </p:cNvPr>
            <p:cNvSpPr txBox="1"/>
            <p:nvPr/>
          </p:nvSpPr>
          <p:spPr>
            <a:xfrm rot="10800000">
              <a:off x="-67943" y="374476"/>
              <a:ext cx="1411845" cy="57336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Response</a:t>
              </a:r>
            </a:p>
          </p:txBody>
        </p:sp>
      </p:grpSp>
      <p:grpSp>
        <p:nvGrpSpPr>
          <p:cNvPr id="1025" name="Group 55">
            <a:extLst>
              <a:ext uri="{FF2B5EF4-FFF2-40B4-BE49-F238E27FC236}">
                <a16:creationId xmlns:a16="http://schemas.microsoft.com/office/drawing/2014/main" id="{DF204C8D-0B2A-76AE-EF9F-BA1D7E8A5352}"/>
              </a:ext>
            </a:extLst>
          </p:cNvPr>
          <p:cNvGrpSpPr/>
          <p:nvPr/>
        </p:nvGrpSpPr>
        <p:grpSpPr>
          <a:xfrm>
            <a:off x="9459485" y="2930957"/>
            <a:ext cx="1174419" cy="596629"/>
            <a:chOff x="22344" y="-71095"/>
            <a:chExt cx="1565893" cy="1191388"/>
          </a:xfrm>
          <a:noFill/>
        </p:grpSpPr>
        <p:sp>
          <p:nvSpPr>
            <p:cNvPr id="1027" name="AutoShape 56">
              <a:extLst>
                <a:ext uri="{FF2B5EF4-FFF2-40B4-BE49-F238E27FC236}">
                  <a16:creationId xmlns:a16="http://schemas.microsoft.com/office/drawing/2014/main" id="{7D39D3AC-3362-6A07-8F0C-57525650524E}"/>
                </a:ext>
              </a:extLst>
            </p:cNvPr>
            <p:cNvSpPr/>
            <p:nvPr/>
          </p:nvSpPr>
          <p:spPr>
            <a:xfrm flipV="1">
              <a:off x="1588237" y="-71095"/>
              <a:ext cx="0" cy="1191388"/>
            </a:xfrm>
            <a:prstGeom prst="line">
              <a:avLst/>
            </a:prstGeom>
            <a:grpFill/>
            <a:ln w="50800" cap="flat">
              <a:solidFill>
                <a:schemeClr val="bg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028" name="TextBox 57">
              <a:extLst>
                <a:ext uri="{FF2B5EF4-FFF2-40B4-BE49-F238E27FC236}">
                  <a16:creationId xmlns:a16="http://schemas.microsoft.com/office/drawing/2014/main" id="{95D73D58-1293-9A3F-4617-7879C2DD852E}"/>
                </a:ext>
              </a:extLst>
            </p:cNvPr>
            <p:cNvSpPr txBox="1"/>
            <p:nvPr/>
          </p:nvSpPr>
          <p:spPr>
            <a:xfrm>
              <a:off x="22344" y="248595"/>
              <a:ext cx="1411845" cy="573360"/>
            </a:xfrm>
            <a:prstGeom prst="rect">
              <a:avLst/>
            </a:prstGeom>
            <a:grpFill/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chemeClr val="bg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Request</a:t>
              </a:r>
            </a:p>
          </p:txBody>
        </p:sp>
      </p:grpSp>
      <p:sp>
        <p:nvSpPr>
          <p:cNvPr id="1029" name="TextBox 41">
            <a:extLst>
              <a:ext uri="{FF2B5EF4-FFF2-40B4-BE49-F238E27FC236}">
                <a16:creationId xmlns:a16="http://schemas.microsoft.com/office/drawing/2014/main" id="{B3D3A203-00C9-4B17-A0D8-8EF9C2A5276A}"/>
              </a:ext>
            </a:extLst>
          </p:cNvPr>
          <p:cNvSpPr txBox="1"/>
          <p:nvPr/>
        </p:nvSpPr>
        <p:spPr>
          <a:xfrm>
            <a:off x="12083636" y="2015776"/>
            <a:ext cx="2231802" cy="289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GPT-3.5 Turbo-0613</a:t>
            </a:r>
            <a:endParaRPr lang="en-US" sz="1700"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264456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2" y="-3058464"/>
            <a:ext cx="19035234" cy="13748564"/>
            <a:chOff x="-152402" y="-3058464"/>
            <a:chExt cx="19035234" cy="137485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-152402" y="-3058464"/>
              <a:ext cx="19035234" cy="13748564"/>
              <a:chOff x="-250670" y="-28575"/>
              <a:chExt cx="5069141" cy="377229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50670" y="708472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  <a:alpha val="20353"/>
                </a:schemeClr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CA3782B-22A0-9943-7B19-5DB75F6189C4}"/>
              </a:ext>
            </a:extLst>
          </p:cNvPr>
          <p:cNvSpPr txBox="1"/>
          <p:nvPr/>
        </p:nvSpPr>
        <p:spPr>
          <a:xfrm>
            <a:off x="2331819" y="3150170"/>
            <a:ext cx="13649332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8"/>
              </a:lnSpc>
            </a:pPr>
            <a:r>
              <a:rPr lang="en-US" sz="19000" b="1" err="1">
                <a:solidFill>
                  <a:schemeClr val="bg1"/>
                </a:solidFill>
                <a:latin typeface="29LT Zarid Display Bold"/>
                <a:ea typeface="29LT Zarid Display Bold"/>
                <a:cs typeface="29LT Zarid Display Bold"/>
                <a:sym typeface="29LT Zarid Display Bold"/>
              </a:rPr>
              <a:t>MetaView</a:t>
            </a:r>
            <a:endParaRPr lang="en-US" sz="19000" b="1">
              <a:solidFill>
                <a:schemeClr val="bg1"/>
              </a:solidFill>
              <a:latin typeface="29LT Zarid Display Bold"/>
              <a:ea typeface="29LT Zarid Display Bold"/>
              <a:cs typeface="29LT Zarid Display Bold"/>
              <a:sym typeface="29LT Zarid Display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7BD65-116E-30FD-2D42-29B414671AAE}"/>
              </a:ext>
            </a:extLst>
          </p:cNvPr>
          <p:cNvSpPr txBox="1"/>
          <p:nvPr/>
        </p:nvSpPr>
        <p:spPr>
          <a:xfrm>
            <a:off x="5411279" y="1027984"/>
            <a:ext cx="7490411" cy="82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>
                <a:solidFill>
                  <a:schemeClr val="bg1"/>
                </a:solidFill>
                <a:latin typeface="29LT Zarid Display Bold"/>
                <a:ea typeface="29LT Zarid Display Bold"/>
                <a:cs typeface="29LT Zarid Display Bold"/>
                <a:sym typeface="29LT Zarid Display Bold"/>
              </a:rPr>
              <a:t>Price &amp; Marketing</a:t>
            </a:r>
          </a:p>
        </p:txBody>
      </p:sp>
    </p:spTree>
    <p:extLst>
      <p:ext uri="{BB962C8B-B14F-4D97-AF65-F5344CB8AC3E}">
        <p14:creationId xmlns:p14="http://schemas.microsoft.com/office/powerpoint/2010/main" val="364752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71FAEC4-7D46-20C2-440C-1ED5A7668B07}"/>
              </a:ext>
            </a:extLst>
          </p:cNvPr>
          <p:cNvGrpSpPr>
            <a:grpSpLocks noChangeAspect="1"/>
          </p:cNvGrpSpPr>
          <p:nvPr/>
        </p:nvGrpSpPr>
        <p:grpSpPr>
          <a:xfrm>
            <a:off x="-8601656" y="-14712897"/>
            <a:ext cx="34729711" cy="25391451"/>
            <a:chOff x="-152400" y="-3058464"/>
            <a:chExt cx="19035232" cy="139169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28169B-4BC2-1406-09D5-254DEB283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0A8D731-3B29-521E-39BF-7749A7941599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16" name="Freeform 4">
                <a:extLst>
                  <a:ext uri="{FF2B5EF4-FFF2-40B4-BE49-F238E27FC236}">
                    <a16:creationId xmlns:a16="http://schemas.microsoft.com/office/drawing/2014/main" id="{99B85128-F0C5-F1A6-F3F8-8D9E51A66A7B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7098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5">
                <a:extLst>
                  <a:ext uri="{FF2B5EF4-FFF2-40B4-BE49-F238E27FC236}">
                    <a16:creationId xmlns:a16="http://schemas.microsoft.com/office/drawing/2014/main" id="{A035FCEC-904B-B6F5-A440-6C693DAD3EE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" name="TextBox 6">
            <a:extLst>
              <a:ext uri="{FF2B5EF4-FFF2-40B4-BE49-F238E27FC236}">
                <a16:creationId xmlns:a16="http://schemas.microsoft.com/office/drawing/2014/main" id="{70C4734F-6DDE-2F9C-C7C4-85B02D072DB5}"/>
              </a:ext>
            </a:extLst>
          </p:cNvPr>
          <p:cNvSpPr txBox="1"/>
          <p:nvPr/>
        </p:nvSpPr>
        <p:spPr>
          <a:xfrm>
            <a:off x="1028700" y="1187768"/>
            <a:ext cx="16040608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系統成本計算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62B745E-46C4-DA15-1DF0-43063B496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160833"/>
              </p:ext>
            </p:extLst>
          </p:nvPr>
        </p:nvGraphicFramePr>
        <p:xfrm>
          <a:off x="4303060" y="-6417125"/>
          <a:ext cx="13984940" cy="53938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549">
                  <a:extLst>
                    <a:ext uri="{9D8B030D-6E8A-4147-A177-3AD203B41FA5}">
                      <a16:colId xmlns:a16="http://schemas.microsoft.com/office/drawing/2014/main" val="1096440182"/>
                    </a:ext>
                  </a:extLst>
                </a:gridCol>
                <a:gridCol w="5365049">
                  <a:extLst>
                    <a:ext uri="{9D8B030D-6E8A-4147-A177-3AD203B41FA5}">
                      <a16:colId xmlns:a16="http://schemas.microsoft.com/office/drawing/2014/main" val="3726556437"/>
                    </a:ext>
                  </a:extLst>
                </a:gridCol>
                <a:gridCol w="5497342">
                  <a:extLst>
                    <a:ext uri="{9D8B030D-6E8A-4147-A177-3AD203B41FA5}">
                      <a16:colId xmlns:a16="http://schemas.microsoft.com/office/drawing/2014/main" val="1720905183"/>
                    </a:ext>
                  </a:extLst>
                </a:gridCol>
              </a:tblGrid>
              <a:tr h="908752">
                <a:tc>
                  <a:txBody>
                    <a:bodyPr/>
                    <a:lstStyle/>
                    <a:p>
                      <a:pPr algn="l"/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$0.03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（一個問題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評價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評分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回答分析）</a:t>
                      </a:r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$0.5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68774"/>
                  </a:ext>
                </a:extLst>
              </a:tr>
              <a:tr h="90875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Google speech API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＄0.48 (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一個問題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評價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評分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回答分析）</a:t>
                      </a:r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602241"/>
                  </a:ext>
                </a:extLst>
              </a:tr>
              <a:tr h="908752">
                <a:tc>
                  <a:txBody>
                    <a:bodyPr/>
                    <a:lstStyle/>
                    <a:p>
                      <a:pPr algn="l"/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633126"/>
                  </a:ext>
                </a:extLst>
              </a:tr>
              <a:tr h="80680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Firebase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＄320 (500GB/</a:t>
                      </a:r>
                      <a:r>
                        <a:rPr lang="af-ZA" sz="2400" b="1" err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每月</a:t>
                      </a:r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962766"/>
                  </a:ext>
                </a:extLst>
              </a:tr>
              <a:tr h="9107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 err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heygen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＄720（每月）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887730"/>
                  </a:ext>
                </a:extLst>
              </a:tr>
              <a:tr h="95005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網域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＄90 (</a:t>
                      </a:r>
                      <a:r>
                        <a:rPr lang="af-ZA" sz="2400" b="1" err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每月</a:t>
                      </a:r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798815"/>
                  </a:ext>
                </a:extLst>
              </a:tr>
            </a:tbl>
          </a:graphicData>
        </a:graphic>
      </p:graphicFrame>
      <p:sp>
        <p:nvSpPr>
          <p:cNvPr id="12" name="圓角矩形 11">
            <a:extLst>
              <a:ext uri="{FF2B5EF4-FFF2-40B4-BE49-F238E27FC236}">
                <a16:creationId xmlns:a16="http://schemas.microsoft.com/office/drawing/2014/main" id="{67A3E617-AFD6-39F4-5E07-F40A23E8BE5B}"/>
              </a:ext>
            </a:extLst>
          </p:cNvPr>
          <p:cNvSpPr/>
          <p:nvPr/>
        </p:nvSpPr>
        <p:spPr>
          <a:xfrm>
            <a:off x="853681" y="4259259"/>
            <a:ext cx="2808263" cy="1620737"/>
          </a:xfrm>
          <a:prstGeom prst="roundRect">
            <a:avLst>
              <a:gd name="adj" fmla="val 117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變動成本</a:t>
            </a:r>
            <a:endParaRPr lang="en-US" altLang="zh-TW" sz="32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E612014-0B13-FCB6-7281-A21DD00D69BE}"/>
              </a:ext>
            </a:extLst>
          </p:cNvPr>
          <p:cNvSpPr/>
          <p:nvPr/>
        </p:nvSpPr>
        <p:spPr>
          <a:xfrm>
            <a:off x="853681" y="6901401"/>
            <a:ext cx="2808263" cy="2551362"/>
          </a:xfrm>
          <a:prstGeom prst="roundRect">
            <a:avLst>
              <a:gd name="adj" fmla="val 80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固定成本</a:t>
            </a:r>
            <a:endParaRPr lang="en-US" altLang="zh-TW" sz="32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1EC57739-080E-189D-92D0-CE4A7D057102}"/>
              </a:ext>
            </a:extLst>
          </p:cNvPr>
          <p:cNvSpPr/>
          <p:nvPr/>
        </p:nvSpPr>
        <p:spPr>
          <a:xfrm>
            <a:off x="3980329" y="8755342"/>
            <a:ext cx="3145005" cy="697421"/>
          </a:xfrm>
          <a:prstGeom prst="roundRect">
            <a:avLst>
              <a:gd name="adj" fmla="val 193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web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7ECC8314-733B-3F79-33F4-3398941F2477}"/>
              </a:ext>
            </a:extLst>
          </p:cNvPr>
          <p:cNvSpPr/>
          <p:nvPr/>
        </p:nvSpPr>
        <p:spPr>
          <a:xfrm>
            <a:off x="3980328" y="7837748"/>
            <a:ext cx="3145006" cy="697421"/>
          </a:xfrm>
          <a:prstGeom prst="roundRect">
            <a:avLst>
              <a:gd name="adj" fmla="val 193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err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heygen</a:t>
            </a:r>
            <a:endParaRPr lang="en-US" altLang="zh-TW" sz="24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8B9CBC4F-631B-6E4D-7B57-A1BF9AC08244}"/>
              </a:ext>
            </a:extLst>
          </p:cNvPr>
          <p:cNvSpPr/>
          <p:nvPr/>
        </p:nvSpPr>
        <p:spPr>
          <a:xfrm>
            <a:off x="3980327" y="6901401"/>
            <a:ext cx="3145007" cy="697421"/>
          </a:xfrm>
          <a:prstGeom prst="roundRect">
            <a:avLst>
              <a:gd name="adj" fmla="val 228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Firebase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004C74B-EFF2-DB80-5E8C-4ACD55847F4B}"/>
              </a:ext>
            </a:extLst>
          </p:cNvPr>
          <p:cNvSpPr/>
          <p:nvPr/>
        </p:nvSpPr>
        <p:spPr>
          <a:xfrm>
            <a:off x="3980326" y="4264981"/>
            <a:ext cx="3145008" cy="697421"/>
          </a:xfrm>
          <a:prstGeom prst="roundRect">
            <a:avLst>
              <a:gd name="adj" fmla="val 243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err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ChatGPT</a:t>
            </a:r>
            <a:r>
              <a:rPr lang="en-US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 API</a:t>
            </a:r>
            <a:endParaRPr lang="zh-TW" altLang="en-US" sz="2400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12C7E90A-4E3B-3E46-F56B-04ADE18E10E8}"/>
              </a:ext>
            </a:extLst>
          </p:cNvPr>
          <p:cNvSpPr/>
          <p:nvPr/>
        </p:nvSpPr>
        <p:spPr>
          <a:xfrm>
            <a:off x="3982067" y="5182575"/>
            <a:ext cx="3145008" cy="697421"/>
          </a:xfrm>
          <a:prstGeom prst="roundRect">
            <a:avLst>
              <a:gd name="adj" fmla="val 180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Google Speech API</a:t>
            </a:r>
            <a:endParaRPr lang="zh-TW" altLang="en-US" sz="2400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E24C827-373A-69B4-9CD0-0FD616977070}"/>
              </a:ext>
            </a:extLst>
          </p:cNvPr>
          <p:cNvSpPr txBox="1"/>
          <p:nvPr/>
        </p:nvSpPr>
        <p:spPr>
          <a:xfrm>
            <a:off x="8763200" y="8868399"/>
            <a:ext cx="2323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$90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（每月）</a:t>
            </a:r>
            <a:endParaRPr lang="zh-TW" altLang="en-US" sz="240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8843112-D77B-6F31-2681-9943F64B366C}"/>
              </a:ext>
            </a:extLst>
          </p:cNvPr>
          <p:cNvSpPr txBox="1"/>
          <p:nvPr/>
        </p:nvSpPr>
        <p:spPr>
          <a:xfrm>
            <a:off x="8763200" y="7946249"/>
            <a:ext cx="2323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$720</a:t>
            </a:r>
            <a:r>
              <a:rPr lang="zh-TW" altLang="en-US" sz="2400" b="1" dirty="0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（每月）</a:t>
            </a:r>
            <a:endParaRPr lang="zh-TW" altLang="en-US" sz="2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AF1328F-D23E-B534-960D-94ECF015BEEA}"/>
              </a:ext>
            </a:extLst>
          </p:cNvPr>
          <p:cNvSpPr txBox="1"/>
          <p:nvPr/>
        </p:nvSpPr>
        <p:spPr>
          <a:xfrm>
            <a:off x="8225945" y="7023509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$320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（</a:t>
            </a:r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500GB/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每月）</a:t>
            </a:r>
            <a:endParaRPr lang="zh-TW" altLang="en-US" sz="240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1FE0872-A66B-94EA-E50A-0DABE4018041}"/>
              </a:ext>
            </a:extLst>
          </p:cNvPr>
          <p:cNvSpPr txBox="1"/>
          <p:nvPr/>
        </p:nvSpPr>
        <p:spPr>
          <a:xfrm>
            <a:off x="8225945" y="4382858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$0.03</a:t>
            </a:r>
            <a:endParaRPr lang="zh-TW" altLang="en-US" sz="240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E3E21B6-0748-CE13-927A-F5CC7DE013E1}"/>
              </a:ext>
            </a:extLst>
          </p:cNvPr>
          <p:cNvSpPr txBox="1"/>
          <p:nvPr/>
        </p:nvSpPr>
        <p:spPr>
          <a:xfrm>
            <a:off x="8225945" y="5300451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$0.016</a:t>
            </a:r>
            <a:endParaRPr lang="zh-TW" altLang="en-US" sz="240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38D3D8AD-556F-A480-CA39-559F2885CD68}"/>
              </a:ext>
            </a:extLst>
          </p:cNvPr>
          <p:cNvSpPr/>
          <p:nvPr/>
        </p:nvSpPr>
        <p:spPr>
          <a:xfrm>
            <a:off x="7539424" y="3144842"/>
            <a:ext cx="4652576" cy="697421"/>
          </a:xfrm>
          <a:prstGeom prst="roundRect">
            <a:avLst>
              <a:gd name="adj" fmla="val 274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成本</a:t>
            </a: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8BF7E61F-CF17-7F36-CF77-408E0D68F084}"/>
              </a:ext>
            </a:extLst>
          </p:cNvPr>
          <p:cNvSpPr/>
          <p:nvPr/>
        </p:nvSpPr>
        <p:spPr>
          <a:xfrm>
            <a:off x="13041444" y="3149492"/>
            <a:ext cx="4652576" cy="697421"/>
          </a:xfrm>
          <a:prstGeom prst="roundRect">
            <a:avLst>
              <a:gd name="adj" fmla="val 243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每次面試之成本（</a:t>
            </a:r>
            <a:r>
              <a:rPr lang="en-US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6</a:t>
            </a:r>
            <a:r>
              <a:rPr lang="zh-TW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道題目）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558D88B9-FCEE-6BBB-43A4-BE3550E8760B}"/>
              </a:ext>
            </a:extLst>
          </p:cNvPr>
          <p:cNvSpPr txBox="1"/>
          <p:nvPr/>
        </p:nvSpPr>
        <p:spPr>
          <a:xfrm>
            <a:off x="13671311" y="4382858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$0.6</a:t>
            </a:r>
            <a:endParaRPr lang="zh-TW" altLang="en-US" sz="240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CC5F4D1-785C-2E0D-D392-D1D72EF5D749}"/>
              </a:ext>
            </a:extLst>
          </p:cNvPr>
          <p:cNvSpPr txBox="1"/>
          <p:nvPr/>
        </p:nvSpPr>
        <p:spPr>
          <a:xfrm>
            <a:off x="13668733" y="5300450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$0.9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005700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71FAEC4-7D46-20C2-440C-1ED5A7668B07}"/>
              </a:ext>
            </a:extLst>
          </p:cNvPr>
          <p:cNvGrpSpPr>
            <a:grpSpLocks noChangeAspect="1"/>
          </p:cNvGrpSpPr>
          <p:nvPr/>
        </p:nvGrpSpPr>
        <p:grpSpPr>
          <a:xfrm>
            <a:off x="-8601656" y="-14712897"/>
            <a:ext cx="34729711" cy="25391451"/>
            <a:chOff x="-152400" y="-3058464"/>
            <a:chExt cx="19035232" cy="139169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28169B-4BC2-1406-09D5-254DEB283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0A8D731-3B29-521E-39BF-7749A7941599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16" name="Freeform 4">
                <a:extLst>
                  <a:ext uri="{FF2B5EF4-FFF2-40B4-BE49-F238E27FC236}">
                    <a16:creationId xmlns:a16="http://schemas.microsoft.com/office/drawing/2014/main" id="{99B85128-F0C5-F1A6-F3F8-8D9E51A66A7B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7098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5">
                <a:extLst>
                  <a:ext uri="{FF2B5EF4-FFF2-40B4-BE49-F238E27FC236}">
                    <a16:creationId xmlns:a16="http://schemas.microsoft.com/office/drawing/2014/main" id="{A035FCEC-904B-B6F5-A440-6C693DAD3EE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" name="TextBox 6">
            <a:extLst>
              <a:ext uri="{FF2B5EF4-FFF2-40B4-BE49-F238E27FC236}">
                <a16:creationId xmlns:a16="http://schemas.microsoft.com/office/drawing/2014/main" id="{70C4734F-6DDE-2F9C-C7C4-85B02D072DB5}"/>
              </a:ext>
            </a:extLst>
          </p:cNvPr>
          <p:cNvSpPr txBox="1"/>
          <p:nvPr/>
        </p:nvSpPr>
        <p:spPr>
          <a:xfrm>
            <a:off x="1028700" y="1187768"/>
            <a:ext cx="16040608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系統成本計算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62B745E-46C4-DA15-1DF0-43063B4966A4}"/>
              </a:ext>
            </a:extLst>
          </p:cNvPr>
          <p:cNvGraphicFramePr>
            <a:graphicFrameLocks noGrp="1"/>
          </p:cNvGraphicFramePr>
          <p:nvPr/>
        </p:nvGraphicFramePr>
        <p:xfrm>
          <a:off x="4303060" y="-6417125"/>
          <a:ext cx="13984940" cy="53938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22549">
                  <a:extLst>
                    <a:ext uri="{9D8B030D-6E8A-4147-A177-3AD203B41FA5}">
                      <a16:colId xmlns:a16="http://schemas.microsoft.com/office/drawing/2014/main" val="1096440182"/>
                    </a:ext>
                  </a:extLst>
                </a:gridCol>
                <a:gridCol w="5365049">
                  <a:extLst>
                    <a:ext uri="{9D8B030D-6E8A-4147-A177-3AD203B41FA5}">
                      <a16:colId xmlns:a16="http://schemas.microsoft.com/office/drawing/2014/main" val="3726556437"/>
                    </a:ext>
                  </a:extLst>
                </a:gridCol>
                <a:gridCol w="5497342">
                  <a:extLst>
                    <a:ext uri="{9D8B030D-6E8A-4147-A177-3AD203B41FA5}">
                      <a16:colId xmlns:a16="http://schemas.microsoft.com/office/drawing/2014/main" val="1720905183"/>
                    </a:ext>
                  </a:extLst>
                </a:gridCol>
              </a:tblGrid>
              <a:tr h="908752">
                <a:tc>
                  <a:txBody>
                    <a:bodyPr/>
                    <a:lstStyle/>
                    <a:p>
                      <a:pPr algn="l"/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$0.03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（一個問題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評價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評分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回答分析）</a:t>
                      </a:r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$0.5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68774"/>
                  </a:ext>
                </a:extLst>
              </a:tr>
              <a:tr h="90875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Google speech API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＄0.48 (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一個問題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評價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評分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回答分析）</a:t>
                      </a:r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602241"/>
                  </a:ext>
                </a:extLst>
              </a:tr>
              <a:tr h="908752">
                <a:tc>
                  <a:txBody>
                    <a:bodyPr/>
                    <a:lstStyle/>
                    <a:p>
                      <a:pPr algn="l"/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633126"/>
                  </a:ext>
                </a:extLst>
              </a:tr>
              <a:tr h="80680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Firebase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＄320 (500GB/</a:t>
                      </a:r>
                      <a:r>
                        <a:rPr lang="af-ZA" sz="2400" b="1" err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每月</a:t>
                      </a:r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962766"/>
                  </a:ext>
                </a:extLst>
              </a:tr>
              <a:tr h="91075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 err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heygen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＄720（每月）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887730"/>
                  </a:ext>
                </a:extLst>
              </a:tr>
              <a:tr h="95005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網域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＄90 (</a:t>
                      </a:r>
                      <a:r>
                        <a:rPr lang="af-ZA" sz="2400" b="1" err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每月</a:t>
                      </a:r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798815"/>
                  </a:ext>
                </a:extLst>
              </a:tr>
            </a:tbl>
          </a:graphicData>
        </a:graphic>
      </p:graphicFrame>
      <p:sp>
        <p:nvSpPr>
          <p:cNvPr id="12" name="圓角矩形 11">
            <a:extLst>
              <a:ext uri="{FF2B5EF4-FFF2-40B4-BE49-F238E27FC236}">
                <a16:creationId xmlns:a16="http://schemas.microsoft.com/office/drawing/2014/main" id="{67A3E617-AFD6-39F4-5E07-F40A23E8BE5B}"/>
              </a:ext>
            </a:extLst>
          </p:cNvPr>
          <p:cNvSpPr/>
          <p:nvPr/>
        </p:nvSpPr>
        <p:spPr>
          <a:xfrm>
            <a:off x="853681" y="4259259"/>
            <a:ext cx="2808263" cy="1620737"/>
          </a:xfrm>
          <a:prstGeom prst="roundRect">
            <a:avLst>
              <a:gd name="adj" fmla="val 117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變動成本</a:t>
            </a:r>
            <a:endParaRPr lang="en-US" altLang="zh-TW" sz="32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E612014-0B13-FCB6-7281-A21DD00D69BE}"/>
              </a:ext>
            </a:extLst>
          </p:cNvPr>
          <p:cNvSpPr/>
          <p:nvPr/>
        </p:nvSpPr>
        <p:spPr>
          <a:xfrm>
            <a:off x="853681" y="6901401"/>
            <a:ext cx="2808263" cy="2551362"/>
          </a:xfrm>
          <a:prstGeom prst="roundRect">
            <a:avLst>
              <a:gd name="adj" fmla="val 80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固定成本</a:t>
            </a:r>
            <a:endParaRPr lang="en-US" altLang="zh-TW" sz="32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1EC57739-080E-189D-92D0-CE4A7D057102}"/>
              </a:ext>
            </a:extLst>
          </p:cNvPr>
          <p:cNvSpPr/>
          <p:nvPr/>
        </p:nvSpPr>
        <p:spPr>
          <a:xfrm>
            <a:off x="3980329" y="8755342"/>
            <a:ext cx="3145005" cy="697421"/>
          </a:xfrm>
          <a:prstGeom prst="roundRect">
            <a:avLst>
              <a:gd name="adj" fmla="val 193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web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7ECC8314-733B-3F79-33F4-3398941F2477}"/>
              </a:ext>
            </a:extLst>
          </p:cNvPr>
          <p:cNvSpPr/>
          <p:nvPr/>
        </p:nvSpPr>
        <p:spPr>
          <a:xfrm>
            <a:off x="3980328" y="7837748"/>
            <a:ext cx="3145006" cy="697421"/>
          </a:xfrm>
          <a:prstGeom prst="roundRect">
            <a:avLst>
              <a:gd name="adj" fmla="val 193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err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heygen</a:t>
            </a:r>
            <a:endParaRPr lang="en-US" altLang="zh-TW" sz="24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8B9CBC4F-631B-6E4D-7B57-A1BF9AC08244}"/>
              </a:ext>
            </a:extLst>
          </p:cNvPr>
          <p:cNvSpPr/>
          <p:nvPr/>
        </p:nvSpPr>
        <p:spPr>
          <a:xfrm>
            <a:off x="3980327" y="6901401"/>
            <a:ext cx="3145007" cy="697421"/>
          </a:xfrm>
          <a:prstGeom prst="roundRect">
            <a:avLst>
              <a:gd name="adj" fmla="val 228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Firebase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004C74B-EFF2-DB80-5E8C-4ACD55847F4B}"/>
              </a:ext>
            </a:extLst>
          </p:cNvPr>
          <p:cNvSpPr/>
          <p:nvPr/>
        </p:nvSpPr>
        <p:spPr>
          <a:xfrm>
            <a:off x="3980326" y="4264981"/>
            <a:ext cx="3145008" cy="697421"/>
          </a:xfrm>
          <a:prstGeom prst="roundRect">
            <a:avLst>
              <a:gd name="adj" fmla="val 243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err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ChatGPT</a:t>
            </a:r>
            <a:r>
              <a:rPr lang="en-US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 API</a:t>
            </a:r>
            <a:endParaRPr lang="zh-TW" altLang="en-US" sz="2400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12C7E90A-4E3B-3E46-F56B-04ADE18E10E8}"/>
              </a:ext>
            </a:extLst>
          </p:cNvPr>
          <p:cNvSpPr/>
          <p:nvPr/>
        </p:nvSpPr>
        <p:spPr>
          <a:xfrm>
            <a:off x="3982067" y="5182575"/>
            <a:ext cx="3145008" cy="697421"/>
          </a:xfrm>
          <a:prstGeom prst="roundRect">
            <a:avLst>
              <a:gd name="adj" fmla="val 180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Google Speech API</a:t>
            </a:r>
            <a:endParaRPr lang="zh-TW" altLang="en-US" sz="2400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4AF07BD-6E7B-9B65-C9FB-A98B581DBD79}"/>
              </a:ext>
            </a:extLst>
          </p:cNvPr>
          <p:cNvSpPr txBox="1"/>
          <p:nvPr/>
        </p:nvSpPr>
        <p:spPr>
          <a:xfrm>
            <a:off x="788894" y="5923183"/>
            <a:ext cx="10228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* 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一個問題</a:t>
            </a:r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/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評價</a:t>
            </a:r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/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評分</a:t>
            </a:r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/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回答分析</a:t>
            </a:r>
            <a:endParaRPr lang="zh-TW" altLang="en-US" sz="240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E24C827-373A-69B4-9CD0-0FD616977070}"/>
              </a:ext>
            </a:extLst>
          </p:cNvPr>
          <p:cNvSpPr txBox="1"/>
          <p:nvPr/>
        </p:nvSpPr>
        <p:spPr>
          <a:xfrm>
            <a:off x="8763200" y="8868399"/>
            <a:ext cx="2323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$90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（每月）</a:t>
            </a:r>
            <a:endParaRPr lang="zh-TW" altLang="en-US" sz="240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8843112-D77B-6F31-2681-9943F64B366C}"/>
              </a:ext>
            </a:extLst>
          </p:cNvPr>
          <p:cNvSpPr txBox="1"/>
          <p:nvPr/>
        </p:nvSpPr>
        <p:spPr>
          <a:xfrm>
            <a:off x="8763200" y="7946249"/>
            <a:ext cx="2323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$70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（每月）</a:t>
            </a:r>
            <a:endParaRPr lang="zh-TW" altLang="en-US" sz="240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AF1328F-D23E-B534-960D-94ECF015BEEA}"/>
              </a:ext>
            </a:extLst>
          </p:cNvPr>
          <p:cNvSpPr txBox="1"/>
          <p:nvPr/>
        </p:nvSpPr>
        <p:spPr>
          <a:xfrm>
            <a:off x="8225945" y="7023509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$320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（</a:t>
            </a:r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500GB/</a:t>
            </a:r>
            <a:r>
              <a:rPr lang="zh-TW" altLang="en-US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每月）</a:t>
            </a:r>
            <a:endParaRPr lang="zh-TW" altLang="en-US" sz="240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1FE0872-A66B-94EA-E50A-0DABE4018041}"/>
              </a:ext>
            </a:extLst>
          </p:cNvPr>
          <p:cNvSpPr txBox="1"/>
          <p:nvPr/>
        </p:nvSpPr>
        <p:spPr>
          <a:xfrm>
            <a:off x="8225945" y="4382858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$0.03</a:t>
            </a:r>
            <a:endParaRPr lang="zh-TW" altLang="en-US" sz="240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E3E21B6-0748-CE13-927A-F5CC7DE013E1}"/>
              </a:ext>
            </a:extLst>
          </p:cNvPr>
          <p:cNvSpPr txBox="1"/>
          <p:nvPr/>
        </p:nvSpPr>
        <p:spPr>
          <a:xfrm>
            <a:off x="8225945" y="5300451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$0.016</a:t>
            </a:r>
            <a:endParaRPr lang="zh-TW" altLang="en-US" sz="240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38D3D8AD-556F-A480-CA39-559F2885CD68}"/>
              </a:ext>
            </a:extLst>
          </p:cNvPr>
          <p:cNvSpPr/>
          <p:nvPr/>
        </p:nvSpPr>
        <p:spPr>
          <a:xfrm>
            <a:off x="7539424" y="3144842"/>
            <a:ext cx="4652576" cy="697421"/>
          </a:xfrm>
          <a:prstGeom prst="roundRect">
            <a:avLst>
              <a:gd name="adj" fmla="val 274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成本</a:t>
            </a: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8BF7E61F-CF17-7F36-CF77-408E0D68F084}"/>
              </a:ext>
            </a:extLst>
          </p:cNvPr>
          <p:cNvSpPr/>
          <p:nvPr/>
        </p:nvSpPr>
        <p:spPr>
          <a:xfrm>
            <a:off x="13041444" y="3149492"/>
            <a:ext cx="4652576" cy="697421"/>
          </a:xfrm>
          <a:prstGeom prst="roundRect">
            <a:avLst>
              <a:gd name="adj" fmla="val 243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每次面試之成本（</a:t>
            </a:r>
            <a:r>
              <a:rPr lang="en-US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6</a:t>
            </a:r>
            <a:r>
              <a:rPr lang="zh-TW" altLang="en-US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</a:rPr>
              <a:t>道題目）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558D88B9-FCEE-6BBB-43A4-BE3550E8760B}"/>
              </a:ext>
            </a:extLst>
          </p:cNvPr>
          <p:cNvSpPr txBox="1"/>
          <p:nvPr/>
        </p:nvSpPr>
        <p:spPr>
          <a:xfrm>
            <a:off x="13671311" y="4382858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$0.6</a:t>
            </a:r>
            <a:endParaRPr lang="zh-TW" altLang="en-US" sz="240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CC5F4D1-785C-2E0D-D392-D1D72EF5D749}"/>
              </a:ext>
            </a:extLst>
          </p:cNvPr>
          <p:cNvSpPr txBox="1"/>
          <p:nvPr/>
        </p:nvSpPr>
        <p:spPr>
          <a:xfrm>
            <a:off x="13668733" y="5300450"/>
            <a:ext cx="3397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>
                <a:solidFill>
                  <a:schemeClr val="bg1"/>
                </a:solidFill>
                <a:latin typeface="可畫和劑局方明刻本-繁"/>
                <a:ea typeface="可畫和劑局方明刻本-繁"/>
              </a:rPr>
              <a:t>$0.9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19587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00A1E25-FF4A-7F15-C38F-6A8BE7F5AF08}"/>
              </a:ext>
            </a:extLst>
          </p:cNvPr>
          <p:cNvGrpSpPr>
            <a:grpSpLocks noChangeAspect="1"/>
          </p:cNvGrpSpPr>
          <p:nvPr/>
        </p:nvGrpSpPr>
        <p:grpSpPr>
          <a:xfrm>
            <a:off x="-8601656" y="-14712897"/>
            <a:ext cx="34729711" cy="25391451"/>
            <a:chOff x="-152400" y="-3058464"/>
            <a:chExt cx="19035232" cy="1391696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EDA374E-EE2C-C2B2-DCCA-9BBC3B392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D613EFA-61F2-00AC-3C2C-FD6BC822615C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24" name="Freeform 4">
                <a:extLst>
                  <a:ext uri="{FF2B5EF4-FFF2-40B4-BE49-F238E27FC236}">
                    <a16:creationId xmlns:a16="http://schemas.microsoft.com/office/drawing/2014/main" id="{BA963FD2-75F9-334D-FA49-FAC77EB66D1B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7098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5">
                <a:extLst>
                  <a:ext uri="{FF2B5EF4-FFF2-40B4-BE49-F238E27FC236}">
                    <a16:creationId xmlns:a16="http://schemas.microsoft.com/office/drawing/2014/main" id="{03536721-CA01-B1A7-89A9-642EAD657EA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0857B94D-8D3A-1B54-844B-2BBD85CEB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656927"/>
              </p:ext>
            </p:extLst>
          </p:nvPr>
        </p:nvGraphicFramePr>
        <p:xfrm>
          <a:off x="9475083" y="3740036"/>
          <a:ext cx="8177156" cy="46551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1117">
                  <a:extLst>
                    <a:ext uri="{9D8B030D-6E8A-4147-A177-3AD203B41FA5}">
                      <a16:colId xmlns:a16="http://schemas.microsoft.com/office/drawing/2014/main" val="1096440182"/>
                    </a:ext>
                  </a:extLst>
                </a:gridCol>
                <a:gridCol w="2057461">
                  <a:extLst>
                    <a:ext uri="{9D8B030D-6E8A-4147-A177-3AD203B41FA5}">
                      <a16:colId xmlns:a16="http://schemas.microsoft.com/office/drawing/2014/main" val="2845715179"/>
                    </a:ext>
                  </a:extLst>
                </a:gridCol>
                <a:gridCol w="2044289">
                  <a:extLst>
                    <a:ext uri="{9D8B030D-6E8A-4147-A177-3AD203B41FA5}">
                      <a16:colId xmlns:a16="http://schemas.microsoft.com/office/drawing/2014/main" val="3726556437"/>
                    </a:ext>
                  </a:extLst>
                </a:gridCol>
                <a:gridCol w="2044289">
                  <a:extLst>
                    <a:ext uri="{9D8B030D-6E8A-4147-A177-3AD203B41FA5}">
                      <a16:colId xmlns:a16="http://schemas.microsoft.com/office/drawing/2014/main" val="1720905183"/>
                    </a:ext>
                  </a:extLst>
                </a:gridCol>
              </a:tblGrid>
              <a:tr h="7471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3200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  <a:cs typeface="可畫和劑局方明刻本-繁"/>
                        <a:sym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581794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費用</a:t>
                      </a:r>
                      <a:r>
                        <a:rPr lang="en-US" altLang="zh-TW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/</a:t>
                      </a:r>
                      <a:r>
                        <a:rPr lang="af-ZA" altLang="zh-TW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Premium </a:t>
                      </a:r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$150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$130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68774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81028"/>
                  </a:ext>
                </a:extLst>
              </a:tr>
              <a:tr h="843452">
                <a:tc>
                  <a:txBody>
                    <a:bodyPr/>
                    <a:lstStyle/>
                    <a:p>
                      <a:r>
                        <a:rPr lang="zh-TW" altLang="en-US" sz="2400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學生錯題集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V</a:t>
                      </a:r>
                      <a:endParaRPr lang="zh-TW" altLang="en-US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887730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r>
                        <a:rPr lang="zh-TW" altLang="en-US" sz="2400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查看學生狀況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646842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r>
                        <a:rPr lang="zh-TW" altLang="en-US" sz="2400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各學校</a:t>
                      </a:r>
                      <a:r>
                        <a:rPr lang="en-US" altLang="zh-TW" sz="2400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PR</a:t>
                      </a:r>
                      <a:r>
                        <a:rPr lang="zh-TW" altLang="en-US" sz="2400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比較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1649"/>
                  </a:ext>
                </a:extLst>
              </a:tr>
            </a:tbl>
          </a:graphicData>
        </a:graphic>
      </p:graphicFrame>
      <p:sp>
        <p:nvSpPr>
          <p:cNvPr id="9" name="TextBox 6">
            <a:extLst>
              <a:ext uri="{FF2B5EF4-FFF2-40B4-BE49-F238E27FC236}">
                <a16:creationId xmlns:a16="http://schemas.microsoft.com/office/drawing/2014/main" id="{70C4734F-6DDE-2F9C-C7C4-85B02D072DB5}"/>
              </a:ext>
            </a:extLst>
          </p:cNvPr>
          <p:cNvSpPr txBox="1"/>
          <p:nvPr/>
        </p:nvSpPr>
        <p:spPr>
          <a:xfrm>
            <a:off x="1028700" y="1187768"/>
            <a:ext cx="16040608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收費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EB72EB-B629-9AC4-2839-A557C235E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666690"/>
              </p:ext>
            </p:extLst>
          </p:nvPr>
        </p:nvGraphicFramePr>
        <p:xfrm>
          <a:off x="514923" y="3740036"/>
          <a:ext cx="8177156" cy="60737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4289">
                  <a:extLst>
                    <a:ext uri="{9D8B030D-6E8A-4147-A177-3AD203B41FA5}">
                      <a16:colId xmlns:a16="http://schemas.microsoft.com/office/drawing/2014/main" val="1096440182"/>
                    </a:ext>
                  </a:extLst>
                </a:gridCol>
                <a:gridCol w="2044289">
                  <a:extLst>
                    <a:ext uri="{9D8B030D-6E8A-4147-A177-3AD203B41FA5}">
                      <a16:colId xmlns:a16="http://schemas.microsoft.com/office/drawing/2014/main" val="2845715179"/>
                    </a:ext>
                  </a:extLst>
                </a:gridCol>
                <a:gridCol w="2044289">
                  <a:extLst>
                    <a:ext uri="{9D8B030D-6E8A-4147-A177-3AD203B41FA5}">
                      <a16:colId xmlns:a16="http://schemas.microsoft.com/office/drawing/2014/main" val="3726556437"/>
                    </a:ext>
                  </a:extLst>
                </a:gridCol>
                <a:gridCol w="2044289">
                  <a:extLst>
                    <a:ext uri="{9D8B030D-6E8A-4147-A177-3AD203B41FA5}">
                      <a16:colId xmlns:a16="http://schemas.microsoft.com/office/drawing/2014/main" val="1720905183"/>
                    </a:ext>
                  </a:extLst>
                </a:gridCol>
              </a:tblGrid>
              <a:tr h="747181"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581794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月費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$150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sz="2400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$200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68774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endParaRPr lang="zh-TW" altLang="en-US" sz="2400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2400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962766"/>
                  </a:ext>
                </a:extLst>
              </a:tr>
              <a:tr h="843452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個人化題目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V</a:t>
                      </a:r>
                      <a:endParaRPr lang="zh-TW" altLang="en-US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887730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面試評分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646842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面試回饋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401649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錯題集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376634"/>
                  </a:ext>
                </a:extLst>
              </a:tr>
              <a:tr h="747181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b="1">
                          <a:solidFill>
                            <a:schemeClr val="bg1"/>
                          </a:solidFill>
                          <a:latin typeface="可畫和劑局方明刻本-繁"/>
                          <a:ea typeface="可畫和劑局方明刻本-繁"/>
                        </a:rPr>
                        <a:t>無限次數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1">
                        <a:solidFill>
                          <a:schemeClr val="bg1"/>
                        </a:solidFill>
                        <a:latin typeface="可畫和劑局方明刻本-繁"/>
                        <a:ea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b="1">
                        <a:solidFill>
                          <a:schemeClr val="bg1"/>
                        </a:solidFill>
                        <a:latin typeface="可畫和劑局方明刻本-繁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b="1">
                          <a:solidFill>
                            <a:schemeClr val="bg1"/>
                          </a:solidFill>
                          <a:latin typeface="可畫和劑局方明刻本-繁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798815"/>
                  </a:ext>
                </a:extLst>
              </a:tr>
            </a:tbl>
          </a:graphicData>
        </a:graphic>
      </p:graphicFrame>
      <p:sp>
        <p:nvSpPr>
          <p:cNvPr id="16" name="圓角矩形 15">
            <a:extLst>
              <a:ext uri="{FF2B5EF4-FFF2-40B4-BE49-F238E27FC236}">
                <a16:creationId xmlns:a16="http://schemas.microsoft.com/office/drawing/2014/main" id="{BC5D3BF0-53E8-82DB-94CD-7DE03873716B}"/>
              </a:ext>
            </a:extLst>
          </p:cNvPr>
          <p:cNvSpPr/>
          <p:nvPr/>
        </p:nvSpPr>
        <p:spPr>
          <a:xfrm>
            <a:off x="2668799" y="3793940"/>
            <a:ext cx="1848215" cy="539616"/>
          </a:xfrm>
          <a:prstGeom prst="roundRect">
            <a:avLst>
              <a:gd name="adj" fmla="val 206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</a:rPr>
              <a:t>Basic</a:t>
            </a:r>
            <a:endParaRPr lang="af-ZA" altLang="zh-TW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03BA17E-F4F4-FE92-EB3A-D8E40AC84C2D}"/>
              </a:ext>
            </a:extLst>
          </p:cNvPr>
          <p:cNvSpPr/>
          <p:nvPr/>
        </p:nvSpPr>
        <p:spPr>
          <a:xfrm>
            <a:off x="4701556" y="3793941"/>
            <a:ext cx="1848215" cy="539615"/>
          </a:xfrm>
          <a:prstGeom prst="roundRect">
            <a:avLst>
              <a:gd name="adj" fmla="val 228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</a:rPr>
              <a:t>Standard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71F0E443-3E7A-8DFE-1550-007E63193B74}"/>
              </a:ext>
            </a:extLst>
          </p:cNvPr>
          <p:cNvSpPr/>
          <p:nvPr/>
        </p:nvSpPr>
        <p:spPr>
          <a:xfrm>
            <a:off x="6734313" y="3793940"/>
            <a:ext cx="1848215" cy="539616"/>
          </a:xfrm>
          <a:prstGeom prst="roundRect">
            <a:avLst>
              <a:gd name="adj" fmla="val 228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</a:rPr>
              <a:t>Premium</a:t>
            </a:r>
            <a:endParaRPr lang="af-ZA" altLang="zh-TW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F2EBEAFA-47DC-D654-F8ED-620885189BB4}"/>
              </a:ext>
            </a:extLst>
          </p:cNvPr>
          <p:cNvSpPr/>
          <p:nvPr/>
        </p:nvSpPr>
        <p:spPr>
          <a:xfrm>
            <a:off x="11641351" y="3793940"/>
            <a:ext cx="1848215" cy="539616"/>
          </a:xfrm>
          <a:prstGeom prst="roundRect">
            <a:avLst>
              <a:gd name="adj" fmla="val 25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</a:rPr>
              <a:t>&lt; 100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067DB116-08CD-4170-A190-B878375A73BA}"/>
              </a:ext>
            </a:extLst>
          </p:cNvPr>
          <p:cNvSpPr/>
          <p:nvPr/>
        </p:nvSpPr>
        <p:spPr>
          <a:xfrm>
            <a:off x="13674108" y="3793941"/>
            <a:ext cx="1848215" cy="539615"/>
          </a:xfrm>
          <a:prstGeom prst="roundRect">
            <a:avLst>
              <a:gd name="adj" fmla="val 274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</a:rPr>
              <a:t>100-1,000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4898A128-D644-67BD-EE1E-9B80ED55EF9F}"/>
              </a:ext>
            </a:extLst>
          </p:cNvPr>
          <p:cNvSpPr/>
          <p:nvPr/>
        </p:nvSpPr>
        <p:spPr>
          <a:xfrm>
            <a:off x="15706865" y="3793940"/>
            <a:ext cx="1848215" cy="539616"/>
          </a:xfrm>
          <a:prstGeom prst="roundRect">
            <a:avLst>
              <a:gd name="adj" fmla="val 228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altLang="zh-TW" sz="2400" b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</a:rPr>
              <a:t>&gt;1,000</a:t>
            </a:r>
            <a:endParaRPr lang="af-ZA" altLang="zh-TW" b="1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</a:endParaRP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D52D0079-1FD5-41EB-645C-68F7BAF23F83}"/>
              </a:ext>
            </a:extLst>
          </p:cNvPr>
          <p:cNvSpPr/>
          <p:nvPr/>
        </p:nvSpPr>
        <p:spPr>
          <a:xfrm>
            <a:off x="514922" y="2833073"/>
            <a:ext cx="8067601" cy="692652"/>
          </a:xfrm>
          <a:prstGeom prst="roundRect">
            <a:avLst>
              <a:gd name="adj" fmla="val 22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B2C</a:t>
            </a:r>
            <a:r>
              <a:rPr lang="zh-TW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個人</a:t>
            </a:r>
            <a:r>
              <a:rPr lang="en-US" altLang="zh-TW" sz="3200" err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版</a:t>
            </a:r>
            <a:endParaRPr lang="en-US" altLang="zh-TW" sz="32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03EE7DFD-7FD2-6549-0529-479D8D3F0A5A}"/>
              </a:ext>
            </a:extLst>
          </p:cNvPr>
          <p:cNvSpPr/>
          <p:nvPr/>
        </p:nvSpPr>
        <p:spPr>
          <a:xfrm>
            <a:off x="9431505" y="2833073"/>
            <a:ext cx="8067601" cy="692652"/>
          </a:xfrm>
          <a:prstGeom prst="roundRect">
            <a:avLst>
              <a:gd name="adj" fmla="val 200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B2B</a:t>
            </a:r>
            <a:r>
              <a:rPr lang="zh-TW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 企業</a:t>
            </a:r>
            <a:r>
              <a:rPr lang="en-US" altLang="zh-TW" sz="3200" err="1">
                <a:solidFill>
                  <a:schemeClr val="tx1">
                    <a:lumMod val="95000"/>
                    <a:lumOff val="5000"/>
                  </a:schemeClr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版</a:t>
            </a:r>
            <a:endParaRPr lang="en-US" altLang="zh-TW" sz="3200">
              <a:solidFill>
                <a:schemeClr val="tx1">
                  <a:lumMod val="95000"/>
                  <a:lumOff val="5000"/>
                </a:schemeClr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</p:spTree>
    <p:extLst>
      <p:ext uri="{BB962C8B-B14F-4D97-AF65-F5344CB8AC3E}">
        <p14:creationId xmlns:p14="http://schemas.microsoft.com/office/powerpoint/2010/main" val="4058267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4766DCF-1177-25D7-473B-57158603A02E}"/>
              </a:ext>
            </a:extLst>
          </p:cNvPr>
          <p:cNvGrpSpPr>
            <a:grpSpLocks noChangeAspect="1"/>
          </p:cNvGrpSpPr>
          <p:nvPr/>
        </p:nvGrpSpPr>
        <p:grpSpPr>
          <a:xfrm>
            <a:off x="-8601656" y="-14712897"/>
            <a:ext cx="34729711" cy="25391451"/>
            <a:chOff x="-152400" y="-3058464"/>
            <a:chExt cx="19035232" cy="1391696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EFFC2FB-D49A-2F4F-463C-56B2AC4EA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6382FFF-6139-9F12-8E9B-1B75B1740677}"/>
                </a:ext>
              </a:extLst>
            </p:cNvPr>
            <p:cNvGrpSpPr/>
            <p:nvPr/>
          </p:nvGrpSpPr>
          <p:grpSpPr>
            <a:xfrm>
              <a:off x="0" y="-3058464"/>
              <a:ext cx="18882832" cy="13916964"/>
              <a:chOff x="-210085" y="-28575"/>
              <a:chExt cx="5028556" cy="3818501"/>
            </a:xfrm>
          </p:grpSpPr>
          <p:sp>
            <p:nvSpPr>
              <p:cNvPr id="21" name="Freeform 4">
                <a:extLst>
                  <a:ext uri="{FF2B5EF4-FFF2-40B4-BE49-F238E27FC236}">
                    <a16:creationId xmlns:a16="http://schemas.microsoft.com/office/drawing/2014/main" id="{FA81C671-4513-E441-CF9E-467D962A4459}"/>
                  </a:ext>
                </a:extLst>
              </p:cNvPr>
              <p:cNvSpPr/>
              <p:nvPr/>
            </p:nvSpPr>
            <p:spPr>
              <a:xfrm>
                <a:off x="-210085" y="704234"/>
                <a:ext cx="4876800" cy="3085692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  <a:alpha val="70980"/>
                </a:schemeClr>
              </a:solidFill>
            </p:spPr>
            <p:txBody>
              <a:bodyPr/>
              <a:lstStyle/>
              <a:p>
                <a:endParaRPr lang="en-TW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TextBox 5">
                <a:extLst>
                  <a:ext uri="{FF2B5EF4-FFF2-40B4-BE49-F238E27FC236}">
                    <a16:creationId xmlns:a16="http://schemas.microsoft.com/office/drawing/2014/main" id="{137D3973-2F26-FAA1-E4C9-325B18B2A91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" name="TextBox 6">
            <a:extLst>
              <a:ext uri="{FF2B5EF4-FFF2-40B4-BE49-F238E27FC236}">
                <a16:creationId xmlns:a16="http://schemas.microsoft.com/office/drawing/2014/main" id="{70C4734F-6DDE-2F9C-C7C4-85B02D072DB5}"/>
              </a:ext>
            </a:extLst>
          </p:cNvPr>
          <p:cNvSpPr txBox="1"/>
          <p:nvPr/>
        </p:nvSpPr>
        <p:spPr>
          <a:xfrm>
            <a:off x="1028700" y="1187768"/>
            <a:ext cx="16040608" cy="92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市面上模擬面試價格</a:t>
            </a:r>
            <a:endParaRPr lang="en-US" sz="56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8C2032B-9A3D-446D-5E61-A691D0C85A88}"/>
              </a:ext>
            </a:extLst>
          </p:cNvPr>
          <p:cNvGrpSpPr/>
          <p:nvPr/>
        </p:nvGrpSpPr>
        <p:grpSpPr>
          <a:xfrm>
            <a:off x="2594326" y="3685749"/>
            <a:ext cx="13099348" cy="5567626"/>
            <a:chOff x="2085191" y="3685749"/>
            <a:chExt cx="13099348" cy="5567626"/>
          </a:xfrm>
        </p:grpSpPr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11932F51-3AF2-BB60-F2B8-48307DE91125}"/>
                </a:ext>
              </a:extLst>
            </p:cNvPr>
            <p:cNvSpPr/>
            <p:nvPr/>
          </p:nvSpPr>
          <p:spPr>
            <a:xfrm>
              <a:off x="2085191" y="3685749"/>
              <a:ext cx="6862674" cy="4023988"/>
            </a:xfrm>
            <a:prstGeom prst="roundRect">
              <a:avLst>
                <a:gd name="adj" fmla="val 8472"/>
              </a:avLst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A9871648-19BC-87D0-6E8E-A3A91E4A637B}"/>
                </a:ext>
              </a:extLst>
            </p:cNvPr>
            <p:cNvSpPr/>
            <p:nvPr/>
          </p:nvSpPr>
          <p:spPr>
            <a:xfrm>
              <a:off x="3190240" y="8496753"/>
              <a:ext cx="4652576" cy="697421"/>
            </a:xfrm>
            <a:prstGeom prst="roundRect">
              <a:avLst>
                <a:gd name="adj" fmla="val 274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$1,900</a:t>
              </a:r>
              <a:r>
                <a:rPr lang="zh-TW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（</a:t>
              </a:r>
              <a:r>
                <a:rPr lang="en-US" altLang="zh-TW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1</a:t>
              </a:r>
              <a:r>
                <a:rPr lang="zh-TW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小時）</a:t>
              </a: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448A6D8B-13A3-6A2C-B573-CD00DAD5E6CF}"/>
                </a:ext>
              </a:extLst>
            </p:cNvPr>
            <p:cNvSpPr/>
            <p:nvPr/>
          </p:nvSpPr>
          <p:spPr>
            <a:xfrm>
              <a:off x="10531963" y="8555954"/>
              <a:ext cx="4652576" cy="697421"/>
            </a:xfrm>
            <a:prstGeom prst="roundRect">
              <a:avLst>
                <a:gd name="adj" fmla="val 274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$2,200</a:t>
              </a:r>
              <a:r>
                <a:rPr lang="zh-TW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（</a:t>
              </a:r>
              <a:r>
                <a:rPr lang="en-US" altLang="zh-TW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1.5</a:t>
              </a:r>
              <a:r>
                <a:rPr lang="zh-TW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可畫和劑局方明刻本-繁"/>
                  <a:ea typeface="可畫和劑局方明刻本-繁"/>
                </a:rPr>
                <a:t>小時）</a:t>
              </a:r>
            </a:p>
          </p:txBody>
        </p:sp>
        <p:sp>
          <p:nvSpPr>
            <p:cNvPr id="18" name="圓角矩形 17">
              <a:extLst>
                <a:ext uri="{FF2B5EF4-FFF2-40B4-BE49-F238E27FC236}">
                  <a16:creationId xmlns:a16="http://schemas.microsoft.com/office/drawing/2014/main" id="{15932555-98E2-C0F1-CA95-AF8FB86AB56F}"/>
                </a:ext>
              </a:extLst>
            </p:cNvPr>
            <p:cNvSpPr/>
            <p:nvPr/>
          </p:nvSpPr>
          <p:spPr>
            <a:xfrm>
              <a:off x="10812348" y="3685749"/>
              <a:ext cx="4091806" cy="4023988"/>
            </a:xfrm>
            <a:prstGeom prst="roundRect">
              <a:avLst>
                <a:gd name="adj" fmla="val 5596"/>
              </a:avLst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33F04D7-FC3F-F1FE-62BE-DD2F2A197E11}"/>
                </a:ext>
              </a:extLst>
            </p:cNvPr>
            <p:cNvSpPr/>
            <p:nvPr/>
          </p:nvSpPr>
          <p:spPr>
            <a:xfrm>
              <a:off x="6105076" y="4851101"/>
              <a:ext cx="2842789" cy="922560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ED3B56-F2E5-7DE6-945D-7CB119E4F50F}"/>
                </a:ext>
              </a:extLst>
            </p:cNvPr>
            <p:cNvSpPr/>
            <p:nvPr/>
          </p:nvSpPr>
          <p:spPr>
            <a:xfrm>
              <a:off x="13341470" y="5182345"/>
              <a:ext cx="1394989" cy="2188959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4586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D5246-18AC-8E51-62D2-202875DF9F25}"/>
              </a:ext>
            </a:extLst>
          </p:cNvPr>
          <p:cNvGrpSpPr/>
          <p:nvPr/>
        </p:nvGrpSpPr>
        <p:grpSpPr>
          <a:xfrm>
            <a:off x="-152402" y="-3058464"/>
            <a:ext cx="19035234" cy="13748564"/>
            <a:chOff x="-152402" y="-3058464"/>
            <a:chExt cx="19035234" cy="1374856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22E991-6ACB-7EC4-FFDB-8CB9062BF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400" y="-387653"/>
              <a:ext cx="18465370" cy="11062306"/>
            </a:xfrm>
            <a:prstGeom prst="rect">
              <a:avLst/>
            </a:prstGeom>
          </p:spPr>
        </p:pic>
        <p:grpSp>
          <p:nvGrpSpPr>
            <p:cNvPr id="3" name="Group 3"/>
            <p:cNvGrpSpPr/>
            <p:nvPr/>
          </p:nvGrpSpPr>
          <p:grpSpPr>
            <a:xfrm>
              <a:off x="-152402" y="-3058464"/>
              <a:ext cx="19035234" cy="13748564"/>
              <a:chOff x="-250670" y="-28575"/>
              <a:chExt cx="5069141" cy="377229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250670" y="708472"/>
                <a:ext cx="4876800" cy="3035244"/>
              </a:xfrm>
              <a:custGeom>
                <a:avLst/>
                <a:gdLst/>
                <a:ahLst/>
                <a:cxnLst/>
                <a:rect l="l" t="t" r="r" b="b"/>
                <a:pathLst>
                  <a:path w="4818471" h="2709333">
                    <a:moveTo>
                      <a:pt x="0" y="0"/>
                    </a:moveTo>
                    <a:lnTo>
                      <a:pt x="4818471" y="0"/>
                    </a:lnTo>
                    <a:lnTo>
                      <a:pt x="481847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  <a:alpha val="20353"/>
                </a:schemeClr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818471" cy="27379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CA3782B-22A0-9943-7B19-5DB75F6189C4}"/>
              </a:ext>
            </a:extLst>
          </p:cNvPr>
          <p:cNvSpPr txBox="1"/>
          <p:nvPr/>
        </p:nvSpPr>
        <p:spPr>
          <a:xfrm>
            <a:off x="2331819" y="3150170"/>
            <a:ext cx="13649332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8"/>
              </a:lnSpc>
            </a:pPr>
            <a:r>
              <a:rPr lang="en-US" sz="19000" b="1" err="1">
                <a:solidFill>
                  <a:schemeClr val="bg1"/>
                </a:solidFill>
                <a:latin typeface="29LT Zarid Display Bold"/>
                <a:ea typeface="29LT Zarid Display Bold"/>
                <a:cs typeface="29LT Zarid Display Bold"/>
                <a:sym typeface="29LT Zarid Display Bold"/>
              </a:rPr>
              <a:t>MetaView</a:t>
            </a:r>
            <a:endParaRPr lang="en-US" sz="19000" b="1">
              <a:solidFill>
                <a:schemeClr val="bg1"/>
              </a:solidFill>
              <a:latin typeface="29LT Zarid Display Bold"/>
              <a:ea typeface="29LT Zarid Display Bold"/>
              <a:cs typeface="29LT Zarid Display Bold"/>
              <a:sym typeface="29LT Zarid Display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7BD65-116E-30FD-2D42-29B414671AAE}"/>
              </a:ext>
            </a:extLst>
          </p:cNvPr>
          <p:cNvSpPr txBox="1"/>
          <p:nvPr/>
        </p:nvSpPr>
        <p:spPr>
          <a:xfrm>
            <a:off x="5398795" y="942975"/>
            <a:ext cx="7490411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err="1">
                <a:solidFill>
                  <a:schemeClr val="bg1"/>
                </a:solidFill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多模態數位孿生智慧模擬面試系統</a:t>
            </a:r>
            <a:endParaRPr lang="en-US" sz="4200">
              <a:solidFill>
                <a:schemeClr val="bg1"/>
              </a:solidFill>
              <a:latin typeface="可畫和劑局方明刻本-繁"/>
              <a:ea typeface="可畫和劑局方明刻本-繁"/>
              <a:cs typeface="可畫和劑局方明刻本-繁"/>
              <a:sym typeface="可畫和劑局方明刻本-繁"/>
            </a:endParaRPr>
          </a:p>
        </p:txBody>
      </p:sp>
      <p:grpSp>
        <p:nvGrpSpPr>
          <p:cNvPr id="14" name="Group 28">
            <a:extLst>
              <a:ext uri="{FF2B5EF4-FFF2-40B4-BE49-F238E27FC236}">
                <a16:creationId xmlns:a16="http://schemas.microsoft.com/office/drawing/2014/main" id="{A7E0B793-C046-3534-FFE8-4598289F6CAE}"/>
              </a:ext>
            </a:extLst>
          </p:cNvPr>
          <p:cNvGrpSpPr/>
          <p:nvPr/>
        </p:nvGrpSpPr>
        <p:grpSpPr>
          <a:xfrm>
            <a:off x="-152402" y="-372208"/>
            <a:ext cx="21367051" cy="15892690"/>
            <a:chOff x="-2484219" y="-8972522"/>
            <a:chExt cx="21367051" cy="15892690"/>
          </a:xfrm>
        </p:grpSpPr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5B948539-3B66-D908-5DA4-BE2EDEA3D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2360" l="10000" r="90000">
                          <a14:foregroundMark x1="25431" y1="33596" x2="19438" y2="35225"/>
                          <a14:foregroundMark x1="19438" y1="35225" x2="15281" y2="68483"/>
                          <a14:foregroundMark x1="15281" y1="68483" x2="17041" y2="73764"/>
                          <a14:foregroundMark x1="17041" y1="73764" x2="25131" y2="79607"/>
                          <a14:foregroundMark x1="25131" y1="79607" x2="28127" y2="77303"/>
                          <a14:foregroundMark x1="28127" y1="77303" x2="28876" y2="71517"/>
                          <a14:foregroundMark x1="28876" y1="71517" x2="23258" y2="45393"/>
                          <a14:foregroundMark x1="23258" y1="45393" x2="24607" y2="40169"/>
                          <a14:foregroundMark x1="24607" y1="40169" x2="24045" y2="35281"/>
                          <a14:foregroundMark x1="24045" y1="35281" x2="23783" y2="34494"/>
                          <a14:foregroundMark x1="78689" y1="31292" x2="77041" y2="35056"/>
                          <a14:foregroundMark x1="77041" y1="35056" x2="77079" y2="53539"/>
                          <a14:foregroundMark x1="77079" y1="53539" x2="80262" y2="52584"/>
                          <a14:foregroundMark x1="80262" y1="52584" x2="81124" y2="31573"/>
                          <a14:foregroundMark x1="81124" y1="31573" x2="80599" y2="31067"/>
                          <a14:foregroundMark x1="80337" y1="26236" x2="77453" y2="26236"/>
                          <a14:foregroundMark x1="77453" y1="26236" x2="75019" y2="28820"/>
                          <a14:foregroundMark x1="75019" y1="28820" x2="74831" y2="29888"/>
                          <a14:foregroundMark x1="75506" y1="56798" x2="74195" y2="60618"/>
                          <a14:foregroundMark x1="74195" y1="60618" x2="74981" y2="62528"/>
                          <a14:foregroundMark x1="22285" y1="88933" x2="18464" y2="86910"/>
                          <a14:foregroundMark x1="18464" y1="86910" x2="16554" y2="82416"/>
                          <a14:foregroundMark x1="16554" y1="82416" x2="14457" y2="70337"/>
                          <a14:foregroundMark x1="14457" y1="70337" x2="14157" y2="63034"/>
                          <a14:foregroundMark x1="14157" y1="63034" x2="19663" y2="63820"/>
                          <a14:foregroundMark x1="19663" y1="63820" x2="32172" y2="89157"/>
                          <a14:foregroundMark x1="32172" y1="89157" x2="32172" y2="89157"/>
                          <a14:foregroundMark x1="65768" y1="95112" x2="24195" y2="94157"/>
                          <a14:foregroundMark x1="24195" y1="94157" x2="17940" y2="90281"/>
                          <a14:foregroundMark x1="17940" y1="90281" x2="13109" y2="81067"/>
                          <a14:foregroundMark x1="13109" y1="81067" x2="16517" y2="78820"/>
                          <a14:foregroundMark x1="16517" y1="78820" x2="36030" y2="84326"/>
                          <a14:foregroundMark x1="36030" y1="84326" x2="42210" y2="82697"/>
                          <a14:foregroundMark x1="42210" y1="82697" x2="43783" y2="78764"/>
                          <a14:foregroundMark x1="43783" y1="78764" x2="47004" y2="75674"/>
                          <a14:foregroundMark x1="47004" y1="75674" x2="73858" y2="70843"/>
                          <a14:foregroundMark x1="73858" y1="70843" x2="77154" y2="72022"/>
                          <a14:foregroundMark x1="77154" y1="72022" x2="79625" y2="75056"/>
                          <a14:foregroundMark x1="79625" y1="75056" x2="81573" y2="81067"/>
                          <a14:foregroundMark x1="81573" y1="81067" x2="81423" y2="85730"/>
                          <a14:foregroundMark x1="81423" y1="85730" x2="80375" y2="90225"/>
                          <a14:foregroundMark x1="80375" y1="90225" x2="77678" y2="91910"/>
                          <a14:foregroundMark x1="77678" y1="91910" x2="74419" y2="92360"/>
                          <a14:foregroundMark x1="15131" y1="44382" x2="13933" y2="48483"/>
                          <a14:foregroundMark x1="13933" y1="48483" x2="15918" y2="45449"/>
                          <a14:foregroundMark x1="15918" y1="45449" x2="15543" y2="44157"/>
                          <a14:foregroundMark x1="14457" y1="48034" x2="13296" y2="52416"/>
                          <a14:foregroundMark x1="13296" y1="52416" x2="16255" y2="51573"/>
                          <a14:foregroundMark x1="16255" y1="51573" x2="15581" y2="47416"/>
                          <a14:foregroundMark x1="15581" y1="47416" x2="15131" y2="47360"/>
                          <a14:backgroundMark x1="37678" y1="48034" x2="34307" y2="46517"/>
                          <a14:backgroundMark x1="34307" y1="46517" x2="32097" y2="42865"/>
                          <a14:backgroundMark x1="32097" y1="42865" x2="44906" y2="26910"/>
                          <a14:backgroundMark x1="44906" y1="26910" x2="50112" y2="26124"/>
                          <a14:backgroundMark x1="50112" y1="26124" x2="59288" y2="32921"/>
                          <a14:backgroundMark x1="59288" y1="32921" x2="61610" y2="42416"/>
                          <a14:backgroundMark x1="61610" y1="42416" x2="59401" y2="49213"/>
                          <a14:backgroundMark x1="59401" y1="49213" x2="46517" y2="55506"/>
                          <a14:backgroundMark x1="46517" y1="55506" x2="33221" y2="52135"/>
                          <a14:backgroundMark x1="33221" y1="52135" x2="31236" y2="48989"/>
                          <a14:backgroundMark x1="72584" y1="55618" x2="72322" y2="46854"/>
                          <a14:backgroundMark x1="72322" y1="46854" x2="73221" y2="56124"/>
                          <a14:backgroundMark x1="73221" y1="56124" x2="72809" y2="57079"/>
                          <a14:backgroundMark x1="73184" y1="44719" x2="72509" y2="48933"/>
                          <a14:backgroundMark x1="72509" y1="48933" x2="72322" y2="44157"/>
                          <a14:backgroundMark x1="72322" y1="44157" x2="73109" y2="45112"/>
                        </a14:backgroundRemoval>
                      </a14:imgEffect>
                      <a14:imgEffect>
                        <a14:artisticPaintBrush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84219" y="-8972522"/>
              <a:ext cx="18465370" cy="11062306"/>
            </a:xfrm>
            <a:prstGeom prst="rect">
              <a:avLst/>
            </a:prstGeom>
          </p:spPr>
        </p:pic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0B94B5C0-3DA8-216D-6DF4-A33075AAFC0B}"/>
                </a:ext>
              </a:extLst>
            </p:cNvPr>
            <p:cNvSpPr txBox="1"/>
            <p:nvPr/>
          </p:nvSpPr>
          <p:spPr>
            <a:xfrm>
              <a:off x="788894" y="-3058464"/>
              <a:ext cx="18093938" cy="9978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98591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7">
            <a:extLst>
              <a:ext uri="{FF2B5EF4-FFF2-40B4-BE49-F238E27FC236}">
                <a16:creationId xmlns:a16="http://schemas.microsoft.com/office/drawing/2014/main" id="{166DA26E-9F73-6FCB-3F4B-7A4F6766C64C}"/>
              </a:ext>
            </a:extLst>
          </p:cNvPr>
          <p:cNvGrpSpPr/>
          <p:nvPr/>
        </p:nvGrpSpPr>
        <p:grpSpPr>
          <a:xfrm>
            <a:off x="6851394" y="3730681"/>
            <a:ext cx="4585212" cy="2092949"/>
            <a:chOff x="0" y="0"/>
            <a:chExt cx="6113616" cy="2896399"/>
          </a:xfrm>
        </p:grpSpPr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F8E19C63-9672-CC34-6EA3-3C28047BBF02}"/>
                </a:ext>
              </a:extLst>
            </p:cNvPr>
            <p:cNvGrpSpPr/>
            <p:nvPr/>
          </p:nvGrpSpPr>
          <p:grpSpPr>
            <a:xfrm>
              <a:off x="0" y="0"/>
              <a:ext cx="6113616" cy="2896399"/>
              <a:chOff x="0" y="0"/>
              <a:chExt cx="1207628" cy="572128"/>
            </a:xfrm>
          </p:grpSpPr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57DA3A05-BDBC-B4E9-5197-CB87BD6C6C91}"/>
                  </a:ext>
                </a:extLst>
              </p:cNvPr>
              <p:cNvSpPr/>
              <p:nvPr/>
            </p:nvSpPr>
            <p:spPr>
              <a:xfrm>
                <a:off x="0" y="0"/>
                <a:ext cx="1207628" cy="572128"/>
              </a:xfrm>
              <a:custGeom>
                <a:avLst/>
                <a:gdLst/>
                <a:ahLst/>
                <a:cxnLst/>
                <a:rect l="l" t="t" r="r" b="b"/>
                <a:pathLst>
                  <a:path w="1207628" h="572128">
                    <a:moveTo>
                      <a:pt x="86111" y="0"/>
                    </a:moveTo>
                    <a:lnTo>
                      <a:pt x="1121517" y="0"/>
                    </a:lnTo>
                    <a:cubicBezTo>
                      <a:pt x="1169075" y="0"/>
                      <a:pt x="1207628" y="38553"/>
                      <a:pt x="1207628" y="86111"/>
                    </a:cubicBezTo>
                    <a:lnTo>
                      <a:pt x="1207628" y="486017"/>
                    </a:lnTo>
                    <a:cubicBezTo>
                      <a:pt x="1207628" y="533575"/>
                      <a:pt x="1169075" y="572128"/>
                      <a:pt x="1121517" y="572128"/>
                    </a:cubicBezTo>
                    <a:lnTo>
                      <a:pt x="86111" y="572128"/>
                    </a:lnTo>
                    <a:cubicBezTo>
                      <a:pt x="38553" y="572128"/>
                      <a:pt x="0" y="533575"/>
                      <a:pt x="0" y="486017"/>
                    </a:cubicBezTo>
                    <a:lnTo>
                      <a:pt x="0" y="86111"/>
                    </a:lnTo>
                    <a:cubicBezTo>
                      <a:pt x="0" y="38553"/>
                      <a:pt x="38553" y="0"/>
                      <a:pt x="8611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16" name="TextBox 10">
                <a:extLst>
                  <a:ext uri="{FF2B5EF4-FFF2-40B4-BE49-F238E27FC236}">
                    <a16:creationId xmlns:a16="http://schemas.microsoft.com/office/drawing/2014/main" id="{CBDA4C89-CA5B-9F3E-E187-367DA4BD9F7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07628" cy="6007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CFD8D75-D8A7-00E3-C851-44B54ADE1B79}"/>
                </a:ext>
              </a:extLst>
            </p:cNvPr>
            <p:cNvSpPr/>
            <p:nvPr/>
          </p:nvSpPr>
          <p:spPr>
            <a:xfrm>
              <a:off x="3446468" y="569087"/>
              <a:ext cx="1473752" cy="1921214"/>
            </a:xfrm>
            <a:custGeom>
              <a:avLst/>
              <a:gdLst/>
              <a:ahLst/>
              <a:cxnLst/>
              <a:rect l="l" t="t" r="r" b="b"/>
              <a:pathLst>
                <a:path w="1473752" h="1921214">
                  <a:moveTo>
                    <a:pt x="0" y="0"/>
                  </a:moveTo>
                  <a:lnTo>
                    <a:pt x="1473752" y="0"/>
                  </a:lnTo>
                  <a:lnTo>
                    <a:pt x="1473752" y="1921214"/>
                  </a:lnTo>
                  <a:lnTo>
                    <a:pt x="0" y="1921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519"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06372903-3A74-FB30-F039-1E9DD8EF3D18}"/>
                </a:ext>
              </a:extLst>
            </p:cNvPr>
            <p:cNvSpPr txBox="1"/>
            <p:nvPr/>
          </p:nvSpPr>
          <p:spPr>
            <a:xfrm>
              <a:off x="258195" y="578677"/>
              <a:ext cx="2751791" cy="65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Backend</a:t>
              </a:r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FC6BC151-8B2A-6555-B8E4-55B42CDCC2FF}"/>
              </a:ext>
            </a:extLst>
          </p:cNvPr>
          <p:cNvGrpSpPr/>
          <p:nvPr/>
        </p:nvGrpSpPr>
        <p:grpSpPr>
          <a:xfrm>
            <a:off x="13343217" y="3730088"/>
            <a:ext cx="4304142" cy="2077276"/>
            <a:chOff x="0" y="0"/>
            <a:chExt cx="5738856" cy="2874711"/>
          </a:xfrm>
        </p:grpSpPr>
        <p:grpSp>
          <p:nvGrpSpPr>
            <p:cNvPr id="18" name="Group 14">
              <a:extLst>
                <a:ext uri="{FF2B5EF4-FFF2-40B4-BE49-F238E27FC236}">
                  <a16:creationId xmlns:a16="http://schemas.microsoft.com/office/drawing/2014/main" id="{79735FDE-03F2-CA52-6C21-EAF962248038}"/>
                </a:ext>
              </a:extLst>
            </p:cNvPr>
            <p:cNvGrpSpPr/>
            <p:nvPr/>
          </p:nvGrpSpPr>
          <p:grpSpPr>
            <a:xfrm>
              <a:off x="0" y="0"/>
              <a:ext cx="5738856" cy="2874711"/>
              <a:chOff x="0" y="0"/>
              <a:chExt cx="1133601" cy="567844"/>
            </a:xfrm>
          </p:grpSpPr>
          <p:sp>
            <p:nvSpPr>
              <p:cNvPr id="21" name="Freeform 15">
                <a:extLst>
                  <a:ext uri="{FF2B5EF4-FFF2-40B4-BE49-F238E27FC236}">
                    <a16:creationId xmlns:a16="http://schemas.microsoft.com/office/drawing/2014/main" id="{103E727A-B1BD-30B2-EBAB-9C7F06B506CC}"/>
                  </a:ext>
                </a:extLst>
              </p:cNvPr>
              <p:cNvSpPr/>
              <p:nvPr/>
            </p:nvSpPr>
            <p:spPr>
              <a:xfrm>
                <a:off x="0" y="0"/>
                <a:ext cx="1133601" cy="567844"/>
              </a:xfrm>
              <a:custGeom>
                <a:avLst/>
                <a:gdLst/>
                <a:ahLst/>
                <a:cxnLst/>
                <a:rect l="l" t="t" r="r" b="b"/>
                <a:pathLst>
                  <a:path w="1133601" h="567844">
                    <a:moveTo>
                      <a:pt x="91734" y="0"/>
                    </a:moveTo>
                    <a:lnTo>
                      <a:pt x="1041867" y="0"/>
                    </a:lnTo>
                    <a:cubicBezTo>
                      <a:pt x="1092530" y="0"/>
                      <a:pt x="1133601" y="41071"/>
                      <a:pt x="1133601" y="91734"/>
                    </a:cubicBezTo>
                    <a:lnTo>
                      <a:pt x="1133601" y="476110"/>
                    </a:lnTo>
                    <a:cubicBezTo>
                      <a:pt x="1133601" y="526773"/>
                      <a:pt x="1092530" y="567844"/>
                      <a:pt x="1041867" y="567844"/>
                    </a:cubicBezTo>
                    <a:lnTo>
                      <a:pt x="91734" y="567844"/>
                    </a:lnTo>
                    <a:cubicBezTo>
                      <a:pt x="41071" y="567844"/>
                      <a:pt x="0" y="526773"/>
                      <a:pt x="0" y="476110"/>
                    </a:cubicBezTo>
                    <a:lnTo>
                      <a:pt x="0" y="91734"/>
                    </a:lnTo>
                    <a:cubicBezTo>
                      <a:pt x="0" y="41071"/>
                      <a:pt x="41071" y="0"/>
                      <a:pt x="917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2" name="TextBox 16">
                <a:extLst>
                  <a:ext uri="{FF2B5EF4-FFF2-40B4-BE49-F238E27FC236}">
                    <a16:creationId xmlns:a16="http://schemas.microsoft.com/office/drawing/2014/main" id="{C078A6B1-AC71-508B-D44B-9E934C628E7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133601" cy="596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8C04B9F4-91CF-55BA-66CF-EB03DD498B0A}"/>
                </a:ext>
              </a:extLst>
            </p:cNvPr>
            <p:cNvSpPr/>
            <p:nvPr/>
          </p:nvSpPr>
          <p:spPr>
            <a:xfrm>
              <a:off x="1164716" y="1342411"/>
              <a:ext cx="3807632" cy="1070897"/>
            </a:xfrm>
            <a:custGeom>
              <a:avLst/>
              <a:gdLst/>
              <a:ahLst/>
              <a:cxnLst/>
              <a:rect l="l" t="t" r="r" b="b"/>
              <a:pathLst>
                <a:path w="3807632" h="1070897">
                  <a:moveTo>
                    <a:pt x="0" y="0"/>
                  </a:moveTo>
                  <a:lnTo>
                    <a:pt x="3807632" y="0"/>
                  </a:lnTo>
                  <a:lnTo>
                    <a:pt x="3807632" y="1070896"/>
                  </a:lnTo>
                  <a:lnTo>
                    <a:pt x="0" y="107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34E9BF2C-E12B-B6B5-5FD0-81975A0877B4}"/>
                </a:ext>
              </a:extLst>
            </p:cNvPr>
            <p:cNvSpPr txBox="1"/>
            <p:nvPr/>
          </p:nvSpPr>
          <p:spPr>
            <a:xfrm>
              <a:off x="0" y="303886"/>
              <a:ext cx="3250291" cy="655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26"/>
                </a:lnSpc>
              </a:pPr>
              <a:r>
                <a:rPr lang="en-US" sz="2947" b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Database</a:t>
              </a:r>
            </a:p>
          </p:txBody>
        </p:sp>
      </p:grpSp>
      <p:grpSp>
        <p:nvGrpSpPr>
          <p:cNvPr id="23" name="Group 19">
            <a:extLst>
              <a:ext uri="{FF2B5EF4-FFF2-40B4-BE49-F238E27FC236}">
                <a16:creationId xmlns:a16="http://schemas.microsoft.com/office/drawing/2014/main" id="{52EE35AD-145D-EC74-8E09-C87217FD1409}"/>
              </a:ext>
            </a:extLst>
          </p:cNvPr>
          <p:cNvGrpSpPr/>
          <p:nvPr/>
        </p:nvGrpSpPr>
        <p:grpSpPr>
          <a:xfrm>
            <a:off x="721560" y="3823293"/>
            <a:ext cx="4087620" cy="1993670"/>
            <a:chOff x="0" y="0"/>
            <a:chExt cx="5450160" cy="2759009"/>
          </a:xfrm>
        </p:grpSpPr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91FBB280-5290-8773-C6D7-B6B058658011}"/>
                </a:ext>
              </a:extLst>
            </p:cNvPr>
            <p:cNvGrpSpPr/>
            <p:nvPr/>
          </p:nvGrpSpPr>
          <p:grpSpPr>
            <a:xfrm>
              <a:off x="0" y="0"/>
              <a:ext cx="5450160" cy="2759009"/>
              <a:chOff x="0" y="0"/>
              <a:chExt cx="1076575" cy="544990"/>
            </a:xfrm>
          </p:grpSpPr>
          <p:sp>
            <p:nvSpPr>
              <p:cNvPr id="27" name="Freeform 21">
                <a:extLst>
                  <a:ext uri="{FF2B5EF4-FFF2-40B4-BE49-F238E27FC236}">
                    <a16:creationId xmlns:a16="http://schemas.microsoft.com/office/drawing/2014/main" id="{F53EBA9C-73BC-63DC-9AF7-DED7BA05B6CB}"/>
                  </a:ext>
                </a:extLst>
              </p:cNvPr>
              <p:cNvSpPr/>
              <p:nvPr/>
            </p:nvSpPr>
            <p:spPr>
              <a:xfrm>
                <a:off x="0" y="0"/>
                <a:ext cx="1076575" cy="544990"/>
              </a:xfrm>
              <a:custGeom>
                <a:avLst/>
                <a:gdLst/>
                <a:ahLst/>
                <a:cxnLst/>
                <a:rect l="l" t="t" r="r" b="b"/>
                <a:pathLst>
                  <a:path w="1076575" h="544990">
                    <a:moveTo>
                      <a:pt x="96594" y="0"/>
                    </a:moveTo>
                    <a:lnTo>
                      <a:pt x="979981" y="0"/>
                    </a:lnTo>
                    <a:cubicBezTo>
                      <a:pt x="1005599" y="0"/>
                      <a:pt x="1030168" y="10177"/>
                      <a:pt x="1048283" y="28292"/>
                    </a:cubicBezTo>
                    <a:cubicBezTo>
                      <a:pt x="1066398" y="46406"/>
                      <a:pt x="1076575" y="70975"/>
                      <a:pt x="1076575" y="96594"/>
                    </a:cubicBezTo>
                    <a:lnTo>
                      <a:pt x="1076575" y="448396"/>
                    </a:lnTo>
                    <a:cubicBezTo>
                      <a:pt x="1076575" y="474014"/>
                      <a:pt x="1066398" y="498583"/>
                      <a:pt x="1048283" y="516698"/>
                    </a:cubicBezTo>
                    <a:cubicBezTo>
                      <a:pt x="1030168" y="534813"/>
                      <a:pt x="1005599" y="544990"/>
                      <a:pt x="979981" y="544990"/>
                    </a:cubicBezTo>
                    <a:lnTo>
                      <a:pt x="96594" y="544990"/>
                    </a:lnTo>
                    <a:cubicBezTo>
                      <a:pt x="70975" y="544990"/>
                      <a:pt x="46406" y="534813"/>
                      <a:pt x="28292" y="516698"/>
                    </a:cubicBezTo>
                    <a:cubicBezTo>
                      <a:pt x="10177" y="498583"/>
                      <a:pt x="0" y="474014"/>
                      <a:pt x="0" y="448396"/>
                    </a:cubicBezTo>
                    <a:lnTo>
                      <a:pt x="0" y="96594"/>
                    </a:lnTo>
                    <a:cubicBezTo>
                      <a:pt x="0" y="70975"/>
                      <a:pt x="10177" y="46406"/>
                      <a:pt x="28292" y="28292"/>
                    </a:cubicBezTo>
                    <a:cubicBezTo>
                      <a:pt x="46406" y="10177"/>
                      <a:pt x="70975" y="0"/>
                      <a:pt x="965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W"/>
              </a:p>
            </p:txBody>
          </p:sp>
          <p:sp>
            <p:nvSpPr>
              <p:cNvPr id="28" name="TextBox 22">
                <a:extLst>
                  <a:ext uri="{FF2B5EF4-FFF2-40B4-BE49-F238E27FC236}">
                    <a16:creationId xmlns:a16="http://schemas.microsoft.com/office/drawing/2014/main" id="{6666DFF2-3B8B-726B-6B99-A89AD291E08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76575" cy="5735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C780EF46-7BF2-B30F-31AF-26D4C999A14C}"/>
                </a:ext>
              </a:extLst>
            </p:cNvPr>
            <p:cNvSpPr/>
            <p:nvPr/>
          </p:nvSpPr>
          <p:spPr>
            <a:xfrm>
              <a:off x="3034712" y="522981"/>
              <a:ext cx="1752937" cy="1752937"/>
            </a:xfrm>
            <a:custGeom>
              <a:avLst/>
              <a:gdLst/>
              <a:ahLst/>
              <a:cxnLst/>
              <a:rect l="l" t="t" r="r" b="b"/>
              <a:pathLst>
                <a:path w="1752937" h="1752937">
                  <a:moveTo>
                    <a:pt x="0" y="0"/>
                  </a:moveTo>
                  <a:lnTo>
                    <a:pt x="1752937" y="0"/>
                  </a:lnTo>
                  <a:lnTo>
                    <a:pt x="1752937" y="1752936"/>
                  </a:lnTo>
                  <a:lnTo>
                    <a:pt x="0" y="1752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26" name="TextBox 24">
              <a:extLst>
                <a:ext uri="{FF2B5EF4-FFF2-40B4-BE49-F238E27FC236}">
                  <a16:creationId xmlns:a16="http://schemas.microsoft.com/office/drawing/2014/main" id="{2F7F1F41-A4F6-7201-E65B-35934CC2E38A}"/>
                </a:ext>
              </a:extLst>
            </p:cNvPr>
            <p:cNvSpPr txBox="1"/>
            <p:nvPr/>
          </p:nvSpPr>
          <p:spPr>
            <a:xfrm>
              <a:off x="349720" y="441287"/>
              <a:ext cx="2751791" cy="65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Frontend</a:t>
              </a:r>
            </a:p>
          </p:txBody>
        </p:sp>
      </p:grpSp>
      <p:sp>
        <p:nvSpPr>
          <p:cNvPr id="46" name="TextBox 41">
            <a:extLst>
              <a:ext uri="{FF2B5EF4-FFF2-40B4-BE49-F238E27FC236}">
                <a16:creationId xmlns:a16="http://schemas.microsoft.com/office/drawing/2014/main" id="{A618B026-D1A1-E105-7A18-02C11F55B22B}"/>
              </a:ext>
            </a:extLst>
          </p:cNvPr>
          <p:cNvSpPr txBox="1"/>
          <p:nvPr/>
        </p:nvSpPr>
        <p:spPr>
          <a:xfrm>
            <a:off x="5403311" y="4132490"/>
            <a:ext cx="857548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Request</a:t>
            </a:r>
          </a:p>
        </p:txBody>
      </p:sp>
      <p:sp>
        <p:nvSpPr>
          <p:cNvPr id="49" name="TextBox 44">
            <a:extLst>
              <a:ext uri="{FF2B5EF4-FFF2-40B4-BE49-F238E27FC236}">
                <a16:creationId xmlns:a16="http://schemas.microsoft.com/office/drawing/2014/main" id="{D5C5BDAF-20BB-5445-6388-F3ACF8B35493}"/>
              </a:ext>
            </a:extLst>
          </p:cNvPr>
          <p:cNvSpPr txBox="1"/>
          <p:nvPr/>
        </p:nvSpPr>
        <p:spPr>
          <a:xfrm>
            <a:off x="5381231" y="5155877"/>
            <a:ext cx="1058884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Response</a:t>
            </a:r>
          </a:p>
        </p:txBody>
      </p:sp>
      <p:sp>
        <p:nvSpPr>
          <p:cNvPr id="52" name="TextBox 47">
            <a:extLst>
              <a:ext uri="{FF2B5EF4-FFF2-40B4-BE49-F238E27FC236}">
                <a16:creationId xmlns:a16="http://schemas.microsoft.com/office/drawing/2014/main" id="{F8D35386-17F3-44FE-2382-8F9AE5054CEE}"/>
              </a:ext>
            </a:extLst>
          </p:cNvPr>
          <p:cNvSpPr txBox="1"/>
          <p:nvPr/>
        </p:nvSpPr>
        <p:spPr>
          <a:xfrm>
            <a:off x="11828162" y="4070176"/>
            <a:ext cx="857548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Request</a:t>
            </a:r>
          </a:p>
        </p:txBody>
      </p:sp>
      <p:sp>
        <p:nvSpPr>
          <p:cNvPr id="55" name="TextBox 50">
            <a:extLst>
              <a:ext uri="{FF2B5EF4-FFF2-40B4-BE49-F238E27FC236}">
                <a16:creationId xmlns:a16="http://schemas.microsoft.com/office/drawing/2014/main" id="{CBD47836-6653-705D-7DBE-0CFBE71121C5}"/>
              </a:ext>
            </a:extLst>
          </p:cNvPr>
          <p:cNvSpPr txBox="1"/>
          <p:nvPr/>
        </p:nvSpPr>
        <p:spPr>
          <a:xfrm>
            <a:off x="11806082" y="5093562"/>
            <a:ext cx="1058884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latin typeface="Canva Sans"/>
                <a:ea typeface="Canva Sans"/>
                <a:cs typeface="Canva Sans"/>
                <a:sym typeface="Canva Sans"/>
              </a:rPr>
              <a:t>Response</a:t>
            </a:r>
          </a:p>
        </p:txBody>
      </p:sp>
      <p:sp>
        <p:nvSpPr>
          <p:cNvPr id="61" name="TextBox 57">
            <a:extLst>
              <a:ext uri="{FF2B5EF4-FFF2-40B4-BE49-F238E27FC236}">
                <a16:creationId xmlns:a16="http://schemas.microsoft.com/office/drawing/2014/main" id="{99D9A678-CA02-7057-3247-07FCEFC8A273}"/>
              </a:ext>
            </a:extLst>
          </p:cNvPr>
          <p:cNvSpPr txBox="1"/>
          <p:nvPr/>
        </p:nvSpPr>
        <p:spPr>
          <a:xfrm>
            <a:off x="9552142" y="6108696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API Call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A193CD-C58A-751F-445D-C0D6DFC37A9D}"/>
              </a:ext>
            </a:extLst>
          </p:cNvPr>
          <p:cNvGrpSpPr/>
          <p:nvPr/>
        </p:nvGrpSpPr>
        <p:grpSpPr>
          <a:xfrm>
            <a:off x="1551104" y="6613652"/>
            <a:ext cx="6487904" cy="3435164"/>
            <a:chOff x="8990999" y="123922"/>
            <a:chExt cx="6724868" cy="3969411"/>
          </a:xfrm>
        </p:grpSpPr>
        <p:grpSp>
          <p:nvGrpSpPr>
            <p:cNvPr id="30" name="Group 25">
              <a:extLst>
                <a:ext uri="{FF2B5EF4-FFF2-40B4-BE49-F238E27FC236}">
                  <a16:creationId xmlns:a16="http://schemas.microsoft.com/office/drawing/2014/main" id="{0FD8E5F4-C3EB-F856-632A-2074E88E5C5A}"/>
                </a:ext>
              </a:extLst>
            </p:cNvPr>
            <p:cNvGrpSpPr/>
            <p:nvPr/>
          </p:nvGrpSpPr>
          <p:grpSpPr>
            <a:xfrm>
              <a:off x="8990999" y="123922"/>
              <a:ext cx="6724868" cy="3969411"/>
              <a:chOff x="0" y="-28575"/>
              <a:chExt cx="1771159" cy="659778"/>
            </a:xfrm>
          </p:grpSpPr>
          <p:sp>
            <p:nvSpPr>
              <p:cNvPr id="31" name="Freeform 26">
                <a:extLst>
                  <a:ext uri="{FF2B5EF4-FFF2-40B4-BE49-F238E27FC236}">
                    <a16:creationId xmlns:a16="http://schemas.microsoft.com/office/drawing/2014/main" id="{04A2574A-2124-85A8-82DC-57161DCF9F32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TextBox 27">
                <a:extLst>
                  <a:ext uri="{FF2B5EF4-FFF2-40B4-BE49-F238E27FC236}">
                    <a16:creationId xmlns:a16="http://schemas.microsoft.com/office/drawing/2014/main" id="{33244565-6286-30D6-DED9-0AB1201A656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F1FF2CF1-D9F9-76F9-5A74-2024262D9007}"/>
                </a:ext>
              </a:extLst>
            </p:cNvPr>
            <p:cNvSpPr/>
            <p:nvPr/>
          </p:nvSpPr>
          <p:spPr>
            <a:xfrm>
              <a:off x="9951531" y="1577334"/>
              <a:ext cx="1205604" cy="1483821"/>
            </a:xfrm>
            <a:custGeom>
              <a:avLst/>
              <a:gdLst/>
              <a:ahLst/>
              <a:cxnLst/>
              <a:rect l="l" t="t" r="r" b="b"/>
              <a:pathLst>
                <a:path w="1205604" h="1483821">
                  <a:moveTo>
                    <a:pt x="0" y="0"/>
                  </a:moveTo>
                  <a:lnTo>
                    <a:pt x="1205604" y="0"/>
                  </a:lnTo>
                  <a:lnTo>
                    <a:pt x="1205604" y="1483821"/>
                  </a:lnTo>
                  <a:lnTo>
                    <a:pt x="0" y="148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5D9A5A1A-BFD3-A518-B47B-0F59F5A9BC7B}"/>
                </a:ext>
              </a:extLst>
            </p:cNvPr>
            <p:cNvSpPr/>
            <p:nvPr/>
          </p:nvSpPr>
          <p:spPr>
            <a:xfrm>
              <a:off x="14121120" y="824839"/>
              <a:ext cx="996632" cy="1242505"/>
            </a:xfrm>
            <a:custGeom>
              <a:avLst/>
              <a:gdLst/>
              <a:ahLst/>
              <a:cxnLst/>
              <a:rect l="l" t="t" r="r" b="b"/>
              <a:pathLst>
                <a:path w="1384591" h="1660679">
                  <a:moveTo>
                    <a:pt x="0" y="0"/>
                  </a:moveTo>
                  <a:lnTo>
                    <a:pt x="1384591" y="0"/>
                  </a:lnTo>
                  <a:lnTo>
                    <a:pt x="1384591" y="1660679"/>
                  </a:lnTo>
                  <a:lnTo>
                    <a:pt x="0" y="166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35" name="TextBox 30">
              <a:extLst>
                <a:ext uri="{FF2B5EF4-FFF2-40B4-BE49-F238E27FC236}">
                  <a16:creationId xmlns:a16="http://schemas.microsoft.com/office/drawing/2014/main" id="{99C62223-7324-D385-510F-BE5FF922CACA}"/>
                </a:ext>
              </a:extLst>
            </p:cNvPr>
            <p:cNvSpPr txBox="1"/>
            <p:nvPr/>
          </p:nvSpPr>
          <p:spPr>
            <a:xfrm>
              <a:off x="9257668" y="702067"/>
              <a:ext cx="3178797" cy="4896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臉部情緒分析模組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772E51C0-4137-CC43-00FA-A4F868E7D605}"/>
                </a:ext>
              </a:extLst>
            </p:cNvPr>
            <p:cNvSpPr txBox="1"/>
            <p:nvPr/>
          </p:nvSpPr>
          <p:spPr>
            <a:xfrm>
              <a:off x="9959267" y="3147546"/>
              <a:ext cx="1205604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8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辨識臉部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1" name="TextBox 41">
              <a:extLst>
                <a:ext uri="{FF2B5EF4-FFF2-40B4-BE49-F238E27FC236}">
                  <a16:creationId xmlns:a16="http://schemas.microsoft.com/office/drawing/2014/main" id="{270FE42C-FD7C-710C-DF37-BC5066545473}"/>
                </a:ext>
              </a:extLst>
            </p:cNvPr>
            <p:cNvSpPr txBox="1"/>
            <p:nvPr/>
          </p:nvSpPr>
          <p:spPr>
            <a:xfrm>
              <a:off x="13973673" y="2049353"/>
              <a:ext cx="1205604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6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辨識情緒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91EFCB7-EE0D-95B7-858F-1F6E016CF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54866" y="2642019"/>
              <a:ext cx="860794" cy="860794"/>
            </a:xfrm>
            <a:prstGeom prst="rect">
              <a:avLst/>
            </a:prstGeom>
          </p:spPr>
        </p:pic>
        <p:sp>
          <p:nvSpPr>
            <p:cNvPr id="76" name="TextBox 41">
              <a:extLst>
                <a:ext uri="{FF2B5EF4-FFF2-40B4-BE49-F238E27FC236}">
                  <a16:creationId xmlns:a16="http://schemas.microsoft.com/office/drawing/2014/main" id="{9BC3EB3E-56CE-F0C7-F55B-A7EB6710AA13}"/>
                </a:ext>
              </a:extLst>
            </p:cNvPr>
            <p:cNvSpPr txBox="1"/>
            <p:nvPr/>
          </p:nvSpPr>
          <p:spPr>
            <a:xfrm>
              <a:off x="13982461" y="3532947"/>
              <a:ext cx="1205604" cy="2857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6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辨識眼神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cxnSp>
          <p:nvCxnSpPr>
            <p:cNvPr id="80" name="Elbow Connector 79">
              <a:extLst>
                <a:ext uri="{FF2B5EF4-FFF2-40B4-BE49-F238E27FC236}">
                  <a16:creationId xmlns:a16="http://schemas.microsoft.com/office/drawing/2014/main" id="{F7643023-D235-53A9-1B6C-85322E8109AF}"/>
                </a:ext>
              </a:extLst>
            </p:cNvPr>
            <p:cNvCxnSpPr>
              <a:cxnSpLocks/>
            </p:cNvCxnSpPr>
            <p:nvPr/>
          </p:nvCxnSpPr>
          <p:spPr>
            <a:xfrm>
              <a:off x="11636397" y="2367417"/>
              <a:ext cx="2423198" cy="906859"/>
            </a:xfrm>
            <a:prstGeom prst="bentConnector3">
              <a:avLst>
                <a:gd name="adj1" fmla="val 77805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C4662439-3B8A-8796-0D27-09BE478D1A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35375" y="1351662"/>
              <a:ext cx="2424220" cy="1005644"/>
            </a:xfrm>
            <a:prstGeom prst="bentConnector3">
              <a:avLst>
                <a:gd name="adj1" fmla="val 7779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Box 41">
              <a:extLst>
                <a:ext uri="{FF2B5EF4-FFF2-40B4-BE49-F238E27FC236}">
                  <a16:creationId xmlns:a16="http://schemas.microsoft.com/office/drawing/2014/main" id="{61DB5EE0-063D-E93A-B0D3-3594B59C0262}"/>
                </a:ext>
              </a:extLst>
            </p:cNvPr>
            <p:cNvSpPr txBox="1"/>
            <p:nvPr/>
          </p:nvSpPr>
          <p:spPr>
            <a:xfrm>
              <a:off x="11794031" y="1904882"/>
              <a:ext cx="1463012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提供</a:t>
              </a:r>
              <a:r>
                <a:rPr lang="en-US" sz="1800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臉部特徵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E6DDCFE-A43C-394D-54A5-F02EF9F618B4}"/>
              </a:ext>
            </a:extLst>
          </p:cNvPr>
          <p:cNvGrpSpPr/>
          <p:nvPr/>
        </p:nvGrpSpPr>
        <p:grpSpPr>
          <a:xfrm>
            <a:off x="1344700" y="43143"/>
            <a:ext cx="7060924" cy="2851556"/>
            <a:chOff x="1551104" y="-112806"/>
            <a:chExt cx="7060924" cy="2851556"/>
          </a:xfrm>
        </p:grpSpPr>
        <p:grpSp>
          <p:nvGrpSpPr>
            <p:cNvPr id="97" name="Group 25">
              <a:extLst>
                <a:ext uri="{FF2B5EF4-FFF2-40B4-BE49-F238E27FC236}">
                  <a16:creationId xmlns:a16="http://schemas.microsoft.com/office/drawing/2014/main" id="{59B845F5-3697-F414-5B13-FE2DDC7A06D9}"/>
                </a:ext>
              </a:extLst>
            </p:cNvPr>
            <p:cNvGrpSpPr/>
            <p:nvPr/>
          </p:nvGrpSpPr>
          <p:grpSpPr>
            <a:xfrm>
              <a:off x="1551104" y="-112806"/>
              <a:ext cx="7060924" cy="2851556"/>
              <a:chOff x="0" y="-28575"/>
              <a:chExt cx="1771159" cy="659778"/>
            </a:xfrm>
          </p:grpSpPr>
          <p:sp>
            <p:nvSpPr>
              <p:cNvPr id="108" name="Freeform 26">
                <a:extLst>
                  <a:ext uri="{FF2B5EF4-FFF2-40B4-BE49-F238E27FC236}">
                    <a16:creationId xmlns:a16="http://schemas.microsoft.com/office/drawing/2014/main" id="{B1FCEF0A-0028-C872-C1B5-EDA1D203AAAA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9" name="TextBox 27">
                <a:extLst>
                  <a:ext uri="{FF2B5EF4-FFF2-40B4-BE49-F238E27FC236}">
                    <a16:creationId xmlns:a16="http://schemas.microsoft.com/office/drawing/2014/main" id="{5F830F85-B746-97EE-0DA3-E806C093F3C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0" name="TextBox 30">
              <a:extLst>
                <a:ext uri="{FF2B5EF4-FFF2-40B4-BE49-F238E27FC236}">
                  <a16:creationId xmlns:a16="http://schemas.microsoft.com/office/drawing/2014/main" id="{E4755CE4-4D7B-299E-E348-C3A40FE12543}"/>
                </a:ext>
              </a:extLst>
            </p:cNvPr>
            <p:cNvSpPr txBox="1"/>
            <p:nvPr/>
          </p:nvSpPr>
          <p:spPr>
            <a:xfrm>
              <a:off x="1904500" y="326320"/>
              <a:ext cx="3013141" cy="490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即時語音辨識模組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101" name="TextBox 41">
              <a:extLst>
                <a:ext uri="{FF2B5EF4-FFF2-40B4-BE49-F238E27FC236}">
                  <a16:creationId xmlns:a16="http://schemas.microsoft.com/office/drawing/2014/main" id="{2C27B977-40A6-1666-33D5-141FE9302916}"/>
                </a:ext>
              </a:extLst>
            </p:cNvPr>
            <p:cNvSpPr txBox="1"/>
            <p:nvPr/>
          </p:nvSpPr>
          <p:spPr>
            <a:xfrm>
              <a:off x="2399420" y="2095000"/>
              <a:ext cx="1198659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Canva Sans"/>
                  <a:sym typeface="可畫和劑局方明刻本-繁"/>
                </a:rPr>
                <a:t>擷取音訊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07" name="TextBox 41">
              <a:extLst>
                <a:ext uri="{FF2B5EF4-FFF2-40B4-BE49-F238E27FC236}">
                  <a16:creationId xmlns:a16="http://schemas.microsoft.com/office/drawing/2014/main" id="{0D6CCB91-8D24-3CC4-FF4A-B55ABBA5E9EB}"/>
                </a:ext>
              </a:extLst>
            </p:cNvPr>
            <p:cNvSpPr txBox="1"/>
            <p:nvPr/>
          </p:nvSpPr>
          <p:spPr>
            <a:xfrm>
              <a:off x="4254362" y="1356748"/>
              <a:ext cx="1454585" cy="290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提供音訊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10" name="Freeform 67">
              <a:extLst>
                <a:ext uri="{FF2B5EF4-FFF2-40B4-BE49-F238E27FC236}">
                  <a16:creationId xmlns:a16="http://schemas.microsoft.com/office/drawing/2014/main" id="{361A82AA-5E13-4D44-DFC9-A8166EB965E2}"/>
                </a:ext>
              </a:extLst>
            </p:cNvPr>
            <p:cNvSpPr/>
            <p:nvPr/>
          </p:nvSpPr>
          <p:spPr>
            <a:xfrm>
              <a:off x="2020940" y="1241006"/>
              <a:ext cx="2101609" cy="760416"/>
            </a:xfrm>
            <a:custGeom>
              <a:avLst/>
              <a:gdLst/>
              <a:ahLst/>
              <a:cxnLst/>
              <a:rect l="l" t="t" r="r" b="b"/>
              <a:pathLst>
                <a:path w="2977901" h="1083182">
                  <a:moveTo>
                    <a:pt x="0" y="0"/>
                  </a:moveTo>
                  <a:lnTo>
                    <a:pt x="2977901" y="0"/>
                  </a:lnTo>
                  <a:lnTo>
                    <a:pt x="2977901" y="1083182"/>
                  </a:lnTo>
                  <a:lnTo>
                    <a:pt x="0" y="1083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TW"/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06AC04B-7679-4230-6232-51D781B96D10}"/>
                </a:ext>
              </a:extLst>
            </p:cNvPr>
            <p:cNvCxnSpPr>
              <a:cxnSpLocks/>
            </p:cNvCxnSpPr>
            <p:nvPr/>
          </p:nvCxnSpPr>
          <p:spPr>
            <a:xfrm>
              <a:off x="4181264" y="1813102"/>
              <a:ext cx="1751369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Freeform 68">
              <a:extLst>
                <a:ext uri="{FF2B5EF4-FFF2-40B4-BE49-F238E27FC236}">
                  <a16:creationId xmlns:a16="http://schemas.microsoft.com/office/drawing/2014/main" id="{64E9CA9D-73C7-BFC4-F986-FEE72A0F3E1E}"/>
                </a:ext>
              </a:extLst>
            </p:cNvPr>
            <p:cNvSpPr/>
            <p:nvPr/>
          </p:nvSpPr>
          <p:spPr>
            <a:xfrm>
              <a:off x="6130647" y="1349079"/>
              <a:ext cx="2208459" cy="674150"/>
            </a:xfrm>
            <a:custGeom>
              <a:avLst/>
              <a:gdLst/>
              <a:ahLst/>
              <a:cxnLst/>
              <a:rect l="l" t="t" r="r" b="b"/>
              <a:pathLst>
                <a:path w="4050855" h="1202886">
                  <a:moveTo>
                    <a:pt x="0" y="0"/>
                  </a:moveTo>
                  <a:lnTo>
                    <a:pt x="4050855" y="0"/>
                  </a:lnTo>
                  <a:lnTo>
                    <a:pt x="4050855" y="1202885"/>
                  </a:lnTo>
                  <a:lnTo>
                    <a:pt x="0" y="1202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917" t="-49057" r="-5659" b="-47884"/>
              </a:stretch>
            </a:blipFill>
          </p:spPr>
          <p:txBody>
            <a:bodyPr/>
            <a:lstStyle/>
            <a:p>
              <a:endParaRPr lang="en-TW"/>
            </a:p>
          </p:txBody>
        </p:sp>
        <p:sp>
          <p:nvSpPr>
            <p:cNvPr id="117" name="TextBox 41">
              <a:extLst>
                <a:ext uri="{FF2B5EF4-FFF2-40B4-BE49-F238E27FC236}">
                  <a16:creationId xmlns:a16="http://schemas.microsoft.com/office/drawing/2014/main" id="{7FD0AC02-6F42-9B6B-FDC4-E279EE80CEF1}"/>
                </a:ext>
              </a:extLst>
            </p:cNvPr>
            <p:cNvSpPr txBox="1"/>
            <p:nvPr/>
          </p:nvSpPr>
          <p:spPr>
            <a:xfrm>
              <a:off x="6582451" y="2110610"/>
              <a:ext cx="1454585" cy="290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err="1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音訊轉文字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B77800D-59EE-CAAE-9047-917D007CAECE}"/>
              </a:ext>
            </a:extLst>
          </p:cNvPr>
          <p:cNvGrpSpPr/>
          <p:nvPr/>
        </p:nvGrpSpPr>
        <p:grpSpPr>
          <a:xfrm>
            <a:off x="10325967" y="6480073"/>
            <a:ext cx="7413334" cy="3638026"/>
            <a:chOff x="9478495" y="7236466"/>
            <a:chExt cx="7875233" cy="3666090"/>
          </a:xfrm>
        </p:grpSpPr>
        <p:grpSp>
          <p:nvGrpSpPr>
            <p:cNvPr id="124" name="Group 25">
              <a:extLst>
                <a:ext uri="{FF2B5EF4-FFF2-40B4-BE49-F238E27FC236}">
                  <a16:creationId xmlns:a16="http://schemas.microsoft.com/office/drawing/2014/main" id="{78B971CC-1981-1718-EE81-1A0A925FDFB3}"/>
                </a:ext>
              </a:extLst>
            </p:cNvPr>
            <p:cNvGrpSpPr/>
            <p:nvPr/>
          </p:nvGrpSpPr>
          <p:grpSpPr>
            <a:xfrm>
              <a:off x="9478495" y="7236466"/>
              <a:ext cx="7875233" cy="3666090"/>
              <a:chOff x="0" y="-28575"/>
              <a:chExt cx="1771159" cy="659778"/>
            </a:xfrm>
          </p:grpSpPr>
          <p:sp>
            <p:nvSpPr>
              <p:cNvPr id="132" name="Freeform 26">
                <a:extLst>
                  <a:ext uri="{FF2B5EF4-FFF2-40B4-BE49-F238E27FC236}">
                    <a16:creationId xmlns:a16="http://schemas.microsoft.com/office/drawing/2014/main" id="{D8273B38-7A36-DE58-A3F6-3C7D99450A1D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3" name="TextBox 27">
                <a:extLst>
                  <a:ext uri="{FF2B5EF4-FFF2-40B4-BE49-F238E27FC236}">
                    <a16:creationId xmlns:a16="http://schemas.microsoft.com/office/drawing/2014/main" id="{6BF685A0-42C4-532C-B9CE-19591FD41B1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5" name="TextBox 30">
              <a:extLst>
                <a:ext uri="{FF2B5EF4-FFF2-40B4-BE49-F238E27FC236}">
                  <a16:creationId xmlns:a16="http://schemas.microsoft.com/office/drawing/2014/main" id="{DFA2663F-8622-A1C0-D5BF-18A0F428EB0B}"/>
                </a:ext>
              </a:extLst>
            </p:cNvPr>
            <p:cNvSpPr txBox="1"/>
            <p:nvPr/>
          </p:nvSpPr>
          <p:spPr>
            <a:xfrm>
              <a:off x="9835864" y="7674845"/>
              <a:ext cx="2578832" cy="522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數位孿生模組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127" name="TextBox 41">
              <a:extLst>
                <a:ext uri="{FF2B5EF4-FFF2-40B4-BE49-F238E27FC236}">
                  <a16:creationId xmlns:a16="http://schemas.microsoft.com/office/drawing/2014/main" id="{7EC46336-9FAC-34FE-AFB3-6BD96F61C8A6}"/>
                </a:ext>
              </a:extLst>
            </p:cNvPr>
            <p:cNvSpPr txBox="1"/>
            <p:nvPr/>
          </p:nvSpPr>
          <p:spPr>
            <a:xfrm>
              <a:off x="12656100" y="8918981"/>
              <a:ext cx="1463013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err="1">
                  <a:latin typeface="可畫和劑局方明刻本-繁"/>
                  <a:ea typeface="可畫和劑局方明刻本-繁"/>
                  <a:cs typeface="Canva Sans"/>
                  <a:sym typeface="可畫和劑局方明刻本-繁"/>
                </a:rPr>
                <a:t>引用模組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31" name="TextBox 41">
              <a:extLst>
                <a:ext uri="{FF2B5EF4-FFF2-40B4-BE49-F238E27FC236}">
                  <a16:creationId xmlns:a16="http://schemas.microsoft.com/office/drawing/2014/main" id="{885E2400-8BD1-707D-E547-9633224F1F7F}"/>
                </a:ext>
              </a:extLst>
            </p:cNvPr>
            <p:cNvSpPr txBox="1"/>
            <p:nvPr/>
          </p:nvSpPr>
          <p:spPr>
            <a:xfrm>
              <a:off x="15119364" y="10334271"/>
              <a:ext cx="1890159" cy="3090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Avatar Video V2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244C896-19DB-908E-D2DD-5D128813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3" t="32021" r="8901" b="25355"/>
            <a:stretch/>
          </p:blipFill>
          <p:spPr>
            <a:xfrm>
              <a:off x="9900488" y="8989796"/>
              <a:ext cx="2578833" cy="744547"/>
            </a:xfrm>
            <a:prstGeom prst="rect">
              <a:avLst/>
            </a:prstGeom>
          </p:spPr>
        </p:pic>
        <p:cxnSp>
          <p:nvCxnSpPr>
            <p:cNvPr id="136" name="Elbow Connector 135">
              <a:extLst>
                <a:ext uri="{FF2B5EF4-FFF2-40B4-BE49-F238E27FC236}">
                  <a16:creationId xmlns:a16="http://schemas.microsoft.com/office/drawing/2014/main" id="{F48E3EE3-2BEC-1689-5C22-A66699AA936E}"/>
                </a:ext>
              </a:extLst>
            </p:cNvPr>
            <p:cNvCxnSpPr>
              <a:cxnSpLocks/>
            </p:cNvCxnSpPr>
            <p:nvPr/>
          </p:nvCxnSpPr>
          <p:spPr>
            <a:xfrm>
              <a:off x="12571876" y="9380134"/>
              <a:ext cx="2423199" cy="906859"/>
            </a:xfrm>
            <a:prstGeom prst="bentConnector3">
              <a:avLst>
                <a:gd name="adj1" fmla="val 67141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Elbow Connector 136">
              <a:extLst>
                <a:ext uri="{FF2B5EF4-FFF2-40B4-BE49-F238E27FC236}">
                  <a16:creationId xmlns:a16="http://schemas.microsoft.com/office/drawing/2014/main" id="{5B21E11B-4761-B6E7-CA74-D366F8296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0854" y="8364380"/>
              <a:ext cx="2424221" cy="1005644"/>
            </a:xfrm>
            <a:prstGeom prst="bentConnector3">
              <a:avLst>
                <a:gd name="adj1" fmla="val 67133"/>
              </a:avLst>
            </a:prstGeom>
            <a:ln w="508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EA5784EC-40E8-5E56-481C-679B9EB65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452088" y="7843652"/>
              <a:ext cx="848835" cy="763587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E20FF2D3-474E-D1ED-ECD2-363E32734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411292" y="9243729"/>
              <a:ext cx="1047203" cy="1088107"/>
            </a:xfrm>
            <a:prstGeom prst="rect">
              <a:avLst/>
            </a:prstGeom>
          </p:spPr>
        </p:pic>
        <p:sp>
          <p:nvSpPr>
            <p:cNvPr id="142" name="TextBox 41">
              <a:extLst>
                <a:ext uri="{FF2B5EF4-FFF2-40B4-BE49-F238E27FC236}">
                  <a16:creationId xmlns:a16="http://schemas.microsoft.com/office/drawing/2014/main" id="{E0873769-2C4A-4B06-A333-EEF34131FEA2}"/>
                </a:ext>
              </a:extLst>
            </p:cNvPr>
            <p:cNvSpPr txBox="1"/>
            <p:nvPr/>
          </p:nvSpPr>
          <p:spPr>
            <a:xfrm>
              <a:off x="15119364" y="8732774"/>
              <a:ext cx="1737495" cy="2895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>
                  <a:latin typeface="可畫和劑局方明刻本-繁"/>
                  <a:ea typeface="可畫和劑局方明刻本-繁"/>
                  <a:cs typeface="可畫和劑局方明刻本-繁"/>
                  <a:sym typeface="可畫和劑局方明刻本-繁"/>
                </a:rPr>
                <a:t>Avatar Voice V2</a:t>
              </a:r>
              <a:endParaRPr lang="en-US" sz="1700"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CC0B881-2B33-9C8D-0488-C2D6B09FFB5E}"/>
              </a:ext>
            </a:extLst>
          </p:cNvPr>
          <p:cNvGrpSpPr/>
          <p:nvPr/>
        </p:nvGrpSpPr>
        <p:grpSpPr>
          <a:xfrm>
            <a:off x="10278525" y="139054"/>
            <a:ext cx="4591820" cy="2589037"/>
            <a:chOff x="1204823" y="7538047"/>
            <a:chExt cx="4591820" cy="2589037"/>
          </a:xfrm>
        </p:grpSpPr>
        <p:grpSp>
          <p:nvGrpSpPr>
            <p:cNvPr id="152" name="Group 25">
              <a:extLst>
                <a:ext uri="{FF2B5EF4-FFF2-40B4-BE49-F238E27FC236}">
                  <a16:creationId xmlns:a16="http://schemas.microsoft.com/office/drawing/2014/main" id="{4610D774-29A3-A737-2306-46D1FE502242}"/>
                </a:ext>
              </a:extLst>
            </p:cNvPr>
            <p:cNvGrpSpPr/>
            <p:nvPr/>
          </p:nvGrpSpPr>
          <p:grpSpPr>
            <a:xfrm>
              <a:off x="1204823" y="7538047"/>
              <a:ext cx="4591820" cy="2589037"/>
              <a:chOff x="0" y="-28575"/>
              <a:chExt cx="1771159" cy="659778"/>
            </a:xfrm>
          </p:grpSpPr>
          <p:sp>
            <p:nvSpPr>
              <p:cNvPr id="160" name="Freeform 26">
                <a:extLst>
                  <a:ext uri="{FF2B5EF4-FFF2-40B4-BE49-F238E27FC236}">
                    <a16:creationId xmlns:a16="http://schemas.microsoft.com/office/drawing/2014/main" id="{51294980-0688-F17F-F87D-87A19C506368}"/>
                  </a:ext>
                </a:extLst>
              </p:cNvPr>
              <p:cNvSpPr/>
              <p:nvPr/>
            </p:nvSpPr>
            <p:spPr>
              <a:xfrm>
                <a:off x="0" y="0"/>
                <a:ext cx="1771159" cy="631203"/>
              </a:xfrm>
              <a:custGeom>
                <a:avLst/>
                <a:gdLst/>
                <a:ahLst/>
                <a:cxnLst/>
                <a:rect l="l" t="t" r="r" b="b"/>
                <a:pathLst>
                  <a:path w="1771159" h="631203">
                    <a:moveTo>
                      <a:pt x="58713" y="0"/>
                    </a:moveTo>
                    <a:lnTo>
                      <a:pt x="1712446" y="0"/>
                    </a:lnTo>
                    <a:cubicBezTo>
                      <a:pt x="1728017" y="0"/>
                      <a:pt x="1742951" y="6186"/>
                      <a:pt x="1753962" y="17197"/>
                    </a:cubicBezTo>
                    <a:cubicBezTo>
                      <a:pt x="1764973" y="28208"/>
                      <a:pt x="1771159" y="43141"/>
                      <a:pt x="1771159" y="58713"/>
                    </a:cubicBezTo>
                    <a:lnTo>
                      <a:pt x="1771159" y="572490"/>
                    </a:lnTo>
                    <a:cubicBezTo>
                      <a:pt x="1771159" y="604917"/>
                      <a:pt x="1744872" y="631203"/>
                      <a:pt x="1712446" y="631203"/>
                    </a:cubicBezTo>
                    <a:lnTo>
                      <a:pt x="58713" y="631203"/>
                    </a:lnTo>
                    <a:cubicBezTo>
                      <a:pt x="43141" y="631203"/>
                      <a:pt x="28208" y="625017"/>
                      <a:pt x="17197" y="614007"/>
                    </a:cubicBezTo>
                    <a:cubicBezTo>
                      <a:pt x="6186" y="602996"/>
                      <a:pt x="0" y="588062"/>
                      <a:pt x="0" y="572490"/>
                    </a:cubicBezTo>
                    <a:lnTo>
                      <a:pt x="0" y="58713"/>
                    </a:lnTo>
                    <a:cubicBezTo>
                      <a:pt x="0" y="43141"/>
                      <a:pt x="6186" y="28208"/>
                      <a:pt x="17197" y="17197"/>
                    </a:cubicBezTo>
                    <a:cubicBezTo>
                      <a:pt x="28208" y="6186"/>
                      <a:pt x="43141" y="0"/>
                      <a:pt x="5871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1" name="TextBox 27">
                <a:extLst>
                  <a:ext uri="{FF2B5EF4-FFF2-40B4-BE49-F238E27FC236}">
                    <a16:creationId xmlns:a16="http://schemas.microsoft.com/office/drawing/2014/main" id="{E5ED470B-386B-B676-6ECE-267296C1D2C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771159" cy="659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3" name="TextBox 30">
              <a:extLst>
                <a:ext uri="{FF2B5EF4-FFF2-40B4-BE49-F238E27FC236}">
                  <a16:creationId xmlns:a16="http://schemas.microsoft.com/office/drawing/2014/main" id="{8487FD94-65F9-0EB6-2169-052EC1262D0F}"/>
                </a:ext>
              </a:extLst>
            </p:cNvPr>
            <p:cNvSpPr txBox="1"/>
            <p:nvPr/>
          </p:nvSpPr>
          <p:spPr>
            <a:xfrm>
              <a:off x="1560265" y="7976423"/>
              <a:ext cx="2363477" cy="4896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2950" b="1" err="1">
                  <a:solidFill>
                    <a:srgbClr val="5E8DD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文本分析模組</a:t>
              </a:r>
              <a:endParaRPr lang="en-US" sz="2950" b="1">
                <a:solidFill>
                  <a:srgbClr val="5E8DD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pic>
          <p:nvPicPr>
            <p:cNvPr id="1026" name="Picture 2" descr="ChatGPT Logo PNG With Transparent Background">
              <a:extLst>
                <a:ext uri="{FF2B5EF4-FFF2-40B4-BE49-F238E27FC236}">
                  <a16:creationId xmlns:a16="http://schemas.microsoft.com/office/drawing/2014/main" id="{55A679C6-5F66-2B5B-1915-1566039D8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1712" y="8726569"/>
              <a:ext cx="3162690" cy="929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3" name="TextBox 57">
            <a:extLst>
              <a:ext uri="{FF2B5EF4-FFF2-40B4-BE49-F238E27FC236}">
                <a16:creationId xmlns:a16="http://schemas.microsoft.com/office/drawing/2014/main" id="{E7EF0894-83BF-D7A5-A24B-DCC77F8BA79D}"/>
              </a:ext>
            </a:extLst>
          </p:cNvPr>
          <p:cNvSpPr txBox="1"/>
          <p:nvPr/>
        </p:nvSpPr>
        <p:spPr>
          <a:xfrm>
            <a:off x="5731417" y="6147052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API Call</a:t>
            </a:r>
          </a:p>
        </p:txBody>
      </p:sp>
      <p:sp>
        <p:nvSpPr>
          <p:cNvPr id="177" name="TextBox 57">
            <a:extLst>
              <a:ext uri="{FF2B5EF4-FFF2-40B4-BE49-F238E27FC236}">
                <a16:creationId xmlns:a16="http://schemas.microsoft.com/office/drawing/2014/main" id="{7CBBAFC4-3DD9-8144-38DF-4227AA63ADBE}"/>
              </a:ext>
            </a:extLst>
          </p:cNvPr>
          <p:cNvSpPr txBox="1"/>
          <p:nvPr/>
        </p:nvSpPr>
        <p:spPr>
          <a:xfrm>
            <a:off x="11245620" y="6084763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Response</a:t>
            </a:r>
          </a:p>
        </p:txBody>
      </p:sp>
      <p:sp>
        <p:nvSpPr>
          <p:cNvPr id="180" name="TextBox 57">
            <a:extLst>
              <a:ext uri="{FF2B5EF4-FFF2-40B4-BE49-F238E27FC236}">
                <a16:creationId xmlns:a16="http://schemas.microsoft.com/office/drawing/2014/main" id="{309A642D-FD34-84B4-E1E5-BF56CFEC0D5E}"/>
              </a:ext>
            </a:extLst>
          </p:cNvPr>
          <p:cNvSpPr txBox="1"/>
          <p:nvPr/>
        </p:nvSpPr>
        <p:spPr>
          <a:xfrm>
            <a:off x="7431210" y="6157811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Response</a:t>
            </a:r>
          </a:p>
        </p:txBody>
      </p:sp>
      <p:sp>
        <p:nvSpPr>
          <p:cNvPr id="183" name="TextBox 57">
            <a:extLst>
              <a:ext uri="{FF2B5EF4-FFF2-40B4-BE49-F238E27FC236}">
                <a16:creationId xmlns:a16="http://schemas.microsoft.com/office/drawing/2014/main" id="{AE6C194F-0D64-48A5-C749-9D2E09B08861}"/>
              </a:ext>
            </a:extLst>
          </p:cNvPr>
          <p:cNvSpPr txBox="1"/>
          <p:nvPr/>
        </p:nvSpPr>
        <p:spPr>
          <a:xfrm>
            <a:off x="7960651" y="3114040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latin typeface="Canva Sans"/>
                <a:ea typeface="Canva Sans"/>
                <a:cs typeface="Canva Sans"/>
                <a:sym typeface="Canva Sans"/>
              </a:rPr>
              <a:t>Response</a:t>
            </a:r>
          </a:p>
        </p:txBody>
      </p:sp>
      <p:sp>
        <p:nvSpPr>
          <p:cNvPr id="186" name="TextBox 57">
            <a:extLst>
              <a:ext uri="{FF2B5EF4-FFF2-40B4-BE49-F238E27FC236}">
                <a16:creationId xmlns:a16="http://schemas.microsoft.com/office/drawing/2014/main" id="{3A3A0957-19E7-0AAB-2159-A1D404A0544C}"/>
              </a:ext>
            </a:extLst>
          </p:cNvPr>
          <p:cNvSpPr txBox="1"/>
          <p:nvPr/>
        </p:nvSpPr>
        <p:spPr>
          <a:xfrm>
            <a:off x="6172398" y="3181119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latin typeface="Canva Sans"/>
                <a:ea typeface="Canva Sans"/>
                <a:cs typeface="Canva Sans"/>
                <a:sym typeface="Canva Sans"/>
              </a:rPr>
              <a:t>Request</a:t>
            </a:r>
          </a:p>
        </p:txBody>
      </p:sp>
      <p:sp>
        <p:nvSpPr>
          <p:cNvPr id="1024" name="TextBox 57">
            <a:extLst>
              <a:ext uri="{FF2B5EF4-FFF2-40B4-BE49-F238E27FC236}">
                <a16:creationId xmlns:a16="http://schemas.microsoft.com/office/drawing/2014/main" id="{B3393DD6-C3E9-054A-ACAE-34CE6EF330DE}"/>
              </a:ext>
            </a:extLst>
          </p:cNvPr>
          <p:cNvSpPr txBox="1"/>
          <p:nvPr/>
        </p:nvSpPr>
        <p:spPr>
          <a:xfrm>
            <a:off x="11262221" y="3051318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latin typeface="Canva Sans"/>
                <a:ea typeface="Canva Sans"/>
                <a:cs typeface="Canva Sans"/>
                <a:sym typeface="Canva Sans"/>
              </a:rPr>
              <a:t>Response</a:t>
            </a:r>
          </a:p>
        </p:txBody>
      </p:sp>
      <p:sp>
        <p:nvSpPr>
          <p:cNvPr id="1028" name="TextBox 57">
            <a:extLst>
              <a:ext uri="{FF2B5EF4-FFF2-40B4-BE49-F238E27FC236}">
                <a16:creationId xmlns:a16="http://schemas.microsoft.com/office/drawing/2014/main" id="{95D73D58-1293-9A3F-4617-7879C2DD852E}"/>
              </a:ext>
            </a:extLst>
          </p:cNvPr>
          <p:cNvSpPr txBox="1"/>
          <p:nvPr/>
        </p:nvSpPr>
        <p:spPr>
          <a:xfrm>
            <a:off x="9459485" y="3091053"/>
            <a:ext cx="1058883" cy="28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latin typeface="Canva Sans"/>
                <a:ea typeface="Canva Sans"/>
                <a:cs typeface="Canva Sans"/>
                <a:sym typeface="Canva Sans"/>
              </a:rPr>
              <a:t>Request</a:t>
            </a:r>
          </a:p>
        </p:txBody>
      </p:sp>
      <p:sp>
        <p:nvSpPr>
          <p:cNvPr id="1029" name="TextBox 41">
            <a:extLst>
              <a:ext uri="{FF2B5EF4-FFF2-40B4-BE49-F238E27FC236}">
                <a16:creationId xmlns:a16="http://schemas.microsoft.com/office/drawing/2014/main" id="{B3D3A203-00C9-4B17-A0D8-8EF9C2A5276A}"/>
              </a:ext>
            </a:extLst>
          </p:cNvPr>
          <p:cNvSpPr txBox="1"/>
          <p:nvPr/>
        </p:nvSpPr>
        <p:spPr>
          <a:xfrm>
            <a:off x="12083636" y="2015776"/>
            <a:ext cx="2231802" cy="2895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>
                <a:latin typeface="可畫和劑局方明刻本-繁"/>
                <a:ea typeface="可畫和劑局方明刻本-繁"/>
                <a:cs typeface="可畫和劑局方明刻本-繁"/>
                <a:sym typeface="可畫和劑局方明刻本-繁"/>
              </a:rPr>
              <a:t>GPT-3.5 Turbo-0613</a:t>
            </a:r>
            <a:endParaRPr lang="en-US" sz="1700"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4F166FB-37F0-4F52-DEED-58D296456229}"/>
              </a:ext>
            </a:extLst>
          </p:cNvPr>
          <p:cNvSpPr/>
          <p:nvPr/>
        </p:nvSpPr>
        <p:spPr>
          <a:xfrm rot="10800000">
            <a:off x="7289310" y="2975866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56024173-06C8-4645-8837-05D482DF1609}"/>
              </a:ext>
            </a:extLst>
          </p:cNvPr>
          <p:cNvSpPr/>
          <p:nvPr/>
        </p:nvSpPr>
        <p:spPr>
          <a:xfrm rot="10800000">
            <a:off x="10561341" y="2939812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A654AFB8-EA74-D18F-1A3D-59314A6451F1}"/>
              </a:ext>
            </a:extLst>
          </p:cNvPr>
          <p:cNvSpPr/>
          <p:nvPr/>
        </p:nvSpPr>
        <p:spPr>
          <a:xfrm rot="10800000">
            <a:off x="11035730" y="5934113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6D640744-4BB3-3B84-3B69-B91D860C3689}"/>
              </a:ext>
            </a:extLst>
          </p:cNvPr>
          <p:cNvSpPr/>
          <p:nvPr/>
        </p:nvSpPr>
        <p:spPr>
          <a:xfrm rot="10800000">
            <a:off x="7202587" y="6026214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C9525637-042A-76FD-1682-A800CADDF1B6}"/>
              </a:ext>
            </a:extLst>
          </p:cNvPr>
          <p:cNvSpPr/>
          <p:nvPr/>
        </p:nvSpPr>
        <p:spPr>
          <a:xfrm rot="16200000">
            <a:off x="5788262" y="4610965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53F24298-138B-F471-5582-5D398D87A65C}"/>
              </a:ext>
            </a:extLst>
          </p:cNvPr>
          <p:cNvSpPr/>
          <p:nvPr/>
        </p:nvSpPr>
        <p:spPr>
          <a:xfrm rot="16200000">
            <a:off x="12216056" y="4196850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17865769-DE9C-A7FF-F191-329D1953095D}"/>
              </a:ext>
            </a:extLst>
          </p:cNvPr>
          <p:cNvSpPr/>
          <p:nvPr/>
        </p:nvSpPr>
        <p:spPr>
          <a:xfrm>
            <a:off x="10690597" y="5948004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EE7C199A-97A0-5C6C-A9C5-40A02D5CA927}"/>
              </a:ext>
            </a:extLst>
          </p:cNvPr>
          <p:cNvSpPr/>
          <p:nvPr/>
        </p:nvSpPr>
        <p:spPr>
          <a:xfrm>
            <a:off x="6871221" y="6026214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C1CC3AE9-9EED-B90A-E30A-1BF197347BDB}"/>
              </a:ext>
            </a:extLst>
          </p:cNvPr>
          <p:cNvSpPr/>
          <p:nvPr/>
        </p:nvSpPr>
        <p:spPr>
          <a:xfrm>
            <a:off x="7647306" y="2969705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279A8600-9A68-A41A-B524-2CBA9B0722A2}"/>
              </a:ext>
            </a:extLst>
          </p:cNvPr>
          <p:cNvSpPr/>
          <p:nvPr/>
        </p:nvSpPr>
        <p:spPr>
          <a:xfrm>
            <a:off x="10874045" y="2960056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C3A54EB7-C092-F919-E916-7D2B5AB54B49}"/>
              </a:ext>
            </a:extLst>
          </p:cNvPr>
          <p:cNvSpPr/>
          <p:nvPr/>
        </p:nvSpPr>
        <p:spPr>
          <a:xfrm rot="5400000">
            <a:off x="12203044" y="4528364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B8EFC132-1990-F33D-889B-4160DA91A140}"/>
              </a:ext>
            </a:extLst>
          </p:cNvPr>
          <p:cNvSpPr/>
          <p:nvPr/>
        </p:nvSpPr>
        <p:spPr>
          <a:xfrm rot="5400000">
            <a:off x="5788261" y="4269082"/>
            <a:ext cx="99367" cy="6757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14014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832</Words>
  <Application>Microsoft Macintosh PowerPoint</Application>
  <PresentationFormat>Custom</PresentationFormat>
  <Paragraphs>444</Paragraphs>
  <Slides>35</Slides>
  <Notes>35</Notes>
  <HiddenSlides>7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可畫和劑局方明刻本-繁</vt:lpstr>
      <vt:lpstr>Canva Sans Bold</vt:lpstr>
      <vt:lpstr>Canva Sans</vt:lpstr>
      <vt:lpstr>Calibri</vt:lpstr>
      <vt:lpstr>29LT Zarid Display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1122 專題 系內Demo</dc:title>
  <cp:lastModifiedBy>office user</cp:lastModifiedBy>
  <cp:revision>6</cp:revision>
  <dcterms:created xsi:type="dcterms:W3CDTF">2006-08-16T00:00:00Z</dcterms:created>
  <dcterms:modified xsi:type="dcterms:W3CDTF">2024-12-07T04:56:55Z</dcterms:modified>
  <dc:identifier>DAGQa01JA4g</dc:identifier>
</cp:coreProperties>
</file>